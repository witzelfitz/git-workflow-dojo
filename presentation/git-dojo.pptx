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Begrüsse die Gruppe: Wir betreiben gemeinsam die Infoseiten eines Campus-Festivals. Die Inhalte sind klein; wir üben den Weg von einer Idee bis zu einer geprüften Änderung. Zehn Personen, fünf Zweierteams, zwei Stunden. Diese Präsentation wird in kurzen Impulsen zwischen den Praxisphasen genutzt.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Zeige die linke Seite und frage: Wer kennt final_final? Git macht Änderungen, ihre Reihenfolge und ihren Kontext nachvollziehbar. Ein Commit ist ein Projektstand mit Metadaten und Elternverweisen, keine weitere Datei namens final. Der Diff hilft beim Vergleich.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ist das Versionskontrollsystem und läuft auch ohne Netzwerk. GitHub hostet Repositories und ergänzt PRs, Reviews und Rechte. Push überträgt Objekte und aktualisiert den Server-Branch. Fetch holt Objekte und aktualisiert Remote-Tracking-Refs; er integriert nicht den aktuellen lokalen Branch. Frage: Ist ein Commit schon auf GitHub? Nein.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Tree: Dateien bearbeiten. Staging Area oder Index: den nächsten Commit bewusst vorbereiten. Repository: Commit dauerhaft in der lokalen History halten. Die Farben sind nur Lernhilfen, die Beschriftungen tragen die Bedeutung. Mit git diff die ungestagten, mit git diff --staged die gestagten Änderungen prüfen. Neu bearbeitete Inhalte müssen nach dem Staging erneut gestagt werden.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Beispiel: headline.md enthält zuerst Version 1. git add übernimmt Version 1 in den Index. Danach ändern wir im Editor weiter auf Version 2, ohne erneut zu stagen. Der nächste Commit enthält Version 1. Version 2 bleibt als ungestagte Änderung im Working Tree. Frage zuerst, dann zeige mit dem Diagramm die Antwort.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Commit verweist auf den kompletten versionierten Projektstand, nicht nur auf den angezeigten Diff. Git speichert identische Objekte effizient, das Bild ist also keine Aussage über vollständige physische Kopien pro Commit. Zum Commit gehören Elternverweise und Metadaten. Die Beispiel-ID ist illustrativ.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Branch ist ein beweglicher Verweis auf einen Commit. Wenn wir einen Branch anlegen, müssen wir nicht das ganze Projekt kopieren. Hier zeigen main und feature auf denselben Commit B. HEAD verweist normalerweise auf den aktuell ausgecheckten Branch, hier feature. Die Linien zwischen Commits zeigen Abstammung; wir zeichnen ältere Stände links.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Vergleiche mit der vorherigen Folie: Ein neuer Commit C wird auf feature erzeugt. main bleibt auf B. HEAD bleibt an feature gebunden und zeigt dadurch indirekt auf C. Ein Commit auf einem Feature-Branch ändert nicht automatisch main. Fragen lassen: Wo steht main jetzt? Wo steht HEAD?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Führe den gesamten Weg einmal vor: Issue beschreibt die Aufgabe, Branch grenzt die Arbeit ab, Commits machen Schritte nachvollziehbar, Push veröffentlicht. Im Pull Request folgen Review und Nachbesserung. Erst nach finalem Review wird integriert. Ein neuer Push auf denselben Branch aktualisiert den vorhandenen PR.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Lasse diese Folie während Runde 1 stehen. Ein PR pro Zweierteam. Team 1 bearbeitet index.md, 2 program.md, 3 snacks.md, 4 team.md, 5 status-board.md. Die genaue Mission steht in exercises/01-warmup.md. Nach dem ersten Commit wechselt das Keyboard. Mindestens zwei sinnvolle Commits, PR mit Ziel und Prüfschritten. Noch nicht mergen.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hilfreiches Review begründet seine Rückfrage anhand der Wirkung für Nutzer:innen. Zeige die fehlende Ortsangabe und den Kommentar. Die Autor:innen ergänzen den Ort und pushen auf denselben Branch. Der PR aktualisiert sich. Reviewer prüfen den neuen Stand. Comment ist Rückmeldung; Request changes fordert Nachbesserung; Approve gibt den geprüften Stand frei.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Lasse diese Folie während Runde 2 stehen. Review-Ring 1 zu 2, 2 zu 3, 3 zu 4, 4 zu 5, 5 zu 1. Jede Person schreibt mit dem eigenen Konto einen begründeten Beitrag. Pro Team eine konkrete Stärke und eine Frage oder Verbesserung. Entwürfe absenden. Autor:innen übernehmen eine sinnvolle Verbesserung, Reviewer prüfen erneut. Ab Minute 50 nacheinander Create a merge commit verwenden, danach lokalen main aktualisieren.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drei Zeilen gehören zu verschiedenen Orten: Server-Branch main, lokale Remote-Tracking-Ref origin/main und lokaler Branch main. Nach Fetch kann origin/main auf C stehen, während lokaler main auf B bleibt. Pull führt zunächst Fetch und dann einen Integrationsversuch aus. Im Workshop pull --ff-only: bei Divergenz bricht der Integrationsschritt ab. Die Folie zeigt den Zustand nach einem erfolgreichen Fetch und vor dem Pull.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 Minute 55 erzeugt jede Person mit bash scripts/create-labs.sh eigene Labore und öffnet conflict. Das Skript hat zwei Branches vom selben Ausgangspunkt erstellt. Team A verlegt den Lunch in die Mensa und ist bereits im lokalen main. Team B ändert Zeit und Angebot. Beide haben dieselbe Zeile verschieden geändert. Gleiche Datei allein garantiert keinen Konflikt; hier ist der Konflikt gezielt konstruiert.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Führt im frischen conflict-Labor auf team-b git merge main aus. Der erwartete Konflikt stoppt die automatische Zusammenführung. Oben steht in diesem Merge HEAD beziehungsweise team-b, unten der eingehende main. Beim Rebase kann die ours/theirs-Zuordnung anders wirken; nicht verallgemeinern. Die Festivalleitung bestätigt Mensa, 12:30 Uhr und vegetarisches Buffet. Die endgültige Zeile noch nicht verraten.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Konfliktrunde insgesamt 25 Minuten, inklusive der vorherigen Einführung: fünf Minuten Labore und Graph, fünf Minuten Konflikt lesen, sieben Minuten lösen, acht Minuten erklären beziehungsweise zweiten Durchlauf am gemeinsamen Laptop durchführen. Pro Person ein eigener Durchlauf. Nach Bearbeitung git diff --check, git add program.md, git diff --staged und Merge committen. Erfolg: alle drei Vorgaben erfüllt, keine Marker, sauberer Status und Merge-Commit mit zwei Eltern.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Erst nach dem eigenen Lösungsversuch zeigen. Die gemeinsame Fassung lautet 12:30 Lunch in der Mensa mit vegetarischem Buffet. Das Zusammensetzen ist eine inhaltliche Entscheidung. git add markiert als gelöst, prüft aber keine fachliche Richtigkeit. Im Graph zeigt main weiter auf A, team-b nach dem Merge auf M; M hat A und B als Eltern. Das lokale Beispiel braucht keinen Push.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Wechsel ins fast-forward-Labor. Zeige vorher und nachher: A ist ein Vorfahr von B. Das Merge muss keinen zusätzlichen Commit erzeugen, sondern kann main auf B setzen. feature/info und main zeigen anschliessend auf denselben bereits vorhandenen Commit. IDs vergleichen. Nicht mit konfliktfrei gleichsetzen: Das ist eine Aussage über die History.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rebase-Labor stehen main und feature auf eigenen Nachfahren derselben Basis. B liegt nicht in der Abstammung von C. Auf main git merge --ff-only feature/volunteers ausführen: erwartete Ablehnung. Es läuft danach kein Merge, daher ist kein merge --abort nötig. Die Branches ändern verschiedene Dateien; die Ablehnung ist kein Dateikonflikt.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Auf dem Feature-Branch wird git rebase main ausgeführt. C wird auf B erneut angewendet; es entsteht C′ mit anderem Elterncommit und damit anderer ID. main bleibt auf B. Ein lokaler Rebase kann in anderen Ausgangssituationen ohne Änderungen auskommen; hier ändert sich die Basis bewusst. before-rebase hält im Labor den alten Commit C erreichbar, deshalb zeigt git log --all diesen weiterhin.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Nach dem Rebase wechseln wir auf main und führen git merge --ff-only feature/volunteers aus. main ist nun Vorfahr des Feature-Commits; Fast-Forward gelingt. Rebase und anschliessende Integration sind zwei getrennte Schritte. Frage: Welcher Schritt hat die neue Commit-ID erzeugt? Der Rebase, nicht das Fast-Forward. Nur aktive Branches dargestellt, der Vergleichsbranch before-rebase bleibt im Labor vorhanden.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drei Skizzen starten gedanklich bei O: main ist bis B gelaufen; der Feature-Zweig hat C und D. Links Merge: M verbindet B und D, beide Linien bleiben sichtbar. Mitte Rebase: C′ und D′ werden auf B neu aufgebaut und danach integriert. Rechts Squash-Integration: ein neuer S fasst den Inhalt des Features auf B zusammen. Gleiche resultierende Dateien sind im konfliktfreien Beispiel möglich, die History unterscheidet sich. GitHub Rebase and merge erzeugt neue IDs und ist nicht identisch mit lokalem --ff-only.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20 Minuten umfassen die vorherigen kurzen Erklärungen und das eigene Ausführen, keine zusätzlichen 20 Minuten. Die Labore aus Runde 3 sind bereits erstellt. Für Fast-Forward IDs vergleichen; im Rebase-Labor erwartete FF-Ablehnung, Rebase, neue ID und erfolgreiches FF. Squash nur als Bonus mit fünf bis zehn Minuten zusätzlich. Alle Arbeiten sind lokal ohne Remote; kein Force Push erforderlich.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Erst 30 Sekunden still nachdenken, dann im Paar besprechen. Antworten: 1 Nur der gestagte Stand kommt in den Commit; danach bearbeitete ungestagte Änderungen bleiben im Working Tree. 2 Nach Fetch ist origin/main aktualisiert, lokaler main aber noch nicht notwendigerweise integriert. 3 Nein, ein konfliktfreier Merge beweist keine fachliche Richtigkeit. Zusatzfrage: Wann ist FF möglich? Wenn der Zielstand Vorfahr des einzubindenden Commits ist.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Sammelt drei konkrete Regeln für eure nächste Zusammenarbeit. Lasst die Gruppe formulieren: Status und Branch zuerst lesen; kleine verständliche Änderungen; Reviews begründen und den finalen Stand prüfen. Wer noch keinen eigenen Konflikt gelöst hat, plant genau diesen nächsten Übungsschritt. Verweise auf Glossar, Spickzettel und Drehbuch im Repository. Letzte fünf Minuten sind Puffer.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DAF975"/>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AAB9BD"/>
                </a:solidFill>
                <a:latin typeface="Arial"/>
              </a:defRPr>
            </a:pPr>
            <a:r>
              <a:t>START / 00–05</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F5F3EA"/>
                </a:solidFill>
                <a:latin typeface="Arial"/>
              </a:defRPr>
            </a:pPr>
            <a:r>
              <a:t>Git wird greifbar.</a:t>
            </a:r>
          </a:p>
        </p:txBody>
      </p:sp>
      <p:cxnSp>
        <p:nvCxnSpPr>
          <p:cNvPr id="6" name="Connector 5"/>
          <p:cNvCxnSpPr/>
          <p:nvPr/>
        </p:nvCxnSpPr>
        <p:spPr>
          <a:xfrm>
            <a:off x="548640" y="6362700"/>
            <a:ext cx="11094720" cy="0"/>
          </a:xfrm>
          <a:prstGeom prst="line">
            <a:avLst/>
          </a:prstGeom>
          <a:ln w="11429">
            <a:solidFill>
              <a:srgbClr val="42555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AAB9BD"/>
                </a:solidFill>
                <a:latin typeface="Arial"/>
              </a:defRPr>
            </a:pPr>
            <a:r>
              <a:t>CAMPUS FESTIVAL  /  LERNEN DURCH AUSPROBIEREN</a:t>
            </a:r>
          </a:p>
        </p:txBody>
      </p:sp>
      <p:sp>
        <p:nvSpPr>
          <p:cNvPr id="8" name="TextBox 7"/>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F5F3EA"/>
                </a:solidFill>
                <a:latin typeface="Arial"/>
              </a:defRPr>
            </a:pPr>
            <a:r>
              <a:t>01</a:t>
            </a:r>
          </a:p>
        </p:txBody>
      </p:sp>
      <p:sp>
        <p:nvSpPr>
          <p:cNvPr id="9" name="TextBox 8"/>
          <p:cNvSpPr txBox="1"/>
          <p:nvPr/>
        </p:nvSpPr>
        <p:spPr>
          <a:xfrm>
            <a:off x="563880" y="1973580"/>
            <a:ext cx="5486400" cy="1069695"/>
          </a:xfrm>
          <a:prstGeom prst="rect">
            <a:avLst/>
          </a:prstGeom>
          <a:noFill/>
        </p:spPr>
        <p:txBody>
          <a:bodyPr wrap="none" lIns="0" rIns="0" tIns="0" bIns="0">
            <a:noAutofit/>
          </a:bodyPr>
          <a:lstStyle/>
          <a:p>
            <a:pPr algn="l">
              <a:lnSpc>
                <a:spcPct val="123000"/>
              </a:lnSpc>
              <a:spcBef>
                <a:spcPts val="0"/>
              </a:spcBef>
              <a:spcAft>
                <a:spcPts val="0"/>
              </a:spcAft>
              <a:defRPr sz="3179" b="1">
                <a:solidFill>
                  <a:srgbClr val="F5F3EA"/>
                </a:solidFill>
                <a:latin typeface="Arial"/>
              </a:defRPr>
            </a:pPr>
            <a:r>
              <a:t>Änderungen verstehen.</a:t>
            </a:r>
          </a:p>
          <a:p>
            <a:pPr algn="l">
              <a:lnSpc>
                <a:spcPct val="123000"/>
              </a:lnSpc>
              <a:spcBef>
                <a:spcPts val="0"/>
              </a:spcBef>
              <a:spcAft>
                <a:spcPts val="0"/>
              </a:spcAft>
              <a:defRPr sz="3179" b="1">
                <a:solidFill>
                  <a:srgbClr val="F5F3EA"/>
                </a:solidFill>
                <a:latin typeface="Arial"/>
              </a:defRPr>
            </a:pPr>
            <a:r>
              <a:t>Gemeinsam weiterbauen.</a:t>
            </a:r>
          </a:p>
        </p:txBody>
      </p:sp>
      <p:sp>
        <p:nvSpPr>
          <p:cNvPr id="10" name="Rounded Rectangle 9"/>
          <p:cNvSpPr/>
          <p:nvPr/>
        </p:nvSpPr>
        <p:spPr>
          <a:xfrm>
            <a:off x="594360" y="3337560"/>
            <a:ext cx="167640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0560" y="3406140"/>
            <a:ext cx="15240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10 Personen</a:t>
            </a:r>
          </a:p>
        </p:txBody>
      </p:sp>
      <p:sp>
        <p:nvSpPr>
          <p:cNvPr id="12" name="Rounded Rectangle 11"/>
          <p:cNvSpPr/>
          <p:nvPr/>
        </p:nvSpPr>
        <p:spPr>
          <a:xfrm>
            <a:off x="2392680" y="3337560"/>
            <a:ext cx="1371600" cy="365760"/>
          </a:xfrm>
          <a:prstGeom prst="roundRect">
            <a:avLst>
              <a:gd name="adj" fmla="val 50000"/>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8880" y="3406140"/>
            <a:ext cx="12192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5 Teams</a:t>
            </a:r>
          </a:p>
        </p:txBody>
      </p:sp>
      <p:sp>
        <p:nvSpPr>
          <p:cNvPr id="14" name="Rounded Rectangle 13"/>
          <p:cNvSpPr/>
          <p:nvPr/>
        </p:nvSpPr>
        <p:spPr>
          <a:xfrm>
            <a:off x="3886200" y="3337560"/>
            <a:ext cx="1828800"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62399" y="3406140"/>
            <a:ext cx="16764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120 Minuten</a:t>
            </a:r>
          </a:p>
        </p:txBody>
      </p:sp>
      <p:cxnSp>
        <p:nvCxnSpPr>
          <p:cNvPr id="16" name="Connector 15"/>
          <p:cNvCxnSpPr/>
          <p:nvPr/>
        </p:nvCxnSpPr>
        <p:spPr>
          <a:xfrm>
            <a:off x="6477000" y="4465320"/>
            <a:ext cx="1295400" cy="0"/>
          </a:xfrm>
          <a:prstGeom prst="line">
            <a:avLst/>
          </a:prstGeom>
          <a:ln w="91439">
            <a:solidFill>
              <a:srgbClr val="65D9E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7772400" y="3276600"/>
            <a:ext cx="990600" cy="1188720"/>
          </a:xfrm>
          <a:prstGeom prst="line">
            <a:avLst/>
          </a:prstGeom>
          <a:ln w="91439">
            <a:solidFill>
              <a:srgbClr val="65D9E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763000" y="3276600"/>
            <a:ext cx="1447800" cy="0"/>
          </a:xfrm>
          <a:prstGeom prst="line">
            <a:avLst/>
          </a:prstGeom>
          <a:ln w="91439">
            <a:solidFill>
              <a:srgbClr val="65D9E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210800" y="3276600"/>
            <a:ext cx="990600" cy="1188720"/>
          </a:xfrm>
          <a:prstGeom prst="line">
            <a:avLst/>
          </a:prstGeom>
          <a:ln w="91439">
            <a:solidFill>
              <a:srgbClr val="65D9E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477000" y="4465320"/>
            <a:ext cx="4724400" cy="0"/>
          </a:xfrm>
          <a:prstGeom prst="line">
            <a:avLst/>
          </a:prstGeom>
          <a:ln w="91439">
            <a:solidFill>
              <a:srgbClr val="DAF97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772400" y="4465320"/>
            <a:ext cx="990600" cy="899160"/>
          </a:xfrm>
          <a:prstGeom prst="line">
            <a:avLst/>
          </a:prstGeom>
          <a:ln w="91439">
            <a:solidFill>
              <a:srgbClr val="C5B5F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763000" y="5364480"/>
            <a:ext cx="1447800" cy="0"/>
          </a:xfrm>
          <a:prstGeom prst="line">
            <a:avLst/>
          </a:prstGeom>
          <a:ln w="91439">
            <a:solidFill>
              <a:srgbClr val="C5B5F2"/>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210800" y="4465320"/>
            <a:ext cx="990600" cy="899160"/>
          </a:xfrm>
          <a:prstGeom prst="line">
            <a:avLst/>
          </a:prstGeom>
          <a:ln w="91439">
            <a:solidFill>
              <a:srgbClr val="C5B5F2"/>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6294120" y="4282440"/>
            <a:ext cx="365760" cy="365760"/>
          </a:xfrm>
          <a:prstGeom prst="ellipse">
            <a:avLst/>
          </a:prstGeom>
          <a:solidFill>
            <a:srgbClr val="DAF975"/>
          </a:solidFill>
          <a:ln w="45719">
            <a:solidFill>
              <a:srgbClr val="1023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89520" y="4282440"/>
            <a:ext cx="365760" cy="365760"/>
          </a:xfrm>
          <a:prstGeom prst="ellipse">
            <a:avLst/>
          </a:prstGeom>
          <a:solidFill>
            <a:srgbClr val="DAF975"/>
          </a:solidFill>
          <a:ln w="45719">
            <a:solidFill>
              <a:srgbClr val="1023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80120" y="3093720"/>
            <a:ext cx="365760" cy="365760"/>
          </a:xfrm>
          <a:prstGeom prst="ellipse">
            <a:avLst/>
          </a:prstGeom>
          <a:solidFill>
            <a:srgbClr val="65D9EC"/>
          </a:solidFill>
          <a:ln w="45719">
            <a:solidFill>
              <a:srgbClr val="1023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27920" y="3093720"/>
            <a:ext cx="365760" cy="365760"/>
          </a:xfrm>
          <a:prstGeom prst="ellipse">
            <a:avLst/>
          </a:prstGeom>
          <a:solidFill>
            <a:srgbClr val="65D9EC"/>
          </a:solidFill>
          <a:ln w="45719">
            <a:solidFill>
              <a:srgbClr val="1023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580120" y="5181600"/>
            <a:ext cx="365760" cy="365760"/>
          </a:xfrm>
          <a:prstGeom prst="ellipse">
            <a:avLst/>
          </a:prstGeom>
          <a:solidFill>
            <a:srgbClr val="C5B5F2"/>
          </a:solidFill>
          <a:ln w="45719">
            <a:solidFill>
              <a:srgbClr val="1023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27920" y="5181600"/>
            <a:ext cx="365760" cy="365760"/>
          </a:xfrm>
          <a:prstGeom prst="ellipse">
            <a:avLst/>
          </a:prstGeom>
          <a:solidFill>
            <a:srgbClr val="C5B5F2"/>
          </a:solidFill>
          <a:ln w="45719">
            <a:solidFill>
              <a:srgbClr val="1023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018520" y="4282440"/>
            <a:ext cx="365760" cy="365760"/>
          </a:xfrm>
          <a:prstGeom prst="ellipse">
            <a:avLst/>
          </a:prstGeom>
          <a:solidFill>
            <a:srgbClr val="DAF975"/>
          </a:solidFill>
          <a:ln w="45719">
            <a:solidFill>
              <a:srgbClr val="1023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4800600"/>
            <a:ext cx="5334000" cy="301142"/>
          </a:xfrm>
          <a:prstGeom prst="rect">
            <a:avLst/>
          </a:prstGeom>
          <a:noFill/>
        </p:spPr>
        <p:txBody>
          <a:bodyPr wrap="none" lIns="0" rIns="0" tIns="0" bIns="0">
            <a:noAutofit/>
          </a:bodyPr>
          <a:lstStyle/>
          <a:p>
            <a:pPr algn="l">
              <a:lnSpc>
                <a:spcPct val="123000"/>
              </a:lnSpc>
              <a:spcBef>
                <a:spcPts val="0"/>
              </a:spcBef>
              <a:spcAft>
                <a:spcPts val="0"/>
              </a:spcAft>
              <a:defRPr sz="1439" b="1">
                <a:solidFill>
                  <a:srgbClr val="AAB9BD"/>
                </a:solidFill>
                <a:latin typeface="Courier New"/>
              </a:defRPr>
            </a:pPr>
            <a:r>
              <a:t>BRANCH  →  PR  →  REVIEW  →  MERGE</a:t>
            </a:r>
          </a:p>
        </p:txBody>
      </p:sp>
      <p:sp>
        <p:nvSpPr>
          <p:cNvPr id="32" name="TextBox 31"/>
          <p:cNvSpPr txBox="1"/>
          <p:nvPr/>
        </p:nvSpPr>
        <p:spPr>
          <a:xfrm>
            <a:off x="594360" y="5250180"/>
            <a:ext cx="5334000" cy="366750"/>
          </a:xfrm>
          <a:prstGeom prst="rect">
            <a:avLst/>
          </a:prstGeom>
          <a:noFill/>
        </p:spPr>
        <p:txBody>
          <a:bodyPr wrap="none" lIns="0" rIns="0" tIns="0" bIns="0">
            <a:noAutofit/>
          </a:bodyPr>
          <a:lstStyle/>
          <a:p>
            <a:pPr algn="l">
              <a:lnSpc>
                <a:spcPct val="123000"/>
              </a:lnSpc>
              <a:spcBef>
                <a:spcPts val="0"/>
              </a:spcBef>
              <a:spcAft>
                <a:spcPts val="0"/>
              </a:spcAft>
              <a:defRPr sz="1859" b="0">
                <a:solidFill>
                  <a:srgbClr val="F5F3EA"/>
                </a:solidFill>
                <a:latin typeface="Arial"/>
              </a:defRPr>
            </a:pPr>
            <a:r>
              <a:t>Ein Dojo für die Zusammenarbeit.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172C36"/>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576B70"/>
                </a:solidFill>
                <a:latin typeface="Arial"/>
              </a:defRPr>
            </a:pPr>
            <a:r>
              <a:t>PRINZIP 01 / HISTORY</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172C36"/>
                </a:solidFill>
                <a:latin typeface="Arial"/>
              </a:defRPr>
            </a:pPr>
            <a:r>
              <a:t>Welche Version gilt?</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576B70"/>
                </a:solidFill>
                <a:latin typeface="Arial"/>
              </a:defRPr>
            </a:pPr>
            <a:r>
              <a:t>Aus Dateichaos wird eine nachvollziehbare Geschichte.</a:t>
            </a:r>
          </a:p>
        </p:txBody>
      </p:sp>
      <p:cxnSp>
        <p:nvCxnSpPr>
          <p:cNvPr id="7" name="Connector 6"/>
          <p:cNvCxnSpPr/>
          <p:nvPr/>
        </p:nvCxnSpPr>
        <p:spPr>
          <a:xfrm>
            <a:off x="548640" y="6362700"/>
            <a:ext cx="11094720" cy="0"/>
          </a:xfrm>
          <a:prstGeom prst="line">
            <a:avLst/>
          </a:prstGeom>
          <a:ln w="11429">
            <a:solidFill>
              <a:srgbClr val="D2D9D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576B70"/>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172C36"/>
                </a:solidFill>
                <a:latin typeface="Arial"/>
              </a:defRPr>
            </a:pPr>
            <a:r>
              <a:t>02</a:t>
            </a:r>
          </a:p>
        </p:txBody>
      </p:sp>
      <p:sp>
        <p:nvSpPr>
          <p:cNvPr id="10" name="Rounded Rectangle 9"/>
          <p:cNvSpPr/>
          <p:nvPr/>
        </p:nvSpPr>
        <p:spPr>
          <a:xfrm>
            <a:off x="685800" y="2247900"/>
            <a:ext cx="4381500" cy="929640"/>
          </a:xfrm>
          <a:prstGeom prst="roundRect">
            <a:avLst>
              <a:gd name="adj" fmla="val 13114"/>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9160" y="2529840"/>
            <a:ext cx="4038600" cy="357378"/>
          </a:xfrm>
          <a:prstGeom prst="rect">
            <a:avLst/>
          </a:prstGeom>
          <a:noFill/>
        </p:spPr>
        <p:txBody>
          <a:bodyPr wrap="none" lIns="0" rIns="0" tIns="0" bIns="0">
            <a:noAutofit/>
          </a:bodyPr>
          <a:lstStyle/>
          <a:p>
            <a:pPr algn="l">
              <a:lnSpc>
                <a:spcPct val="123000"/>
              </a:lnSpc>
              <a:spcBef>
                <a:spcPts val="0"/>
              </a:spcBef>
              <a:spcAft>
                <a:spcPts val="0"/>
              </a:spcAft>
              <a:defRPr sz="1800" b="1">
                <a:solidFill>
                  <a:srgbClr val="172C36"/>
                </a:solidFill>
                <a:latin typeface="Courier New"/>
              </a:defRPr>
            </a:pPr>
            <a:r>
              <a:t>programm_final.md</a:t>
            </a:r>
          </a:p>
        </p:txBody>
      </p:sp>
      <p:sp>
        <p:nvSpPr>
          <p:cNvPr id="12" name="Rounded Rectangle 11"/>
          <p:cNvSpPr/>
          <p:nvPr/>
        </p:nvSpPr>
        <p:spPr>
          <a:xfrm>
            <a:off x="1028700" y="3078480"/>
            <a:ext cx="4381500" cy="929640"/>
          </a:xfrm>
          <a:prstGeom prst="roundRect">
            <a:avLst>
              <a:gd name="adj" fmla="val 13114"/>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42060" y="3360420"/>
            <a:ext cx="4038600" cy="357378"/>
          </a:xfrm>
          <a:prstGeom prst="rect">
            <a:avLst/>
          </a:prstGeom>
          <a:noFill/>
        </p:spPr>
        <p:txBody>
          <a:bodyPr wrap="none" lIns="0" rIns="0" tIns="0" bIns="0">
            <a:noAutofit/>
          </a:bodyPr>
          <a:lstStyle/>
          <a:p>
            <a:pPr algn="l">
              <a:lnSpc>
                <a:spcPct val="123000"/>
              </a:lnSpc>
              <a:spcBef>
                <a:spcPts val="0"/>
              </a:spcBef>
              <a:spcAft>
                <a:spcPts val="0"/>
              </a:spcAft>
              <a:defRPr sz="1800" b="1">
                <a:solidFill>
                  <a:srgbClr val="172C36"/>
                </a:solidFill>
                <a:latin typeface="Courier New"/>
              </a:defRPr>
            </a:pPr>
            <a:r>
              <a:t>programm_final2.md</a:t>
            </a:r>
          </a:p>
        </p:txBody>
      </p:sp>
      <p:sp>
        <p:nvSpPr>
          <p:cNvPr id="14" name="Rounded Rectangle 13"/>
          <p:cNvSpPr/>
          <p:nvPr/>
        </p:nvSpPr>
        <p:spPr>
          <a:xfrm>
            <a:off x="1371600" y="3909060"/>
            <a:ext cx="4381500" cy="929640"/>
          </a:xfrm>
          <a:prstGeom prst="roundRect">
            <a:avLst>
              <a:gd name="adj" fmla="val 13114"/>
            </a:avLst>
          </a:prstGeom>
          <a:solidFill>
            <a:srgbClr val="FF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84960" y="4190999"/>
            <a:ext cx="4038600" cy="357378"/>
          </a:xfrm>
          <a:prstGeom prst="rect">
            <a:avLst/>
          </a:prstGeom>
          <a:noFill/>
        </p:spPr>
        <p:txBody>
          <a:bodyPr wrap="none" lIns="0" rIns="0" tIns="0" bIns="0">
            <a:noAutofit/>
          </a:bodyPr>
          <a:lstStyle/>
          <a:p>
            <a:pPr algn="l">
              <a:lnSpc>
                <a:spcPct val="123000"/>
              </a:lnSpc>
              <a:spcBef>
                <a:spcPts val="0"/>
              </a:spcBef>
              <a:spcAft>
                <a:spcPts val="0"/>
              </a:spcAft>
              <a:defRPr sz="1800" b="1">
                <a:solidFill>
                  <a:srgbClr val="172C36"/>
                </a:solidFill>
                <a:latin typeface="Courier New"/>
              </a:defRPr>
            </a:pPr>
            <a:r>
              <a:t>programm_WIRKLICH.md</a:t>
            </a:r>
          </a:p>
        </p:txBody>
      </p:sp>
      <p:cxnSp>
        <p:nvCxnSpPr>
          <p:cNvPr id="16" name="Connector 15"/>
          <p:cNvCxnSpPr/>
          <p:nvPr/>
        </p:nvCxnSpPr>
        <p:spPr>
          <a:xfrm>
            <a:off x="5760720" y="3680460"/>
            <a:ext cx="830580" cy="0"/>
          </a:xfrm>
          <a:prstGeom prst="line">
            <a:avLst/>
          </a:prstGeom>
          <a:ln w="4571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6484305" y="3680460"/>
            <a:ext cx="106995" cy="58451"/>
          </a:xfrm>
          <a:prstGeom prst="line">
            <a:avLst/>
          </a:prstGeom>
          <a:ln w="4571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6484305" y="3622008"/>
            <a:ext cx="106995" cy="58452"/>
          </a:xfrm>
          <a:prstGeom prst="line">
            <a:avLst/>
          </a:prstGeom>
          <a:ln w="4571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360920" y="3810000"/>
            <a:ext cx="3459480" cy="0"/>
          </a:xfrm>
          <a:prstGeom prst="line">
            <a:avLst/>
          </a:prstGeom>
          <a:ln w="53340">
            <a:solidFill>
              <a:srgbClr val="172C36"/>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7185660" y="3528060"/>
            <a:ext cx="563880" cy="56388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85660" y="3627577"/>
            <a:ext cx="563880" cy="447261"/>
          </a:xfrm>
          <a:prstGeom prst="rect">
            <a:avLst/>
          </a:prstGeom>
          <a:noFill/>
        </p:spPr>
        <p:txBody>
          <a:bodyPr wrap="none" lIns="0" rIns="0" tIns="0" bIns="0">
            <a:noAutofit/>
          </a:bodyPr>
          <a:lstStyle/>
          <a:p>
            <a:pPr algn="ctr">
              <a:lnSpc>
                <a:spcPct val="123000"/>
              </a:lnSpc>
              <a:spcBef>
                <a:spcPts val="0"/>
              </a:spcBef>
              <a:spcAft>
                <a:spcPts val="0"/>
              </a:spcAft>
              <a:defRPr sz="2375" b="1">
                <a:solidFill>
                  <a:srgbClr val="172C36"/>
                </a:solidFill>
                <a:latin typeface="Courier New"/>
              </a:defRPr>
            </a:pPr>
            <a:r>
              <a:t>A</a:t>
            </a:r>
          </a:p>
        </p:txBody>
      </p:sp>
      <p:sp>
        <p:nvSpPr>
          <p:cNvPr id="22" name="Oval 21"/>
          <p:cNvSpPr/>
          <p:nvPr/>
        </p:nvSpPr>
        <p:spPr>
          <a:xfrm>
            <a:off x="8862060" y="3528060"/>
            <a:ext cx="563880" cy="56388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2060" y="3627577"/>
            <a:ext cx="563880" cy="447261"/>
          </a:xfrm>
          <a:prstGeom prst="rect">
            <a:avLst/>
          </a:prstGeom>
          <a:noFill/>
        </p:spPr>
        <p:txBody>
          <a:bodyPr wrap="none" lIns="0" rIns="0" tIns="0" bIns="0">
            <a:noAutofit/>
          </a:bodyPr>
          <a:lstStyle/>
          <a:p>
            <a:pPr algn="ctr">
              <a:lnSpc>
                <a:spcPct val="123000"/>
              </a:lnSpc>
              <a:spcBef>
                <a:spcPts val="0"/>
              </a:spcBef>
              <a:spcAft>
                <a:spcPts val="0"/>
              </a:spcAft>
              <a:defRPr sz="2375" b="1">
                <a:solidFill>
                  <a:srgbClr val="172C36"/>
                </a:solidFill>
                <a:latin typeface="Courier New"/>
              </a:defRPr>
            </a:pPr>
            <a:r>
              <a:t>B</a:t>
            </a:r>
          </a:p>
        </p:txBody>
      </p:sp>
      <p:sp>
        <p:nvSpPr>
          <p:cNvPr id="24" name="Oval 23"/>
          <p:cNvSpPr/>
          <p:nvPr/>
        </p:nvSpPr>
        <p:spPr>
          <a:xfrm>
            <a:off x="10538460" y="3528060"/>
            <a:ext cx="563880" cy="56388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38460" y="3627577"/>
            <a:ext cx="563880" cy="447261"/>
          </a:xfrm>
          <a:prstGeom prst="rect">
            <a:avLst/>
          </a:prstGeom>
          <a:noFill/>
        </p:spPr>
        <p:txBody>
          <a:bodyPr wrap="none" lIns="0" rIns="0" tIns="0" bIns="0">
            <a:noAutofit/>
          </a:bodyPr>
          <a:lstStyle/>
          <a:p>
            <a:pPr algn="ctr">
              <a:lnSpc>
                <a:spcPct val="123000"/>
              </a:lnSpc>
              <a:spcBef>
                <a:spcPts val="0"/>
              </a:spcBef>
              <a:spcAft>
                <a:spcPts val="0"/>
              </a:spcAft>
              <a:defRPr sz="2375" b="1">
                <a:solidFill>
                  <a:srgbClr val="172C36"/>
                </a:solidFill>
                <a:latin typeface="Courier New"/>
              </a:defRPr>
            </a:pPr>
            <a:r>
              <a:t>C</a:t>
            </a:r>
          </a:p>
        </p:txBody>
      </p:sp>
      <p:sp>
        <p:nvSpPr>
          <p:cNvPr id="26" name="TextBox 25"/>
          <p:cNvSpPr txBox="1"/>
          <p:nvPr/>
        </p:nvSpPr>
        <p:spPr>
          <a:xfrm>
            <a:off x="6781800" y="4343400"/>
            <a:ext cx="1371600" cy="338632"/>
          </a:xfrm>
          <a:prstGeom prst="rect">
            <a:avLst/>
          </a:prstGeom>
          <a:noFill/>
        </p:spPr>
        <p:txBody>
          <a:bodyPr wrap="none" lIns="0" rIns="0" tIns="0" bIns="0">
            <a:noAutofit/>
          </a:bodyPr>
          <a:lstStyle/>
          <a:p>
            <a:pPr algn="ctr">
              <a:lnSpc>
                <a:spcPct val="123000"/>
              </a:lnSpc>
              <a:spcBef>
                <a:spcPts val="0"/>
              </a:spcBef>
              <a:spcAft>
                <a:spcPts val="0"/>
              </a:spcAft>
              <a:defRPr sz="1680" b="0">
                <a:solidFill>
                  <a:srgbClr val="172C36"/>
                </a:solidFill>
                <a:latin typeface="Arial"/>
              </a:defRPr>
            </a:pPr>
            <a:r>
              <a:t>Start</a:t>
            </a:r>
          </a:p>
        </p:txBody>
      </p:sp>
      <p:sp>
        <p:nvSpPr>
          <p:cNvPr id="27" name="TextBox 26"/>
          <p:cNvSpPr txBox="1"/>
          <p:nvPr/>
        </p:nvSpPr>
        <p:spPr>
          <a:xfrm>
            <a:off x="8381999" y="4343400"/>
            <a:ext cx="1524000" cy="338632"/>
          </a:xfrm>
          <a:prstGeom prst="rect">
            <a:avLst/>
          </a:prstGeom>
          <a:noFill/>
        </p:spPr>
        <p:txBody>
          <a:bodyPr wrap="none" lIns="0" rIns="0" tIns="0" bIns="0">
            <a:noAutofit/>
          </a:bodyPr>
          <a:lstStyle/>
          <a:p>
            <a:pPr algn="ctr">
              <a:lnSpc>
                <a:spcPct val="123000"/>
              </a:lnSpc>
              <a:spcBef>
                <a:spcPts val="0"/>
              </a:spcBef>
              <a:spcAft>
                <a:spcPts val="0"/>
              </a:spcAft>
              <a:defRPr sz="1680" b="0">
                <a:solidFill>
                  <a:srgbClr val="172C36"/>
                </a:solidFill>
                <a:latin typeface="Arial"/>
              </a:defRPr>
            </a:pPr>
            <a:r>
              <a:t>Ort ergänzt</a:t>
            </a:r>
          </a:p>
        </p:txBody>
      </p:sp>
      <p:sp>
        <p:nvSpPr>
          <p:cNvPr id="28" name="TextBox 27"/>
          <p:cNvSpPr txBox="1"/>
          <p:nvPr/>
        </p:nvSpPr>
        <p:spPr>
          <a:xfrm>
            <a:off x="9982200" y="4343400"/>
            <a:ext cx="1676400" cy="338632"/>
          </a:xfrm>
          <a:prstGeom prst="rect">
            <a:avLst/>
          </a:prstGeom>
          <a:noFill/>
        </p:spPr>
        <p:txBody>
          <a:bodyPr wrap="none" lIns="0" rIns="0" tIns="0" bIns="0">
            <a:noAutofit/>
          </a:bodyPr>
          <a:lstStyle/>
          <a:p>
            <a:pPr algn="ctr">
              <a:lnSpc>
                <a:spcPct val="123000"/>
              </a:lnSpc>
              <a:spcBef>
                <a:spcPts val="0"/>
              </a:spcBef>
              <a:spcAft>
                <a:spcPts val="0"/>
              </a:spcAft>
              <a:defRPr sz="1680" b="0">
                <a:solidFill>
                  <a:srgbClr val="172C36"/>
                </a:solidFill>
                <a:latin typeface="Arial"/>
              </a:defRPr>
            </a:pPr>
            <a:r>
              <a:t>Zeit präzisiert</a:t>
            </a:r>
          </a:p>
        </p:txBody>
      </p:sp>
      <p:sp>
        <p:nvSpPr>
          <p:cNvPr id="29" name="Rounded Rectangle 28"/>
          <p:cNvSpPr/>
          <p:nvPr/>
        </p:nvSpPr>
        <p:spPr>
          <a:xfrm>
            <a:off x="8229600" y="2667000"/>
            <a:ext cx="3238500" cy="365760"/>
          </a:xfrm>
          <a:prstGeom prst="roundRect">
            <a:avLst>
              <a:gd name="adj" fmla="val 50000"/>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5800" y="2735580"/>
            <a:ext cx="30861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nachvollziehbare Schritte</a:t>
            </a:r>
          </a:p>
        </p:txBody>
      </p:sp>
      <p:sp>
        <p:nvSpPr>
          <p:cNvPr id="31" name="Rounded Rectangle 30"/>
          <p:cNvSpPr/>
          <p:nvPr/>
        </p:nvSpPr>
        <p:spPr>
          <a:xfrm>
            <a:off x="548640" y="5684520"/>
            <a:ext cx="11094720" cy="472440"/>
          </a:xfrm>
          <a:prstGeom prst="roundRect">
            <a:avLst>
              <a:gd name="adj" fmla="val 22580"/>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172C36"/>
                </a:solidFill>
                <a:latin typeface="Arial"/>
              </a:defRPr>
            </a:pPr>
            <a:r>
              <a:t>Jeder Schritt hat einen Stand, eine Begründung und einen Platz in der History.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172C36"/>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576B70"/>
                </a:solidFill>
                <a:latin typeface="Arial"/>
              </a:defRPr>
            </a:pPr>
            <a:r>
              <a:t>PRINZIP 02 / LOKAL &amp; REMOTE</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172C36"/>
                </a:solidFill>
                <a:latin typeface="Arial"/>
              </a:defRPr>
            </a:pPr>
            <a:r>
              <a:t>Git ist lokal. GitHub verbindet.</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576B70"/>
                </a:solidFill>
                <a:latin typeface="Arial"/>
              </a:defRPr>
            </a:pPr>
            <a:r>
              <a:t>Ein Commit funktioniert auch ohne Internet.</a:t>
            </a:r>
          </a:p>
        </p:txBody>
      </p:sp>
      <p:cxnSp>
        <p:nvCxnSpPr>
          <p:cNvPr id="7" name="Connector 6"/>
          <p:cNvCxnSpPr/>
          <p:nvPr/>
        </p:nvCxnSpPr>
        <p:spPr>
          <a:xfrm>
            <a:off x="548640" y="6362700"/>
            <a:ext cx="11094720" cy="0"/>
          </a:xfrm>
          <a:prstGeom prst="line">
            <a:avLst/>
          </a:prstGeom>
          <a:ln w="11429">
            <a:solidFill>
              <a:srgbClr val="D2D9D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576B70"/>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172C36"/>
                </a:solidFill>
                <a:latin typeface="Arial"/>
              </a:defRPr>
            </a:pPr>
            <a:r>
              <a:t>03</a:t>
            </a:r>
          </a:p>
        </p:txBody>
      </p:sp>
      <p:sp>
        <p:nvSpPr>
          <p:cNvPr id="10" name="Rounded Rectangle 9"/>
          <p:cNvSpPr/>
          <p:nvPr/>
        </p:nvSpPr>
        <p:spPr>
          <a:xfrm>
            <a:off x="701040" y="2118360"/>
            <a:ext cx="4343400" cy="2796540"/>
          </a:xfrm>
          <a:prstGeom prst="roundRect">
            <a:avLst>
              <a:gd name="adj" fmla="val 6539"/>
            </a:avLst>
          </a:prstGeom>
          <a:solidFill>
            <a:srgbClr val="172C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53440" y="2270760"/>
            <a:ext cx="4038600" cy="2255520"/>
          </a:xfrm>
          <a:prstGeom prst="roundRect">
            <a:avLst>
              <a:gd name="adj" fmla="val 405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74420" y="2484120"/>
            <a:ext cx="1790700" cy="365760"/>
          </a:xfrm>
          <a:prstGeom prst="roundRect">
            <a:avLst>
              <a:gd name="adj" fmla="val 50000"/>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50620" y="2552700"/>
            <a:ext cx="16383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DEIN LAPTOP</a:t>
            </a:r>
          </a:p>
        </p:txBody>
      </p:sp>
      <p:sp>
        <p:nvSpPr>
          <p:cNvPr id="14" name="TextBox 13"/>
          <p:cNvSpPr txBox="1"/>
          <p:nvPr/>
        </p:nvSpPr>
        <p:spPr>
          <a:xfrm>
            <a:off x="1082040" y="3093720"/>
            <a:ext cx="3657600" cy="413613"/>
          </a:xfrm>
          <a:prstGeom prst="rect">
            <a:avLst/>
          </a:prstGeom>
          <a:noFill/>
        </p:spPr>
        <p:txBody>
          <a:bodyPr wrap="none" lIns="0" rIns="0" tIns="0" bIns="0">
            <a:noAutofit/>
          </a:bodyPr>
          <a:lstStyle/>
          <a:p>
            <a:pPr algn="l">
              <a:lnSpc>
                <a:spcPct val="123000"/>
              </a:lnSpc>
              <a:spcBef>
                <a:spcPts val="0"/>
              </a:spcBef>
              <a:spcAft>
                <a:spcPts val="0"/>
              </a:spcAft>
              <a:defRPr sz="2160" b="1">
                <a:solidFill>
                  <a:srgbClr val="172C36"/>
                </a:solidFill>
                <a:latin typeface="Arial"/>
              </a:defRPr>
            </a:pPr>
            <a:r>
              <a:t>Dateien + Git-History</a:t>
            </a:r>
          </a:p>
        </p:txBody>
      </p:sp>
      <p:cxnSp>
        <p:nvCxnSpPr>
          <p:cNvPr id="15" name="Connector 14"/>
          <p:cNvCxnSpPr/>
          <p:nvPr/>
        </p:nvCxnSpPr>
        <p:spPr>
          <a:xfrm>
            <a:off x="1203960" y="4107179"/>
            <a:ext cx="3139440" cy="0"/>
          </a:xfrm>
          <a:prstGeom prst="line">
            <a:avLst/>
          </a:prstGeom>
          <a:ln w="38100">
            <a:solidFill>
              <a:srgbClr val="172C36"/>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58240" y="3931920"/>
            <a:ext cx="350520" cy="35052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58240" y="3990898"/>
            <a:ext cx="350520" cy="306859"/>
          </a:xfrm>
          <a:prstGeom prst="rect">
            <a:avLst/>
          </a:prstGeom>
          <a:noFill/>
        </p:spPr>
        <p:txBody>
          <a:bodyPr wrap="none" lIns="0" rIns="0" tIns="0" bIns="0">
            <a:noAutofit/>
          </a:bodyPr>
          <a:lstStyle/>
          <a:p>
            <a:pPr algn="ctr">
              <a:lnSpc>
                <a:spcPct val="123000"/>
              </a:lnSpc>
              <a:spcBef>
                <a:spcPts val="0"/>
              </a:spcBef>
              <a:spcAft>
                <a:spcPts val="0"/>
              </a:spcAft>
              <a:defRPr sz="1476" b="1">
                <a:solidFill>
                  <a:srgbClr val="172C36"/>
                </a:solidFill>
                <a:latin typeface="Courier New"/>
              </a:defRPr>
            </a:pPr>
            <a:r>
              <a:t>A</a:t>
            </a:r>
          </a:p>
        </p:txBody>
      </p:sp>
      <p:sp>
        <p:nvSpPr>
          <p:cNvPr id="18" name="Oval 17"/>
          <p:cNvSpPr/>
          <p:nvPr/>
        </p:nvSpPr>
        <p:spPr>
          <a:xfrm>
            <a:off x="2514600" y="3931920"/>
            <a:ext cx="350520" cy="35052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3990898"/>
            <a:ext cx="350520" cy="306859"/>
          </a:xfrm>
          <a:prstGeom prst="rect">
            <a:avLst/>
          </a:prstGeom>
          <a:noFill/>
        </p:spPr>
        <p:txBody>
          <a:bodyPr wrap="none" lIns="0" rIns="0" tIns="0" bIns="0">
            <a:noAutofit/>
          </a:bodyPr>
          <a:lstStyle/>
          <a:p>
            <a:pPr algn="ctr">
              <a:lnSpc>
                <a:spcPct val="123000"/>
              </a:lnSpc>
              <a:spcBef>
                <a:spcPts val="0"/>
              </a:spcBef>
              <a:spcAft>
                <a:spcPts val="0"/>
              </a:spcAft>
              <a:defRPr sz="1476" b="1">
                <a:solidFill>
                  <a:srgbClr val="172C36"/>
                </a:solidFill>
                <a:latin typeface="Courier New"/>
              </a:defRPr>
            </a:pPr>
            <a:r>
              <a:t>B</a:t>
            </a:r>
          </a:p>
        </p:txBody>
      </p:sp>
      <p:sp>
        <p:nvSpPr>
          <p:cNvPr id="20" name="Oval 19"/>
          <p:cNvSpPr/>
          <p:nvPr/>
        </p:nvSpPr>
        <p:spPr>
          <a:xfrm>
            <a:off x="4053840" y="3931920"/>
            <a:ext cx="350520" cy="35052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53840" y="3990898"/>
            <a:ext cx="350520" cy="306859"/>
          </a:xfrm>
          <a:prstGeom prst="rect">
            <a:avLst/>
          </a:prstGeom>
          <a:noFill/>
        </p:spPr>
        <p:txBody>
          <a:bodyPr wrap="none" lIns="0" rIns="0" tIns="0" bIns="0">
            <a:noAutofit/>
          </a:bodyPr>
          <a:lstStyle/>
          <a:p>
            <a:pPr algn="ctr">
              <a:lnSpc>
                <a:spcPct val="123000"/>
              </a:lnSpc>
              <a:spcBef>
                <a:spcPts val="0"/>
              </a:spcBef>
              <a:spcAft>
                <a:spcPts val="0"/>
              </a:spcAft>
              <a:defRPr sz="1476" b="1">
                <a:solidFill>
                  <a:srgbClr val="172C36"/>
                </a:solidFill>
                <a:latin typeface="Courier New"/>
              </a:defRPr>
            </a:pPr>
            <a:r>
              <a:t>C</a:t>
            </a:r>
          </a:p>
        </p:txBody>
      </p:sp>
      <p:sp>
        <p:nvSpPr>
          <p:cNvPr id="22" name="Rounded Rectangle 21"/>
          <p:cNvSpPr/>
          <p:nvPr/>
        </p:nvSpPr>
        <p:spPr>
          <a:xfrm>
            <a:off x="510540" y="4960620"/>
            <a:ext cx="4724400" cy="205740"/>
          </a:xfrm>
          <a:prstGeom prst="roundRect">
            <a:avLst>
              <a:gd name="adj" fmla="val 37037"/>
            </a:avLst>
          </a:prstGeom>
          <a:solidFill>
            <a:srgbClr val="172C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15200" y="2118360"/>
            <a:ext cx="4190999" cy="3048000"/>
          </a:xfrm>
          <a:prstGeom prst="roundRect">
            <a:avLst>
              <a:gd name="adj" fmla="val 8000"/>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620000" y="2400300"/>
            <a:ext cx="125730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96199" y="2468880"/>
            <a:ext cx="11049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GITHUB</a:t>
            </a:r>
          </a:p>
        </p:txBody>
      </p:sp>
      <p:sp>
        <p:nvSpPr>
          <p:cNvPr id="26" name="TextBox 25"/>
          <p:cNvSpPr txBox="1"/>
          <p:nvPr/>
        </p:nvSpPr>
        <p:spPr>
          <a:xfrm>
            <a:off x="7620000" y="3108960"/>
            <a:ext cx="3429000" cy="1144676"/>
          </a:xfrm>
          <a:prstGeom prst="rect">
            <a:avLst/>
          </a:prstGeom>
          <a:noFill/>
        </p:spPr>
        <p:txBody>
          <a:bodyPr wrap="none" lIns="0" rIns="0" tIns="0" bIns="0">
            <a:noAutofit/>
          </a:bodyPr>
          <a:lstStyle/>
          <a:p>
            <a:pPr algn="l">
              <a:lnSpc>
                <a:spcPct val="123000"/>
              </a:lnSpc>
              <a:spcBef>
                <a:spcPts val="0"/>
              </a:spcBef>
              <a:spcAft>
                <a:spcPts val="0"/>
              </a:spcAft>
              <a:defRPr sz="2280" b="1">
                <a:solidFill>
                  <a:srgbClr val="F5F3EA"/>
                </a:solidFill>
                <a:latin typeface="Arial"/>
              </a:defRPr>
            </a:pPr>
            <a:r>
              <a:t>Gemeinsames Repo</a:t>
            </a:r>
          </a:p>
          <a:p>
            <a:pPr algn="l">
              <a:lnSpc>
                <a:spcPct val="123000"/>
              </a:lnSpc>
              <a:spcBef>
                <a:spcPts val="0"/>
              </a:spcBef>
              <a:spcAft>
                <a:spcPts val="0"/>
              </a:spcAft>
              <a:defRPr sz="2280" b="1">
                <a:solidFill>
                  <a:srgbClr val="F5F3EA"/>
                </a:solidFill>
                <a:latin typeface="Arial"/>
              </a:defRPr>
            </a:pPr>
            <a:r>
              <a:t>Pull Requests</a:t>
            </a:r>
          </a:p>
          <a:p>
            <a:pPr algn="l">
              <a:lnSpc>
                <a:spcPct val="123000"/>
              </a:lnSpc>
              <a:spcBef>
                <a:spcPts val="0"/>
              </a:spcBef>
              <a:spcAft>
                <a:spcPts val="0"/>
              </a:spcAft>
              <a:defRPr sz="2280" b="1">
                <a:solidFill>
                  <a:srgbClr val="F5F3EA"/>
                </a:solidFill>
                <a:latin typeface="Arial"/>
              </a:defRPr>
            </a:pPr>
            <a:r>
              <a:t>Reviews</a:t>
            </a:r>
          </a:p>
        </p:txBody>
      </p:sp>
      <p:cxnSp>
        <p:nvCxnSpPr>
          <p:cNvPr id="27" name="Connector 26"/>
          <p:cNvCxnSpPr/>
          <p:nvPr/>
        </p:nvCxnSpPr>
        <p:spPr>
          <a:xfrm>
            <a:off x="5326380" y="3063240"/>
            <a:ext cx="1706880" cy="0"/>
          </a:xfrm>
          <a:prstGeom prst="line">
            <a:avLst/>
          </a:prstGeom>
          <a:ln w="4571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926265" y="3063240"/>
            <a:ext cx="106995" cy="58451"/>
          </a:xfrm>
          <a:prstGeom prst="line">
            <a:avLst/>
          </a:prstGeom>
          <a:ln w="4571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6926265" y="3004788"/>
            <a:ext cx="106995" cy="58452"/>
          </a:xfrm>
          <a:prstGeom prst="line">
            <a:avLst/>
          </a:prstGeom>
          <a:ln w="45719">
            <a:solidFill>
              <a:srgbClr val="172C3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10200" y="2644140"/>
            <a:ext cx="1524000" cy="338632"/>
          </a:xfrm>
          <a:prstGeom prst="rect">
            <a:avLst/>
          </a:prstGeom>
          <a:noFill/>
        </p:spPr>
        <p:txBody>
          <a:bodyPr wrap="none" lIns="0" rIns="0" tIns="0" bIns="0">
            <a:noAutofit/>
          </a:bodyPr>
          <a:lstStyle/>
          <a:p>
            <a:pPr algn="ctr">
              <a:lnSpc>
                <a:spcPct val="123000"/>
              </a:lnSpc>
              <a:spcBef>
                <a:spcPts val="0"/>
              </a:spcBef>
              <a:spcAft>
                <a:spcPts val="0"/>
              </a:spcAft>
              <a:defRPr sz="1680" b="1">
                <a:solidFill>
                  <a:srgbClr val="172C36"/>
                </a:solidFill>
                <a:latin typeface="Courier New"/>
              </a:defRPr>
            </a:pPr>
            <a:r>
              <a:t>push</a:t>
            </a:r>
          </a:p>
        </p:txBody>
      </p:sp>
      <p:cxnSp>
        <p:nvCxnSpPr>
          <p:cNvPr id="31" name="Connector 30"/>
          <p:cNvCxnSpPr/>
          <p:nvPr/>
        </p:nvCxnSpPr>
        <p:spPr>
          <a:xfrm flipH="1">
            <a:off x="5326380" y="4152900"/>
            <a:ext cx="1706880" cy="0"/>
          </a:xfrm>
          <a:prstGeom prst="line">
            <a:avLst/>
          </a:prstGeom>
          <a:ln w="4571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5326380" y="4094448"/>
            <a:ext cx="106994" cy="58452"/>
          </a:xfrm>
          <a:prstGeom prst="line">
            <a:avLst/>
          </a:prstGeom>
          <a:ln w="4571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326380" y="4152900"/>
            <a:ext cx="106994" cy="58451"/>
          </a:xfrm>
          <a:prstGeom prst="line">
            <a:avLst/>
          </a:prstGeom>
          <a:ln w="45719">
            <a:solidFill>
              <a:srgbClr val="172C3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410200" y="4396740"/>
            <a:ext cx="1524000" cy="338632"/>
          </a:xfrm>
          <a:prstGeom prst="rect">
            <a:avLst/>
          </a:prstGeom>
          <a:noFill/>
        </p:spPr>
        <p:txBody>
          <a:bodyPr wrap="none" lIns="0" rIns="0" tIns="0" bIns="0">
            <a:noAutofit/>
          </a:bodyPr>
          <a:lstStyle/>
          <a:p>
            <a:pPr algn="ctr">
              <a:lnSpc>
                <a:spcPct val="123000"/>
              </a:lnSpc>
              <a:spcBef>
                <a:spcPts val="0"/>
              </a:spcBef>
              <a:spcAft>
                <a:spcPts val="0"/>
              </a:spcAft>
              <a:defRPr sz="1680" b="1">
                <a:solidFill>
                  <a:srgbClr val="172C36"/>
                </a:solidFill>
                <a:latin typeface="Courier New"/>
              </a:defRPr>
            </a:pPr>
            <a:r>
              <a:t>fetch</a:t>
            </a:r>
          </a:p>
        </p:txBody>
      </p:sp>
      <p:sp>
        <p:nvSpPr>
          <p:cNvPr id="35" name="Rounded Rectangle 34"/>
          <p:cNvSpPr/>
          <p:nvPr/>
        </p:nvSpPr>
        <p:spPr>
          <a:xfrm>
            <a:off x="548640" y="5684520"/>
            <a:ext cx="11094720" cy="472440"/>
          </a:xfrm>
          <a:prstGeom prst="roundRect">
            <a:avLst>
              <a:gd name="adj" fmla="val 22580"/>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172C36"/>
                </a:solidFill>
                <a:latin typeface="Arial"/>
              </a:defRPr>
            </a:pPr>
            <a:r>
              <a:t>Commit ≠ Push. Ein PR ist der gemeinsame Raum für Prüfung und Integration.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172C36"/>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576B70"/>
                </a:solidFill>
                <a:latin typeface="Arial"/>
              </a:defRPr>
            </a:pPr>
            <a:r>
              <a:t>PRINZIP 03 / DIE DREI BEREICHE</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172C36"/>
                </a:solidFill>
                <a:latin typeface="Arial"/>
              </a:defRPr>
            </a:pPr>
            <a:r>
              <a:t>Ändern. Auswählen. Festhalten.</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576B70"/>
                </a:solidFill>
                <a:latin typeface="Arial"/>
              </a:defRPr>
            </a:pPr>
            <a:r>
              <a:t>Drei Bereiche auf deinem Rechner. Drei verschiedene Zustände.</a:t>
            </a:r>
          </a:p>
        </p:txBody>
      </p:sp>
      <p:cxnSp>
        <p:nvCxnSpPr>
          <p:cNvPr id="7" name="Connector 6"/>
          <p:cNvCxnSpPr/>
          <p:nvPr/>
        </p:nvCxnSpPr>
        <p:spPr>
          <a:xfrm>
            <a:off x="548640" y="6362700"/>
            <a:ext cx="11094720" cy="0"/>
          </a:xfrm>
          <a:prstGeom prst="line">
            <a:avLst/>
          </a:prstGeom>
          <a:ln w="11429">
            <a:solidFill>
              <a:srgbClr val="D2D9D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576B70"/>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172C36"/>
                </a:solidFill>
                <a:latin typeface="Arial"/>
              </a:defRPr>
            </a:pPr>
            <a:r>
              <a:t>04</a:t>
            </a:r>
          </a:p>
        </p:txBody>
      </p:sp>
      <p:sp>
        <p:nvSpPr>
          <p:cNvPr id="10" name="Rounded Rectangle 9"/>
          <p:cNvSpPr/>
          <p:nvPr/>
        </p:nvSpPr>
        <p:spPr>
          <a:xfrm>
            <a:off x="548640" y="2186940"/>
            <a:ext cx="3352800" cy="2743200"/>
          </a:xfrm>
          <a:prstGeom prst="roundRect">
            <a:avLst>
              <a:gd name="adj" fmla="val 7222"/>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2362200"/>
            <a:ext cx="54864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7720" y="2430780"/>
            <a:ext cx="39624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01</a:t>
            </a:r>
          </a:p>
        </p:txBody>
      </p:sp>
      <p:sp>
        <p:nvSpPr>
          <p:cNvPr id="13" name="TextBox 12"/>
          <p:cNvSpPr txBox="1"/>
          <p:nvPr/>
        </p:nvSpPr>
        <p:spPr>
          <a:xfrm>
            <a:off x="754380" y="2956560"/>
            <a:ext cx="3009900" cy="413613"/>
          </a:xfrm>
          <a:prstGeom prst="rect">
            <a:avLst/>
          </a:prstGeom>
          <a:noFill/>
        </p:spPr>
        <p:txBody>
          <a:bodyPr wrap="none" lIns="0" rIns="0" tIns="0" bIns="0">
            <a:noAutofit/>
          </a:bodyPr>
          <a:lstStyle/>
          <a:p>
            <a:pPr algn="l">
              <a:lnSpc>
                <a:spcPct val="123000"/>
              </a:lnSpc>
              <a:spcBef>
                <a:spcPts val="0"/>
              </a:spcBef>
              <a:spcAft>
                <a:spcPts val="0"/>
              </a:spcAft>
              <a:defRPr sz="2160" b="1">
                <a:solidFill>
                  <a:srgbClr val="172C36"/>
                </a:solidFill>
                <a:latin typeface="Arial"/>
              </a:defRPr>
            </a:pPr>
            <a:r>
              <a:t>Working Tree</a:t>
            </a:r>
          </a:p>
        </p:txBody>
      </p:sp>
      <p:sp>
        <p:nvSpPr>
          <p:cNvPr id="14" name="TextBox 13"/>
          <p:cNvSpPr txBox="1"/>
          <p:nvPr/>
        </p:nvSpPr>
        <p:spPr>
          <a:xfrm>
            <a:off x="754380" y="3360420"/>
            <a:ext cx="3009900" cy="301142"/>
          </a:xfrm>
          <a:prstGeom prst="rect">
            <a:avLst/>
          </a:prstGeom>
          <a:noFill/>
        </p:spPr>
        <p:txBody>
          <a:bodyPr wrap="none" lIns="0" rIns="0" tIns="0" bIns="0">
            <a:noAutofit/>
          </a:bodyPr>
          <a:lstStyle/>
          <a:p>
            <a:pPr algn="l">
              <a:lnSpc>
                <a:spcPct val="123000"/>
              </a:lnSpc>
              <a:spcBef>
                <a:spcPts val="0"/>
              </a:spcBef>
              <a:spcAft>
                <a:spcPts val="0"/>
              </a:spcAft>
              <a:defRPr sz="1439" b="0">
                <a:solidFill>
                  <a:srgbClr val="172C36"/>
                </a:solidFill>
                <a:latin typeface="Arial"/>
              </a:defRPr>
            </a:pPr>
            <a:r>
              <a:t>bearbeitete Dateien</a:t>
            </a:r>
          </a:p>
        </p:txBody>
      </p:sp>
      <p:sp>
        <p:nvSpPr>
          <p:cNvPr id="15" name="Rounded Rectangle 14"/>
          <p:cNvSpPr/>
          <p:nvPr/>
        </p:nvSpPr>
        <p:spPr>
          <a:xfrm>
            <a:off x="777240" y="3992879"/>
            <a:ext cx="701040" cy="609600"/>
          </a:xfrm>
          <a:prstGeom prst="roundRect">
            <a:avLst>
              <a:gd name="adj" fmla="val 15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914400" y="4175760"/>
            <a:ext cx="40386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14400" y="4328160"/>
            <a:ext cx="30480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653540" y="3992879"/>
            <a:ext cx="701040" cy="609600"/>
          </a:xfrm>
          <a:prstGeom prst="roundRect">
            <a:avLst>
              <a:gd name="adj" fmla="val 15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1790700" y="4175760"/>
            <a:ext cx="40386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790700" y="4328160"/>
            <a:ext cx="304799"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529840" y="3992879"/>
            <a:ext cx="701040" cy="609600"/>
          </a:xfrm>
          <a:prstGeom prst="roundRect">
            <a:avLst>
              <a:gd name="adj" fmla="val 15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2667000" y="4175760"/>
            <a:ext cx="40386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667000" y="4328160"/>
            <a:ext cx="30480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419600" y="2186940"/>
            <a:ext cx="3352800" cy="2743200"/>
          </a:xfrm>
          <a:prstGeom prst="roundRect">
            <a:avLst>
              <a:gd name="adj" fmla="val 7222"/>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602480" y="2362200"/>
            <a:ext cx="548640" cy="365760"/>
          </a:xfrm>
          <a:prstGeom prst="roundRect">
            <a:avLst>
              <a:gd name="adj" fmla="val 50000"/>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78680" y="2430780"/>
            <a:ext cx="39624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02</a:t>
            </a:r>
          </a:p>
        </p:txBody>
      </p:sp>
      <p:sp>
        <p:nvSpPr>
          <p:cNvPr id="27" name="TextBox 26"/>
          <p:cNvSpPr txBox="1"/>
          <p:nvPr/>
        </p:nvSpPr>
        <p:spPr>
          <a:xfrm>
            <a:off x="4625340" y="2956560"/>
            <a:ext cx="3009900" cy="413613"/>
          </a:xfrm>
          <a:prstGeom prst="rect">
            <a:avLst/>
          </a:prstGeom>
          <a:noFill/>
        </p:spPr>
        <p:txBody>
          <a:bodyPr wrap="none" lIns="0" rIns="0" tIns="0" bIns="0">
            <a:noAutofit/>
          </a:bodyPr>
          <a:lstStyle/>
          <a:p>
            <a:pPr algn="l">
              <a:lnSpc>
                <a:spcPct val="123000"/>
              </a:lnSpc>
              <a:spcBef>
                <a:spcPts val="0"/>
              </a:spcBef>
              <a:spcAft>
                <a:spcPts val="0"/>
              </a:spcAft>
              <a:defRPr sz="2160" b="1">
                <a:solidFill>
                  <a:srgbClr val="172C36"/>
                </a:solidFill>
                <a:latin typeface="Arial"/>
              </a:defRPr>
            </a:pPr>
            <a:r>
              <a:t>Staging Area</a:t>
            </a:r>
          </a:p>
        </p:txBody>
      </p:sp>
      <p:sp>
        <p:nvSpPr>
          <p:cNvPr id="28" name="TextBox 27"/>
          <p:cNvSpPr txBox="1"/>
          <p:nvPr/>
        </p:nvSpPr>
        <p:spPr>
          <a:xfrm>
            <a:off x="4625340" y="3360420"/>
            <a:ext cx="3009900" cy="301142"/>
          </a:xfrm>
          <a:prstGeom prst="rect">
            <a:avLst/>
          </a:prstGeom>
          <a:noFill/>
        </p:spPr>
        <p:txBody>
          <a:bodyPr wrap="none" lIns="0" rIns="0" tIns="0" bIns="0">
            <a:noAutofit/>
          </a:bodyPr>
          <a:lstStyle/>
          <a:p>
            <a:pPr algn="l">
              <a:lnSpc>
                <a:spcPct val="123000"/>
              </a:lnSpc>
              <a:spcBef>
                <a:spcPts val="0"/>
              </a:spcBef>
              <a:spcAft>
                <a:spcPts val="0"/>
              </a:spcAft>
              <a:defRPr sz="1439" b="0">
                <a:solidFill>
                  <a:srgbClr val="172C36"/>
                </a:solidFill>
                <a:latin typeface="Arial"/>
              </a:defRPr>
            </a:pPr>
            <a:r>
              <a:t>Auswahl für den Commit</a:t>
            </a:r>
          </a:p>
        </p:txBody>
      </p:sp>
      <p:sp>
        <p:nvSpPr>
          <p:cNvPr id="29" name="Rounded Rectangle 28"/>
          <p:cNvSpPr/>
          <p:nvPr/>
        </p:nvSpPr>
        <p:spPr>
          <a:xfrm>
            <a:off x="4648200" y="3992879"/>
            <a:ext cx="701040" cy="609600"/>
          </a:xfrm>
          <a:prstGeom prst="roundRect">
            <a:avLst>
              <a:gd name="adj" fmla="val 15000"/>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4785360" y="4175760"/>
            <a:ext cx="40386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785360" y="4328160"/>
            <a:ext cx="30480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524500" y="3992879"/>
            <a:ext cx="701040" cy="609600"/>
          </a:xfrm>
          <a:prstGeom prst="roundRect">
            <a:avLst>
              <a:gd name="adj" fmla="val 15000"/>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5661660" y="4175760"/>
            <a:ext cx="40386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661660" y="4328160"/>
            <a:ext cx="30480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400800" y="3992879"/>
            <a:ext cx="701040" cy="609600"/>
          </a:xfrm>
          <a:prstGeom prst="roundRect">
            <a:avLst>
              <a:gd name="adj" fmla="val 15000"/>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6537960" y="4175760"/>
            <a:ext cx="40386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537960" y="4328160"/>
            <a:ext cx="30480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290560" y="2186940"/>
            <a:ext cx="3352800" cy="2743200"/>
          </a:xfrm>
          <a:prstGeom prst="roundRect">
            <a:avLst>
              <a:gd name="adj" fmla="val 7222"/>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473440" y="2362200"/>
            <a:ext cx="548640"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49640" y="2430780"/>
            <a:ext cx="39624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03</a:t>
            </a:r>
          </a:p>
        </p:txBody>
      </p:sp>
      <p:sp>
        <p:nvSpPr>
          <p:cNvPr id="41" name="TextBox 40"/>
          <p:cNvSpPr txBox="1"/>
          <p:nvPr/>
        </p:nvSpPr>
        <p:spPr>
          <a:xfrm>
            <a:off x="8496300" y="2956560"/>
            <a:ext cx="3009900" cy="413613"/>
          </a:xfrm>
          <a:prstGeom prst="rect">
            <a:avLst/>
          </a:prstGeom>
          <a:noFill/>
        </p:spPr>
        <p:txBody>
          <a:bodyPr wrap="none" lIns="0" rIns="0" tIns="0" bIns="0">
            <a:noAutofit/>
          </a:bodyPr>
          <a:lstStyle/>
          <a:p>
            <a:pPr algn="l">
              <a:lnSpc>
                <a:spcPct val="123000"/>
              </a:lnSpc>
              <a:spcBef>
                <a:spcPts val="0"/>
              </a:spcBef>
              <a:spcAft>
                <a:spcPts val="0"/>
              </a:spcAft>
              <a:defRPr sz="2160" b="1">
                <a:solidFill>
                  <a:srgbClr val="172C36"/>
                </a:solidFill>
                <a:latin typeface="Arial"/>
              </a:defRPr>
            </a:pPr>
            <a:r>
              <a:t>Repository</a:t>
            </a:r>
          </a:p>
        </p:txBody>
      </p:sp>
      <p:sp>
        <p:nvSpPr>
          <p:cNvPr id="42" name="TextBox 41"/>
          <p:cNvSpPr txBox="1"/>
          <p:nvPr/>
        </p:nvSpPr>
        <p:spPr>
          <a:xfrm>
            <a:off x="8496300" y="3360420"/>
            <a:ext cx="3009900" cy="301142"/>
          </a:xfrm>
          <a:prstGeom prst="rect">
            <a:avLst/>
          </a:prstGeom>
          <a:noFill/>
        </p:spPr>
        <p:txBody>
          <a:bodyPr wrap="none" lIns="0" rIns="0" tIns="0" bIns="0">
            <a:noAutofit/>
          </a:bodyPr>
          <a:lstStyle/>
          <a:p>
            <a:pPr algn="l">
              <a:lnSpc>
                <a:spcPct val="123000"/>
              </a:lnSpc>
              <a:spcBef>
                <a:spcPts val="0"/>
              </a:spcBef>
              <a:spcAft>
                <a:spcPts val="0"/>
              </a:spcAft>
              <a:defRPr sz="1439" b="0">
                <a:solidFill>
                  <a:srgbClr val="172C36"/>
                </a:solidFill>
                <a:latin typeface="Arial"/>
              </a:defRPr>
            </a:pPr>
            <a:r>
              <a:t>festgehaltener Projektstand</a:t>
            </a:r>
          </a:p>
        </p:txBody>
      </p:sp>
      <p:sp>
        <p:nvSpPr>
          <p:cNvPr id="43" name="Rounded Rectangle 42"/>
          <p:cNvSpPr/>
          <p:nvPr/>
        </p:nvSpPr>
        <p:spPr>
          <a:xfrm>
            <a:off x="8519160" y="3992879"/>
            <a:ext cx="701040" cy="609600"/>
          </a:xfrm>
          <a:prstGeom prst="roundRect">
            <a:avLst>
              <a:gd name="adj" fmla="val 15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8656320" y="4175760"/>
            <a:ext cx="40386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656320" y="4328160"/>
            <a:ext cx="30480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9395460" y="3992879"/>
            <a:ext cx="701040" cy="609600"/>
          </a:xfrm>
          <a:prstGeom prst="roundRect">
            <a:avLst>
              <a:gd name="adj" fmla="val 15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9532620" y="4175760"/>
            <a:ext cx="40386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532620" y="4328160"/>
            <a:ext cx="30480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10271760" y="3992879"/>
            <a:ext cx="701040" cy="609600"/>
          </a:xfrm>
          <a:prstGeom prst="roundRect">
            <a:avLst>
              <a:gd name="adj" fmla="val 15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a:off x="10408920" y="4175760"/>
            <a:ext cx="40386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408920" y="4328160"/>
            <a:ext cx="304800" cy="0"/>
          </a:xfrm>
          <a:prstGeom prst="line">
            <a:avLst/>
          </a:prstGeom>
          <a:ln w="22859">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3924300" y="3566160"/>
            <a:ext cx="457200" cy="0"/>
          </a:xfrm>
          <a:prstGeom prst="line">
            <a:avLst/>
          </a:prstGeom>
          <a:ln w="3048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274505" y="3566160"/>
            <a:ext cx="106995" cy="58451"/>
          </a:xfrm>
          <a:prstGeom prst="line">
            <a:avLst/>
          </a:prstGeom>
          <a:ln w="3048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274505" y="3507708"/>
            <a:ext cx="106995" cy="58452"/>
          </a:xfrm>
          <a:prstGeom prst="line">
            <a:avLst/>
          </a:prstGeom>
          <a:ln w="3048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802880" y="3566160"/>
            <a:ext cx="457200" cy="0"/>
          </a:xfrm>
          <a:prstGeom prst="line">
            <a:avLst/>
          </a:prstGeom>
          <a:ln w="3048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8153085" y="3566160"/>
            <a:ext cx="106995" cy="58451"/>
          </a:xfrm>
          <a:prstGeom prst="line">
            <a:avLst/>
          </a:prstGeom>
          <a:ln w="3048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8153085" y="3507708"/>
            <a:ext cx="106995" cy="58452"/>
          </a:xfrm>
          <a:prstGeom prst="line">
            <a:avLst/>
          </a:prstGeom>
          <a:ln w="30480">
            <a:solidFill>
              <a:srgbClr val="172C36"/>
            </a:solidFill>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3108960" y="5242560"/>
            <a:ext cx="167640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185160" y="5311140"/>
            <a:ext cx="15240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git add</a:t>
            </a:r>
          </a:p>
        </p:txBody>
      </p:sp>
      <p:sp>
        <p:nvSpPr>
          <p:cNvPr id="60" name="Rounded Rectangle 59"/>
          <p:cNvSpPr/>
          <p:nvPr/>
        </p:nvSpPr>
        <p:spPr>
          <a:xfrm>
            <a:off x="6934200" y="5242560"/>
            <a:ext cx="1828800"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010400" y="5311140"/>
            <a:ext cx="16764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git commit</a:t>
            </a:r>
          </a:p>
        </p:txBody>
      </p:sp>
      <p:sp>
        <p:nvSpPr>
          <p:cNvPr id="62" name="Rounded Rectangle 61"/>
          <p:cNvSpPr/>
          <p:nvPr/>
        </p:nvSpPr>
        <p:spPr>
          <a:xfrm>
            <a:off x="548640" y="5783580"/>
            <a:ext cx="11094720" cy="472440"/>
          </a:xfrm>
          <a:prstGeom prst="roundRect">
            <a:avLst>
              <a:gd name="adj" fmla="val 22580"/>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54380" y="589026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172C36"/>
                </a:solidFill>
                <a:latin typeface="Arial"/>
              </a:defRPr>
            </a:pPr>
            <a:r>
              <a:t>Erst den Diff lesen. Dann gezielt stagen. Dann committen.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DAF975"/>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AAB9BD"/>
                </a:solidFill>
                <a:latin typeface="Arial"/>
              </a:defRPr>
            </a:pPr>
            <a:r>
              <a:t>AHA-MOMENT / STAGING</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F5F3EA"/>
                </a:solidFill>
                <a:latin typeface="Arial"/>
              </a:defRPr>
            </a:pPr>
            <a:r>
              <a:t>Der Commit nimmt die Auswahl.</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AAB9BD"/>
                </a:solidFill>
                <a:latin typeface="Arial"/>
              </a:defRPr>
            </a:pPr>
            <a:r>
              <a:t>Nach git add weiterbearbeitet? Diese Änderung ist noch nicht ausgewählt.</a:t>
            </a:r>
          </a:p>
        </p:txBody>
      </p:sp>
      <p:cxnSp>
        <p:nvCxnSpPr>
          <p:cNvPr id="7" name="Connector 6"/>
          <p:cNvCxnSpPr/>
          <p:nvPr/>
        </p:nvCxnSpPr>
        <p:spPr>
          <a:xfrm>
            <a:off x="548640" y="6362700"/>
            <a:ext cx="11094720" cy="0"/>
          </a:xfrm>
          <a:prstGeom prst="line">
            <a:avLst/>
          </a:prstGeom>
          <a:ln w="11429">
            <a:solidFill>
              <a:srgbClr val="42555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AAB9BD"/>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F5F3EA"/>
                </a:solidFill>
                <a:latin typeface="Arial"/>
              </a:defRPr>
            </a:pPr>
            <a:r>
              <a:t>05</a:t>
            </a:r>
          </a:p>
        </p:txBody>
      </p:sp>
      <p:sp>
        <p:nvSpPr>
          <p:cNvPr id="10" name="TextBox 9"/>
          <p:cNvSpPr txBox="1"/>
          <p:nvPr/>
        </p:nvSpPr>
        <p:spPr>
          <a:xfrm>
            <a:off x="647700" y="2346960"/>
            <a:ext cx="2286000" cy="301142"/>
          </a:xfrm>
          <a:prstGeom prst="rect">
            <a:avLst/>
          </a:prstGeom>
          <a:noFill/>
        </p:spPr>
        <p:txBody>
          <a:bodyPr wrap="none" lIns="0" rIns="0" tIns="0" bIns="0">
            <a:noAutofit/>
          </a:bodyPr>
          <a:lstStyle/>
          <a:p>
            <a:pPr algn="ctr">
              <a:lnSpc>
                <a:spcPct val="123000"/>
              </a:lnSpc>
              <a:spcBef>
                <a:spcPts val="0"/>
              </a:spcBef>
              <a:spcAft>
                <a:spcPts val="0"/>
              </a:spcAft>
              <a:defRPr sz="1439" b="1">
                <a:solidFill>
                  <a:srgbClr val="AAB9BD"/>
                </a:solidFill>
                <a:latin typeface="Arial"/>
              </a:defRPr>
            </a:pPr>
            <a:r>
              <a:t>EDITOR</a:t>
            </a:r>
          </a:p>
        </p:txBody>
      </p:sp>
      <p:sp>
        <p:nvSpPr>
          <p:cNvPr id="11" name="Rounded Rectangle 10"/>
          <p:cNvSpPr/>
          <p:nvPr/>
        </p:nvSpPr>
        <p:spPr>
          <a:xfrm>
            <a:off x="762000" y="2796540"/>
            <a:ext cx="2209800" cy="1706880"/>
          </a:xfrm>
          <a:prstGeom prst="roundRect">
            <a:avLst>
              <a:gd name="adj" fmla="val 9821"/>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2500" y="3086100"/>
            <a:ext cx="1981199" cy="301142"/>
          </a:xfrm>
          <a:prstGeom prst="rect">
            <a:avLst/>
          </a:prstGeom>
          <a:noFill/>
        </p:spPr>
        <p:txBody>
          <a:bodyPr wrap="none" lIns="0" rIns="0" tIns="0" bIns="0">
            <a:noAutofit/>
          </a:bodyPr>
          <a:lstStyle/>
          <a:p>
            <a:pPr algn="l">
              <a:lnSpc>
                <a:spcPct val="123000"/>
              </a:lnSpc>
              <a:spcBef>
                <a:spcPts val="0"/>
              </a:spcBef>
              <a:spcAft>
                <a:spcPts val="0"/>
              </a:spcAft>
              <a:defRPr sz="1439" b="1">
                <a:solidFill>
                  <a:srgbClr val="172C36"/>
                </a:solidFill>
                <a:latin typeface="Courier New"/>
              </a:defRPr>
            </a:pPr>
            <a:r>
              <a:t>headline.md</a:t>
            </a:r>
          </a:p>
        </p:txBody>
      </p:sp>
      <p:sp>
        <p:nvSpPr>
          <p:cNvPr id="13" name="TextBox 12"/>
          <p:cNvSpPr txBox="1"/>
          <p:nvPr/>
        </p:nvSpPr>
        <p:spPr>
          <a:xfrm>
            <a:off x="952500" y="3665220"/>
            <a:ext cx="1981199" cy="451104"/>
          </a:xfrm>
          <a:prstGeom prst="rect">
            <a:avLst/>
          </a:prstGeom>
          <a:noFill/>
        </p:spPr>
        <p:txBody>
          <a:bodyPr wrap="none" lIns="0" rIns="0" tIns="0" bIns="0">
            <a:noAutofit/>
          </a:bodyPr>
          <a:lstStyle/>
          <a:p>
            <a:pPr algn="l">
              <a:lnSpc>
                <a:spcPct val="123000"/>
              </a:lnSpc>
              <a:spcBef>
                <a:spcPts val="0"/>
              </a:spcBef>
              <a:spcAft>
                <a:spcPts val="0"/>
              </a:spcAft>
              <a:defRPr sz="2400" b="1">
                <a:solidFill>
                  <a:srgbClr val="172C36"/>
                </a:solidFill>
                <a:latin typeface="Arial"/>
              </a:defRPr>
            </a:pPr>
            <a:r>
              <a:t>Version 2</a:t>
            </a:r>
          </a:p>
        </p:txBody>
      </p:sp>
      <p:sp>
        <p:nvSpPr>
          <p:cNvPr id="14" name="TextBox 13"/>
          <p:cNvSpPr txBox="1"/>
          <p:nvPr/>
        </p:nvSpPr>
        <p:spPr>
          <a:xfrm>
            <a:off x="4762500" y="2346960"/>
            <a:ext cx="2286000" cy="301142"/>
          </a:xfrm>
          <a:prstGeom prst="rect">
            <a:avLst/>
          </a:prstGeom>
          <a:noFill/>
        </p:spPr>
        <p:txBody>
          <a:bodyPr wrap="none" lIns="0" rIns="0" tIns="0" bIns="0">
            <a:noAutofit/>
          </a:bodyPr>
          <a:lstStyle/>
          <a:p>
            <a:pPr algn="ctr">
              <a:lnSpc>
                <a:spcPct val="123000"/>
              </a:lnSpc>
              <a:spcBef>
                <a:spcPts val="0"/>
              </a:spcBef>
              <a:spcAft>
                <a:spcPts val="0"/>
              </a:spcAft>
              <a:defRPr sz="1439" b="1">
                <a:solidFill>
                  <a:srgbClr val="AAB9BD"/>
                </a:solidFill>
                <a:latin typeface="Arial"/>
              </a:defRPr>
            </a:pPr>
            <a:r>
              <a:t>STAGING</a:t>
            </a:r>
          </a:p>
        </p:txBody>
      </p:sp>
      <p:sp>
        <p:nvSpPr>
          <p:cNvPr id="15" name="Rounded Rectangle 14"/>
          <p:cNvSpPr/>
          <p:nvPr/>
        </p:nvSpPr>
        <p:spPr>
          <a:xfrm>
            <a:off x="4876800" y="2796540"/>
            <a:ext cx="2209800" cy="1706880"/>
          </a:xfrm>
          <a:prstGeom prst="roundRect">
            <a:avLst>
              <a:gd name="adj" fmla="val 9821"/>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67300" y="3086100"/>
            <a:ext cx="1981199" cy="301142"/>
          </a:xfrm>
          <a:prstGeom prst="rect">
            <a:avLst/>
          </a:prstGeom>
          <a:noFill/>
        </p:spPr>
        <p:txBody>
          <a:bodyPr wrap="none" lIns="0" rIns="0" tIns="0" bIns="0">
            <a:noAutofit/>
          </a:bodyPr>
          <a:lstStyle/>
          <a:p>
            <a:pPr algn="l">
              <a:lnSpc>
                <a:spcPct val="123000"/>
              </a:lnSpc>
              <a:spcBef>
                <a:spcPts val="0"/>
              </a:spcBef>
              <a:spcAft>
                <a:spcPts val="0"/>
              </a:spcAft>
              <a:defRPr sz="1439" b="1">
                <a:solidFill>
                  <a:srgbClr val="172C36"/>
                </a:solidFill>
                <a:latin typeface="Courier New"/>
              </a:defRPr>
            </a:pPr>
            <a:r>
              <a:t>headline.md</a:t>
            </a:r>
          </a:p>
        </p:txBody>
      </p:sp>
      <p:sp>
        <p:nvSpPr>
          <p:cNvPr id="17" name="TextBox 16"/>
          <p:cNvSpPr txBox="1"/>
          <p:nvPr/>
        </p:nvSpPr>
        <p:spPr>
          <a:xfrm>
            <a:off x="5067300" y="3665220"/>
            <a:ext cx="1981199" cy="451104"/>
          </a:xfrm>
          <a:prstGeom prst="rect">
            <a:avLst/>
          </a:prstGeom>
          <a:noFill/>
        </p:spPr>
        <p:txBody>
          <a:bodyPr wrap="none" lIns="0" rIns="0" tIns="0" bIns="0">
            <a:noAutofit/>
          </a:bodyPr>
          <a:lstStyle/>
          <a:p>
            <a:pPr algn="l">
              <a:lnSpc>
                <a:spcPct val="123000"/>
              </a:lnSpc>
              <a:spcBef>
                <a:spcPts val="0"/>
              </a:spcBef>
              <a:spcAft>
                <a:spcPts val="0"/>
              </a:spcAft>
              <a:defRPr sz="2400" b="1">
                <a:solidFill>
                  <a:srgbClr val="172C36"/>
                </a:solidFill>
                <a:latin typeface="Arial"/>
              </a:defRPr>
            </a:pPr>
            <a:r>
              <a:t>Version 1</a:t>
            </a:r>
          </a:p>
        </p:txBody>
      </p:sp>
      <p:sp>
        <p:nvSpPr>
          <p:cNvPr id="18" name="TextBox 17"/>
          <p:cNvSpPr txBox="1"/>
          <p:nvPr/>
        </p:nvSpPr>
        <p:spPr>
          <a:xfrm>
            <a:off x="8724900" y="2346960"/>
            <a:ext cx="2286000" cy="301142"/>
          </a:xfrm>
          <a:prstGeom prst="rect">
            <a:avLst/>
          </a:prstGeom>
          <a:noFill/>
        </p:spPr>
        <p:txBody>
          <a:bodyPr wrap="none" lIns="0" rIns="0" tIns="0" bIns="0">
            <a:noAutofit/>
          </a:bodyPr>
          <a:lstStyle/>
          <a:p>
            <a:pPr algn="ctr">
              <a:lnSpc>
                <a:spcPct val="123000"/>
              </a:lnSpc>
              <a:spcBef>
                <a:spcPts val="0"/>
              </a:spcBef>
              <a:spcAft>
                <a:spcPts val="0"/>
              </a:spcAft>
              <a:defRPr sz="1439" b="1">
                <a:solidFill>
                  <a:srgbClr val="AAB9BD"/>
                </a:solidFill>
                <a:latin typeface="Arial"/>
              </a:defRPr>
            </a:pPr>
            <a:r>
              <a:t>COMMIT</a:t>
            </a:r>
          </a:p>
        </p:txBody>
      </p:sp>
      <p:sp>
        <p:nvSpPr>
          <p:cNvPr id="19" name="Rounded Rectangle 18"/>
          <p:cNvSpPr/>
          <p:nvPr/>
        </p:nvSpPr>
        <p:spPr>
          <a:xfrm>
            <a:off x="8839200" y="2796540"/>
            <a:ext cx="2209800" cy="1706880"/>
          </a:xfrm>
          <a:prstGeom prst="roundRect">
            <a:avLst>
              <a:gd name="adj" fmla="val 9821"/>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29700" y="3086100"/>
            <a:ext cx="1981199" cy="301142"/>
          </a:xfrm>
          <a:prstGeom prst="rect">
            <a:avLst/>
          </a:prstGeom>
          <a:noFill/>
        </p:spPr>
        <p:txBody>
          <a:bodyPr wrap="none" lIns="0" rIns="0" tIns="0" bIns="0">
            <a:noAutofit/>
          </a:bodyPr>
          <a:lstStyle/>
          <a:p>
            <a:pPr algn="l">
              <a:lnSpc>
                <a:spcPct val="123000"/>
              </a:lnSpc>
              <a:spcBef>
                <a:spcPts val="0"/>
              </a:spcBef>
              <a:spcAft>
                <a:spcPts val="0"/>
              </a:spcAft>
              <a:defRPr sz="1439" b="1">
                <a:solidFill>
                  <a:srgbClr val="172C36"/>
                </a:solidFill>
                <a:latin typeface="Courier New"/>
              </a:defRPr>
            </a:pPr>
            <a:r>
              <a:t>headline.md</a:t>
            </a:r>
          </a:p>
        </p:txBody>
      </p:sp>
      <p:sp>
        <p:nvSpPr>
          <p:cNvPr id="21" name="TextBox 20"/>
          <p:cNvSpPr txBox="1"/>
          <p:nvPr/>
        </p:nvSpPr>
        <p:spPr>
          <a:xfrm>
            <a:off x="9029700" y="3665220"/>
            <a:ext cx="1981199" cy="451104"/>
          </a:xfrm>
          <a:prstGeom prst="rect">
            <a:avLst/>
          </a:prstGeom>
          <a:noFill/>
        </p:spPr>
        <p:txBody>
          <a:bodyPr wrap="none" lIns="0" rIns="0" tIns="0" bIns="0">
            <a:noAutofit/>
          </a:bodyPr>
          <a:lstStyle/>
          <a:p>
            <a:pPr algn="l">
              <a:lnSpc>
                <a:spcPct val="123000"/>
              </a:lnSpc>
              <a:spcBef>
                <a:spcPts val="0"/>
              </a:spcBef>
              <a:spcAft>
                <a:spcPts val="0"/>
              </a:spcAft>
              <a:defRPr sz="2400" b="1">
                <a:solidFill>
                  <a:srgbClr val="172C36"/>
                </a:solidFill>
                <a:latin typeface="Arial"/>
              </a:defRPr>
            </a:pPr>
            <a:r>
              <a:t>Version 1</a:t>
            </a:r>
          </a:p>
        </p:txBody>
      </p:sp>
      <p:cxnSp>
        <p:nvCxnSpPr>
          <p:cNvPr id="22" name="Connector 21"/>
          <p:cNvCxnSpPr/>
          <p:nvPr/>
        </p:nvCxnSpPr>
        <p:spPr>
          <a:xfrm>
            <a:off x="3093720" y="3710940"/>
            <a:ext cx="1623060" cy="0"/>
          </a:xfrm>
          <a:prstGeom prst="line">
            <a:avLst/>
          </a:prstGeom>
          <a:ln w="3048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609785" y="3710940"/>
            <a:ext cx="106995" cy="58451"/>
          </a:xfrm>
          <a:prstGeom prst="line">
            <a:avLst/>
          </a:prstGeom>
          <a:ln w="3048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4609785" y="3652488"/>
            <a:ext cx="106995" cy="58452"/>
          </a:xfrm>
          <a:prstGeom prst="line">
            <a:avLst/>
          </a:prstGeom>
          <a:ln w="30480">
            <a:solidFill>
              <a:srgbClr val="AAB9BD"/>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021330" y="4168140"/>
            <a:ext cx="1790700" cy="291769"/>
          </a:xfrm>
          <a:prstGeom prst="rect">
            <a:avLst/>
          </a:prstGeom>
          <a:noFill/>
        </p:spPr>
        <p:txBody>
          <a:bodyPr wrap="none" lIns="0" rIns="0" tIns="0" bIns="0">
            <a:noAutofit/>
          </a:bodyPr>
          <a:lstStyle/>
          <a:p>
            <a:pPr algn="ctr">
              <a:lnSpc>
                <a:spcPct val="123000"/>
              </a:lnSpc>
              <a:spcBef>
                <a:spcPts val="0"/>
              </a:spcBef>
              <a:spcAft>
                <a:spcPts val="0"/>
              </a:spcAft>
              <a:defRPr sz="1380" b="0">
                <a:solidFill>
                  <a:srgbClr val="AAB9BD"/>
                </a:solidFill>
                <a:latin typeface="Courier New"/>
              </a:defRPr>
            </a:pPr>
            <a:r>
              <a:t>vorher: git add</a:t>
            </a:r>
          </a:p>
        </p:txBody>
      </p:sp>
      <p:cxnSp>
        <p:nvCxnSpPr>
          <p:cNvPr id="26" name="Connector 25"/>
          <p:cNvCxnSpPr/>
          <p:nvPr/>
        </p:nvCxnSpPr>
        <p:spPr>
          <a:xfrm>
            <a:off x="7246620" y="3710940"/>
            <a:ext cx="1424940" cy="0"/>
          </a:xfrm>
          <a:prstGeom prst="line">
            <a:avLst/>
          </a:prstGeom>
          <a:ln w="38100">
            <a:solidFill>
              <a:srgbClr val="DAF97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564565" y="3710940"/>
            <a:ext cx="106995" cy="58451"/>
          </a:xfrm>
          <a:prstGeom prst="line">
            <a:avLst/>
          </a:prstGeom>
          <a:ln w="38100">
            <a:solidFill>
              <a:srgbClr val="DAF97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8564565" y="3652488"/>
            <a:ext cx="106995" cy="58452"/>
          </a:xfrm>
          <a:prstGeom prst="line">
            <a:avLst/>
          </a:prstGeom>
          <a:ln w="38100">
            <a:solidFill>
              <a:srgbClr val="DAF97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178040" y="4168140"/>
            <a:ext cx="1600200" cy="301142"/>
          </a:xfrm>
          <a:prstGeom prst="rect">
            <a:avLst/>
          </a:prstGeom>
          <a:noFill/>
        </p:spPr>
        <p:txBody>
          <a:bodyPr wrap="none" lIns="0" rIns="0" tIns="0" bIns="0">
            <a:noAutofit/>
          </a:bodyPr>
          <a:lstStyle/>
          <a:p>
            <a:pPr algn="ctr">
              <a:lnSpc>
                <a:spcPct val="123000"/>
              </a:lnSpc>
              <a:spcBef>
                <a:spcPts val="0"/>
              </a:spcBef>
              <a:spcAft>
                <a:spcPts val="0"/>
              </a:spcAft>
              <a:defRPr sz="1439" b="0">
                <a:solidFill>
                  <a:srgbClr val="DAF975"/>
                </a:solidFill>
                <a:latin typeface="Courier New"/>
              </a:defRPr>
            </a:pPr>
            <a:r>
              <a:t>git commit</a:t>
            </a:r>
          </a:p>
        </p:txBody>
      </p:sp>
      <p:sp>
        <p:nvSpPr>
          <p:cNvPr id="30" name="Rounded Rectangle 29"/>
          <p:cNvSpPr/>
          <p:nvPr/>
        </p:nvSpPr>
        <p:spPr>
          <a:xfrm>
            <a:off x="548640" y="5684520"/>
            <a:ext cx="11094720" cy="472440"/>
          </a:xfrm>
          <a:prstGeom prst="roundRect">
            <a:avLst>
              <a:gd name="adj" fmla="val 22580"/>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F5F3EA"/>
                </a:solidFill>
                <a:latin typeface="Arial"/>
              </a:defRPr>
            </a:pPr>
            <a:r>
              <a:t>Nochmals git add ausführen, wenn Version 2 ebenfalls in den Commit soll.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172C36"/>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576B70"/>
                </a:solidFill>
                <a:latin typeface="Arial"/>
              </a:defRPr>
            </a:pPr>
            <a:r>
              <a:t>PRINZIP 04 / COMMIT</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172C36"/>
                </a:solidFill>
                <a:latin typeface="Arial"/>
              </a:defRPr>
            </a:pPr>
            <a:r>
              <a:t>Ein Commit hält einen Stand fest.</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576B70"/>
                </a:solidFill>
                <a:latin typeface="Arial"/>
              </a:defRPr>
            </a:pPr>
            <a:r>
              <a:t>Der Diff zeigt die Änderung. Der Commit verweist auf den Projektstand.</a:t>
            </a:r>
          </a:p>
        </p:txBody>
      </p:sp>
      <p:cxnSp>
        <p:nvCxnSpPr>
          <p:cNvPr id="7" name="Connector 6"/>
          <p:cNvCxnSpPr/>
          <p:nvPr/>
        </p:nvCxnSpPr>
        <p:spPr>
          <a:xfrm>
            <a:off x="548640" y="6362700"/>
            <a:ext cx="11094720" cy="0"/>
          </a:xfrm>
          <a:prstGeom prst="line">
            <a:avLst/>
          </a:prstGeom>
          <a:ln w="11429">
            <a:solidFill>
              <a:srgbClr val="D2D9D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576B70"/>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172C36"/>
                </a:solidFill>
                <a:latin typeface="Arial"/>
              </a:defRPr>
            </a:pPr>
            <a:r>
              <a:t>06</a:t>
            </a:r>
          </a:p>
        </p:txBody>
      </p:sp>
      <p:sp>
        <p:nvSpPr>
          <p:cNvPr id="10" name="Rounded Rectangle 9"/>
          <p:cNvSpPr/>
          <p:nvPr/>
        </p:nvSpPr>
        <p:spPr>
          <a:xfrm>
            <a:off x="716280" y="2179320"/>
            <a:ext cx="4892040" cy="3253740"/>
          </a:xfrm>
          <a:prstGeom prst="roundRect">
            <a:avLst>
              <a:gd name="adj" fmla="val 562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7259" y="2385060"/>
            <a:ext cx="1600200"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3460" y="2453640"/>
            <a:ext cx="14478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COMMIT C</a:t>
            </a:r>
          </a:p>
        </p:txBody>
      </p:sp>
      <p:sp>
        <p:nvSpPr>
          <p:cNvPr id="13" name="Rounded Rectangle 12"/>
          <p:cNvSpPr/>
          <p:nvPr/>
        </p:nvSpPr>
        <p:spPr>
          <a:xfrm>
            <a:off x="937259" y="3032760"/>
            <a:ext cx="4419600" cy="502920"/>
          </a:xfrm>
          <a:prstGeom prst="roundRect">
            <a:avLst>
              <a:gd name="adj" fmla="val 15151"/>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20140" y="3154680"/>
            <a:ext cx="2286000" cy="329260"/>
          </a:xfrm>
          <a:prstGeom prst="rect">
            <a:avLst/>
          </a:prstGeom>
          <a:noFill/>
        </p:spPr>
        <p:txBody>
          <a:bodyPr wrap="none" lIns="0" rIns="0" tIns="0" bIns="0">
            <a:noAutofit/>
          </a:bodyPr>
          <a:lstStyle/>
          <a:p>
            <a:pPr algn="l">
              <a:lnSpc>
                <a:spcPct val="123000"/>
              </a:lnSpc>
              <a:spcBef>
                <a:spcPts val="0"/>
              </a:spcBef>
              <a:spcAft>
                <a:spcPts val="0"/>
              </a:spcAft>
              <a:defRPr sz="1620" b="1">
                <a:solidFill>
                  <a:srgbClr val="172C36"/>
                </a:solidFill>
                <a:latin typeface="Courier New"/>
              </a:defRPr>
            </a:pPr>
            <a:r>
              <a:t>index.md</a:t>
            </a:r>
          </a:p>
        </p:txBody>
      </p:sp>
      <p:sp>
        <p:nvSpPr>
          <p:cNvPr id="15" name="TextBox 14"/>
          <p:cNvSpPr txBox="1"/>
          <p:nvPr/>
        </p:nvSpPr>
        <p:spPr>
          <a:xfrm>
            <a:off x="3482340" y="3162300"/>
            <a:ext cx="1676400" cy="291769"/>
          </a:xfrm>
          <a:prstGeom prst="rect">
            <a:avLst/>
          </a:prstGeom>
          <a:noFill/>
        </p:spPr>
        <p:txBody>
          <a:bodyPr wrap="none" lIns="0" rIns="0" tIns="0" bIns="0">
            <a:noAutofit/>
          </a:bodyPr>
          <a:lstStyle/>
          <a:p>
            <a:pPr algn="r">
              <a:lnSpc>
                <a:spcPct val="123000"/>
              </a:lnSpc>
              <a:spcBef>
                <a:spcPts val="0"/>
              </a:spcBef>
              <a:spcAft>
                <a:spcPts val="0"/>
              </a:spcAft>
              <a:defRPr sz="1380" b="0">
                <a:solidFill>
                  <a:srgbClr val="172C36"/>
                </a:solidFill>
                <a:latin typeface="Arial"/>
              </a:defRPr>
            </a:pPr>
            <a:r>
              <a:t>unverändert</a:t>
            </a:r>
          </a:p>
        </p:txBody>
      </p:sp>
      <p:sp>
        <p:nvSpPr>
          <p:cNvPr id="16" name="Rounded Rectangle 15"/>
          <p:cNvSpPr/>
          <p:nvPr/>
        </p:nvSpPr>
        <p:spPr>
          <a:xfrm>
            <a:off x="937259" y="3688080"/>
            <a:ext cx="4419600" cy="502920"/>
          </a:xfrm>
          <a:prstGeom prst="roundRect">
            <a:avLst>
              <a:gd name="adj" fmla="val 15151"/>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20140" y="3810000"/>
            <a:ext cx="2286000" cy="329260"/>
          </a:xfrm>
          <a:prstGeom prst="rect">
            <a:avLst/>
          </a:prstGeom>
          <a:noFill/>
        </p:spPr>
        <p:txBody>
          <a:bodyPr wrap="none" lIns="0" rIns="0" tIns="0" bIns="0">
            <a:noAutofit/>
          </a:bodyPr>
          <a:lstStyle/>
          <a:p>
            <a:pPr algn="l">
              <a:lnSpc>
                <a:spcPct val="123000"/>
              </a:lnSpc>
              <a:spcBef>
                <a:spcPts val="0"/>
              </a:spcBef>
              <a:spcAft>
                <a:spcPts val="0"/>
              </a:spcAft>
              <a:defRPr sz="1620" b="1">
                <a:solidFill>
                  <a:srgbClr val="172C36"/>
                </a:solidFill>
                <a:latin typeface="Courier New"/>
              </a:defRPr>
            </a:pPr>
            <a:r>
              <a:t>program.md</a:t>
            </a:r>
          </a:p>
        </p:txBody>
      </p:sp>
      <p:sp>
        <p:nvSpPr>
          <p:cNvPr id="18" name="TextBox 17"/>
          <p:cNvSpPr txBox="1"/>
          <p:nvPr/>
        </p:nvSpPr>
        <p:spPr>
          <a:xfrm>
            <a:off x="3482340" y="3817620"/>
            <a:ext cx="1676400" cy="291769"/>
          </a:xfrm>
          <a:prstGeom prst="rect">
            <a:avLst/>
          </a:prstGeom>
          <a:noFill/>
        </p:spPr>
        <p:txBody>
          <a:bodyPr wrap="none" lIns="0" rIns="0" tIns="0" bIns="0">
            <a:noAutofit/>
          </a:bodyPr>
          <a:lstStyle/>
          <a:p>
            <a:pPr algn="r">
              <a:lnSpc>
                <a:spcPct val="123000"/>
              </a:lnSpc>
              <a:spcBef>
                <a:spcPts val="0"/>
              </a:spcBef>
              <a:spcAft>
                <a:spcPts val="0"/>
              </a:spcAft>
              <a:defRPr sz="1380" b="0">
                <a:solidFill>
                  <a:srgbClr val="172C36"/>
                </a:solidFill>
                <a:latin typeface="Arial"/>
              </a:defRPr>
            </a:pPr>
            <a:r>
              <a:t>geändert</a:t>
            </a:r>
          </a:p>
        </p:txBody>
      </p:sp>
      <p:sp>
        <p:nvSpPr>
          <p:cNvPr id="19" name="Rounded Rectangle 18"/>
          <p:cNvSpPr/>
          <p:nvPr/>
        </p:nvSpPr>
        <p:spPr>
          <a:xfrm>
            <a:off x="937259" y="4343400"/>
            <a:ext cx="4419600" cy="502920"/>
          </a:xfrm>
          <a:prstGeom prst="roundRect">
            <a:avLst>
              <a:gd name="adj" fmla="val 15151"/>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20140" y="4465320"/>
            <a:ext cx="2286000" cy="329260"/>
          </a:xfrm>
          <a:prstGeom prst="rect">
            <a:avLst/>
          </a:prstGeom>
          <a:noFill/>
        </p:spPr>
        <p:txBody>
          <a:bodyPr wrap="none" lIns="0" rIns="0" tIns="0" bIns="0">
            <a:noAutofit/>
          </a:bodyPr>
          <a:lstStyle/>
          <a:p>
            <a:pPr algn="l">
              <a:lnSpc>
                <a:spcPct val="123000"/>
              </a:lnSpc>
              <a:spcBef>
                <a:spcPts val="0"/>
              </a:spcBef>
              <a:spcAft>
                <a:spcPts val="0"/>
              </a:spcAft>
              <a:defRPr sz="1620" b="1">
                <a:solidFill>
                  <a:srgbClr val="172C36"/>
                </a:solidFill>
                <a:latin typeface="Courier New"/>
              </a:defRPr>
            </a:pPr>
            <a:r>
              <a:t>snacks.md</a:t>
            </a:r>
          </a:p>
        </p:txBody>
      </p:sp>
      <p:sp>
        <p:nvSpPr>
          <p:cNvPr id="21" name="TextBox 20"/>
          <p:cNvSpPr txBox="1"/>
          <p:nvPr/>
        </p:nvSpPr>
        <p:spPr>
          <a:xfrm>
            <a:off x="3482340" y="4472940"/>
            <a:ext cx="1676400" cy="291769"/>
          </a:xfrm>
          <a:prstGeom prst="rect">
            <a:avLst/>
          </a:prstGeom>
          <a:noFill/>
        </p:spPr>
        <p:txBody>
          <a:bodyPr wrap="none" lIns="0" rIns="0" tIns="0" bIns="0">
            <a:noAutofit/>
          </a:bodyPr>
          <a:lstStyle/>
          <a:p>
            <a:pPr algn="r">
              <a:lnSpc>
                <a:spcPct val="123000"/>
              </a:lnSpc>
              <a:spcBef>
                <a:spcPts val="0"/>
              </a:spcBef>
              <a:spcAft>
                <a:spcPts val="0"/>
              </a:spcAft>
              <a:defRPr sz="1380" b="0">
                <a:solidFill>
                  <a:srgbClr val="172C36"/>
                </a:solidFill>
                <a:latin typeface="Arial"/>
              </a:defRPr>
            </a:pPr>
            <a:r>
              <a:t>unverändert</a:t>
            </a:r>
          </a:p>
        </p:txBody>
      </p:sp>
      <p:cxnSp>
        <p:nvCxnSpPr>
          <p:cNvPr id="22" name="Connector 21"/>
          <p:cNvCxnSpPr/>
          <p:nvPr/>
        </p:nvCxnSpPr>
        <p:spPr>
          <a:xfrm>
            <a:off x="5943600" y="3764279"/>
            <a:ext cx="883920" cy="0"/>
          </a:xfrm>
          <a:prstGeom prst="line">
            <a:avLst/>
          </a:prstGeom>
          <a:ln w="38100">
            <a:solidFill>
              <a:srgbClr val="172C36"/>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6553200" y="3497580"/>
            <a:ext cx="533400" cy="53340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53200" y="3591306"/>
            <a:ext cx="533400" cy="427203"/>
          </a:xfrm>
          <a:prstGeom prst="rect">
            <a:avLst/>
          </a:prstGeom>
          <a:noFill/>
        </p:spPr>
        <p:txBody>
          <a:bodyPr wrap="none" lIns="0" rIns="0" tIns="0" bIns="0">
            <a:noAutofit/>
          </a:bodyPr>
          <a:lstStyle/>
          <a:p>
            <a:pPr algn="ctr">
              <a:lnSpc>
                <a:spcPct val="123000"/>
              </a:lnSpc>
              <a:spcBef>
                <a:spcPts val="0"/>
              </a:spcBef>
              <a:spcAft>
                <a:spcPts val="0"/>
              </a:spcAft>
              <a:defRPr sz="2247" b="1">
                <a:solidFill>
                  <a:srgbClr val="172C36"/>
                </a:solidFill>
                <a:latin typeface="Courier New"/>
              </a:defRPr>
            </a:pPr>
            <a:r>
              <a:t>C</a:t>
            </a:r>
          </a:p>
        </p:txBody>
      </p:sp>
      <p:sp>
        <p:nvSpPr>
          <p:cNvPr id="25" name="TextBox 24"/>
          <p:cNvSpPr txBox="1"/>
          <p:nvPr/>
        </p:nvSpPr>
        <p:spPr>
          <a:xfrm>
            <a:off x="7505700" y="2446020"/>
            <a:ext cx="1371600" cy="291769"/>
          </a:xfrm>
          <a:prstGeom prst="rect">
            <a:avLst/>
          </a:prstGeom>
          <a:noFill/>
        </p:spPr>
        <p:txBody>
          <a:bodyPr wrap="none" lIns="0" rIns="0" tIns="0" bIns="0">
            <a:noAutofit/>
          </a:bodyPr>
          <a:lstStyle/>
          <a:p>
            <a:pPr algn="l">
              <a:lnSpc>
                <a:spcPct val="123000"/>
              </a:lnSpc>
              <a:spcBef>
                <a:spcPts val="0"/>
              </a:spcBef>
              <a:spcAft>
                <a:spcPts val="0"/>
              </a:spcAft>
              <a:defRPr sz="1380" b="1">
                <a:solidFill>
                  <a:srgbClr val="172C36"/>
                </a:solidFill>
                <a:latin typeface="Arial"/>
              </a:defRPr>
            </a:pPr>
            <a:r>
              <a:t>ID</a:t>
            </a:r>
          </a:p>
        </p:txBody>
      </p:sp>
      <p:sp>
        <p:nvSpPr>
          <p:cNvPr id="26" name="TextBox 25"/>
          <p:cNvSpPr txBox="1"/>
          <p:nvPr/>
        </p:nvSpPr>
        <p:spPr>
          <a:xfrm>
            <a:off x="7505700" y="2705100"/>
            <a:ext cx="3048000" cy="394868"/>
          </a:xfrm>
          <a:prstGeom prst="rect">
            <a:avLst/>
          </a:prstGeom>
          <a:noFill/>
        </p:spPr>
        <p:txBody>
          <a:bodyPr wrap="none" lIns="0" rIns="0" tIns="0" bIns="0">
            <a:noAutofit/>
          </a:bodyPr>
          <a:lstStyle/>
          <a:p>
            <a:pPr algn="l">
              <a:lnSpc>
                <a:spcPct val="123000"/>
              </a:lnSpc>
              <a:spcBef>
                <a:spcPts val="0"/>
              </a:spcBef>
              <a:spcAft>
                <a:spcPts val="0"/>
              </a:spcAft>
              <a:defRPr sz="2039" b="1">
                <a:solidFill>
                  <a:srgbClr val="172C36"/>
                </a:solidFill>
                <a:latin typeface="Courier New"/>
              </a:defRPr>
            </a:pPr>
            <a:r>
              <a:t>a1b2c3d</a:t>
            </a:r>
          </a:p>
        </p:txBody>
      </p:sp>
      <p:sp>
        <p:nvSpPr>
          <p:cNvPr id="27" name="TextBox 26"/>
          <p:cNvSpPr txBox="1"/>
          <p:nvPr/>
        </p:nvSpPr>
        <p:spPr>
          <a:xfrm>
            <a:off x="7505700" y="3307080"/>
            <a:ext cx="2667000" cy="291769"/>
          </a:xfrm>
          <a:prstGeom prst="rect">
            <a:avLst/>
          </a:prstGeom>
          <a:noFill/>
        </p:spPr>
        <p:txBody>
          <a:bodyPr wrap="none" lIns="0" rIns="0" tIns="0" bIns="0">
            <a:noAutofit/>
          </a:bodyPr>
          <a:lstStyle/>
          <a:p>
            <a:pPr algn="l">
              <a:lnSpc>
                <a:spcPct val="123000"/>
              </a:lnSpc>
              <a:spcBef>
                <a:spcPts val="0"/>
              </a:spcBef>
              <a:spcAft>
                <a:spcPts val="0"/>
              </a:spcAft>
              <a:defRPr sz="1380" b="1">
                <a:solidFill>
                  <a:srgbClr val="172C36"/>
                </a:solidFill>
                <a:latin typeface="Arial"/>
              </a:defRPr>
            </a:pPr>
            <a:r>
              <a:t>ELTERNCOMMIT</a:t>
            </a:r>
          </a:p>
        </p:txBody>
      </p:sp>
      <p:sp>
        <p:nvSpPr>
          <p:cNvPr id="28" name="TextBox 27"/>
          <p:cNvSpPr txBox="1"/>
          <p:nvPr/>
        </p:nvSpPr>
        <p:spPr>
          <a:xfrm>
            <a:off x="7505700" y="3573780"/>
            <a:ext cx="2286000" cy="413613"/>
          </a:xfrm>
          <a:prstGeom prst="rect">
            <a:avLst/>
          </a:prstGeom>
          <a:noFill/>
        </p:spPr>
        <p:txBody>
          <a:bodyPr wrap="none" lIns="0" rIns="0" tIns="0" bIns="0">
            <a:noAutofit/>
          </a:bodyPr>
          <a:lstStyle/>
          <a:p>
            <a:pPr algn="l">
              <a:lnSpc>
                <a:spcPct val="123000"/>
              </a:lnSpc>
              <a:spcBef>
                <a:spcPts val="0"/>
              </a:spcBef>
              <a:spcAft>
                <a:spcPts val="0"/>
              </a:spcAft>
              <a:defRPr sz="2160" b="1">
                <a:solidFill>
                  <a:srgbClr val="172C36"/>
                </a:solidFill>
                <a:latin typeface="Courier New"/>
              </a:defRPr>
            </a:pPr>
            <a:r>
              <a:t>B</a:t>
            </a:r>
          </a:p>
        </p:txBody>
      </p:sp>
      <p:sp>
        <p:nvSpPr>
          <p:cNvPr id="29" name="TextBox 28"/>
          <p:cNvSpPr txBox="1"/>
          <p:nvPr/>
        </p:nvSpPr>
        <p:spPr>
          <a:xfrm>
            <a:off x="7505700" y="4175760"/>
            <a:ext cx="2667000" cy="291769"/>
          </a:xfrm>
          <a:prstGeom prst="rect">
            <a:avLst/>
          </a:prstGeom>
          <a:noFill/>
        </p:spPr>
        <p:txBody>
          <a:bodyPr wrap="none" lIns="0" rIns="0" tIns="0" bIns="0">
            <a:noAutofit/>
          </a:bodyPr>
          <a:lstStyle/>
          <a:p>
            <a:pPr algn="l">
              <a:lnSpc>
                <a:spcPct val="123000"/>
              </a:lnSpc>
              <a:spcBef>
                <a:spcPts val="0"/>
              </a:spcBef>
              <a:spcAft>
                <a:spcPts val="0"/>
              </a:spcAft>
              <a:defRPr sz="1380" b="1">
                <a:solidFill>
                  <a:srgbClr val="172C36"/>
                </a:solidFill>
                <a:latin typeface="Arial"/>
              </a:defRPr>
            </a:pPr>
            <a:r>
              <a:t>NACHRICHT</a:t>
            </a:r>
          </a:p>
        </p:txBody>
      </p:sp>
      <p:sp>
        <p:nvSpPr>
          <p:cNvPr id="30" name="TextBox 29"/>
          <p:cNvSpPr txBox="1"/>
          <p:nvPr/>
        </p:nvSpPr>
        <p:spPr>
          <a:xfrm>
            <a:off x="7505700" y="4434840"/>
            <a:ext cx="4267200" cy="329260"/>
          </a:xfrm>
          <a:prstGeom prst="rect">
            <a:avLst/>
          </a:prstGeom>
          <a:noFill/>
        </p:spPr>
        <p:txBody>
          <a:bodyPr wrap="none" lIns="0" rIns="0" tIns="0" bIns="0">
            <a:noAutofit/>
          </a:bodyPr>
          <a:lstStyle/>
          <a:p>
            <a:pPr algn="l">
              <a:lnSpc>
                <a:spcPct val="123000"/>
              </a:lnSpc>
              <a:spcBef>
                <a:spcPts val="0"/>
              </a:spcBef>
              <a:spcAft>
                <a:spcPts val="0"/>
              </a:spcAft>
              <a:defRPr sz="1620" b="1">
                <a:solidFill>
                  <a:srgbClr val="172C36"/>
                </a:solidFill>
                <a:latin typeface="Courier New"/>
              </a:defRPr>
            </a:pPr>
            <a:r>
              <a:t>docs: clarify lunch venue</a:t>
            </a:r>
          </a:p>
        </p:txBody>
      </p:sp>
      <p:sp>
        <p:nvSpPr>
          <p:cNvPr id="31" name="Rounded Rectangle 30"/>
          <p:cNvSpPr/>
          <p:nvPr/>
        </p:nvSpPr>
        <p:spPr>
          <a:xfrm>
            <a:off x="548640" y="5684520"/>
            <a:ext cx="11094720" cy="472440"/>
          </a:xfrm>
          <a:prstGeom prst="roundRect">
            <a:avLst>
              <a:gd name="adj" fmla="val 22580"/>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172C36"/>
                </a:solidFill>
                <a:latin typeface="Arial"/>
              </a:defRPr>
            </a:pPr>
            <a:r>
              <a:t>Ein guter Commit ist ein verständlicher Schritt mit einer hilfreichen Nachricht.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DAF975"/>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AAB9BD"/>
                </a:solidFill>
                <a:latin typeface="Arial"/>
              </a:defRPr>
            </a:pPr>
            <a:r>
              <a:t>PRINZIP 05 / BRANCH &amp; HEAD</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F5F3EA"/>
                </a:solidFill>
                <a:latin typeface="Arial"/>
              </a:defRPr>
            </a:pPr>
            <a:r>
              <a:t>Ein Branch ist ein Namensschild.</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AAB9BD"/>
                </a:solidFill>
                <a:latin typeface="Arial"/>
              </a:defRPr>
            </a:pPr>
            <a:r>
              <a:t>Zwei Branch-Namen können auf denselben Commit zeigen.</a:t>
            </a:r>
          </a:p>
        </p:txBody>
      </p:sp>
      <p:cxnSp>
        <p:nvCxnSpPr>
          <p:cNvPr id="7" name="Connector 6"/>
          <p:cNvCxnSpPr/>
          <p:nvPr/>
        </p:nvCxnSpPr>
        <p:spPr>
          <a:xfrm>
            <a:off x="548640" y="6362700"/>
            <a:ext cx="11094720" cy="0"/>
          </a:xfrm>
          <a:prstGeom prst="line">
            <a:avLst/>
          </a:prstGeom>
          <a:ln w="11429">
            <a:solidFill>
              <a:srgbClr val="42555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AAB9BD"/>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F5F3EA"/>
                </a:solidFill>
                <a:latin typeface="Arial"/>
              </a:defRPr>
            </a:pPr>
            <a:r>
              <a:t>07</a:t>
            </a:r>
          </a:p>
        </p:txBody>
      </p:sp>
      <p:cxnSp>
        <p:nvCxnSpPr>
          <p:cNvPr id="10" name="Connector 9"/>
          <p:cNvCxnSpPr/>
          <p:nvPr/>
        </p:nvCxnSpPr>
        <p:spPr>
          <a:xfrm>
            <a:off x="1981199" y="3787140"/>
            <a:ext cx="3810001" cy="0"/>
          </a:xfrm>
          <a:prstGeom prst="line">
            <a:avLst/>
          </a:prstGeom>
          <a:ln w="60960">
            <a:solidFill>
              <a:srgbClr val="AAB9BD"/>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661160" y="3467100"/>
            <a:ext cx="640080" cy="640080"/>
          </a:xfrm>
          <a:prstGeom prst="ellipse">
            <a:avLst/>
          </a:prstGeom>
          <a:solidFill>
            <a:srgbClr val="AAB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61160" y="3581095"/>
            <a:ext cx="640080" cy="497404"/>
          </a:xfrm>
          <a:prstGeom prst="rect">
            <a:avLst/>
          </a:prstGeom>
          <a:noFill/>
        </p:spPr>
        <p:txBody>
          <a:bodyPr wrap="none" lIns="0" rIns="0" tIns="0" bIns="0">
            <a:noAutofit/>
          </a:bodyPr>
          <a:lstStyle/>
          <a:p>
            <a:pPr algn="ctr">
              <a:lnSpc>
                <a:spcPct val="123000"/>
              </a:lnSpc>
              <a:spcBef>
                <a:spcPts val="0"/>
              </a:spcBef>
              <a:spcAft>
                <a:spcPts val="0"/>
              </a:spcAft>
              <a:defRPr sz="2696" b="1">
                <a:solidFill>
                  <a:srgbClr val="172C36"/>
                </a:solidFill>
                <a:latin typeface="Courier New"/>
              </a:defRPr>
            </a:pPr>
            <a:r>
              <a:t>A</a:t>
            </a:r>
          </a:p>
        </p:txBody>
      </p:sp>
      <p:sp>
        <p:nvSpPr>
          <p:cNvPr id="13" name="Oval 12"/>
          <p:cNvSpPr/>
          <p:nvPr/>
        </p:nvSpPr>
        <p:spPr>
          <a:xfrm>
            <a:off x="5417820" y="3413760"/>
            <a:ext cx="746760" cy="74676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17820" y="3548024"/>
            <a:ext cx="746760" cy="567605"/>
          </a:xfrm>
          <a:prstGeom prst="rect">
            <a:avLst/>
          </a:prstGeom>
          <a:noFill/>
        </p:spPr>
        <p:txBody>
          <a:bodyPr wrap="none" lIns="0" rIns="0" tIns="0" bIns="0">
            <a:noAutofit/>
          </a:bodyPr>
          <a:lstStyle/>
          <a:p>
            <a:pPr algn="ctr">
              <a:lnSpc>
                <a:spcPct val="123000"/>
              </a:lnSpc>
              <a:spcBef>
                <a:spcPts val="0"/>
              </a:spcBef>
              <a:spcAft>
                <a:spcPts val="0"/>
              </a:spcAft>
              <a:defRPr sz="3145" b="1">
                <a:solidFill>
                  <a:srgbClr val="172C36"/>
                </a:solidFill>
                <a:latin typeface="Courier New"/>
              </a:defRPr>
            </a:pPr>
            <a:r>
              <a:t>B</a:t>
            </a:r>
          </a:p>
        </p:txBody>
      </p:sp>
      <p:sp>
        <p:nvSpPr>
          <p:cNvPr id="15" name="Rounded Rectangle 14"/>
          <p:cNvSpPr/>
          <p:nvPr/>
        </p:nvSpPr>
        <p:spPr>
          <a:xfrm>
            <a:off x="5143500" y="2659380"/>
            <a:ext cx="1295400"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9700" y="2727960"/>
            <a:ext cx="11430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main</a:t>
            </a:r>
          </a:p>
        </p:txBody>
      </p:sp>
      <p:cxnSp>
        <p:nvCxnSpPr>
          <p:cNvPr id="17" name="Connector 16"/>
          <p:cNvCxnSpPr/>
          <p:nvPr/>
        </p:nvCxnSpPr>
        <p:spPr>
          <a:xfrm>
            <a:off x="5791200" y="3025140"/>
            <a:ext cx="0" cy="190500"/>
          </a:xfrm>
          <a:prstGeom prst="line">
            <a:avLst/>
          </a:prstGeom>
          <a:ln w="22859">
            <a:solidFill>
              <a:srgbClr val="DAF97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791200" y="3215640"/>
            <a:ext cx="0" cy="198120"/>
          </a:xfrm>
          <a:prstGeom prst="line">
            <a:avLst/>
          </a:prstGeom>
          <a:ln w="30480">
            <a:solidFill>
              <a:srgbClr val="DAF975"/>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922520" y="4579620"/>
            <a:ext cx="173736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98720" y="4648200"/>
            <a:ext cx="158496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feature</a:t>
            </a:r>
          </a:p>
        </p:txBody>
      </p:sp>
      <p:cxnSp>
        <p:nvCxnSpPr>
          <p:cNvPr id="21" name="Connector 20"/>
          <p:cNvCxnSpPr/>
          <p:nvPr/>
        </p:nvCxnSpPr>
        <p:spPr>
          <a:xfrm flipV="1">
            <a:off x="5791200" y="4175760"/>
            <a:ext cx="0" cy="396240"/>
          </a:xfrm>
          <a:prstGeom prst="line">
            <a:avLst/>
          </a:prstGeom>
          <a:ln w="30480">
            <a:solidFill>
              <a:srgbClr val="65D9EC"/>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381999" y="4579620"/>
            <a:ext cx="1181100" cy="365760"/>
          </a:xfrm>
          <a:prstGeom prst="roundRect">
            <a:avLst>
              <a:gd name="adj" fmla="val 50000"/>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58200" y="4648200"/>
            <a:ext cx="10287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HEAD</a:t>
            </a:r>
          </a:p>
        </p:txBody>
      </p:sp>
      <p:cxnSp>
        <p:nvCxnSpPr>
          <p:cNvPr id="24" name="Connector 23"/>
          <p:cNvCxnSpPr/>
          <p:nvPr/>
        </p:nvCxnSpPr>
        <p:spPr>
          <a:xfrm flipH="1">
            <a:off x="6781800" y="4762500"/>
            <a:ext cx="1447800" cy="0"/>
          </a:xfrm>
          <a:prstGeom prst="line">
            <a:avLst/>
          </a:prstGeom>
          <a:ln w="38100">
            <a:solidFill>
              <a:srgbClr val="C5B5F2"/>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6781800" y="4704048"/>
            <a:ext cx="106994" cy="58452"/>
          </a:xfrm>
          <a:prstGeom prst="line">
            <a:avLst/>
          </a:prstGeom>
          <a:ln w="38100">
            <a:solidFill>
              <a:srgbClr val="C5B5F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781800" y="4762500"/>
            <a:ext cx="106994" cy="58451"/>
          </a:xfrm>
          <a:prstGeom prst="line">
            <a:avLst/>
          </a:prstGeom>
          <a:ln w="38100">
            <a:solidFill>
              <a:srgbClr val="C5B5F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115300" y="3208020"/>
            <a:ext cx="2819400" cy="732282"/>
          </a:xfrm>
          <a:prstGeom prst="rect">
            <a:avLst/>
          </a:prstGeom>
          <a:noFill/>
        </p:spPr>
        <p:txBody>
          <a:bodyPr wrap="none" lIns="0" rIns="0" tIns="0" bIns="0">
            <a:noAutofit/>
          </a:bodyPr>
          <a:lstStyle/>
          <a:p>
            <a:pPr algn="l">
              <a:lnSpc>
                <a:spcPct val="123000"/>
              </a:lnSpc>
              <a:spcBef>
                <a:spcPts val="0"/>
              </a:spcBef>
              <a:spcAft>
                <a:spcPts val="0"/>
              </a:spcAft>
              <a:defRPr sz="2100" b="1">
                <a:solidFill>
                  <a:srgbClr val="F5F3EA"/>
                </a:solidFill>
                <a:latin typeface="Arial"/>
              </a:defRPr>
            </a:pPr>
            <a:r>
              <a:t>Du arbeitest</a:t>
            </a:r>
          </a:p>
          <a:p>
            <a:pPr algn="l">
              <a:lnSpc>
                <a:spcPct val="123000"/>
              </a:lnSpc>
              <a:spcBef>
                <a:spcPts val="0"/>
              </a:spcBef>
              <a:spcAft>
                <a:spcPts val="0"/>
              </a:spcAft>
              <a:defRPr sz="2100" b="1">
                <a:solidFill>
                  <a:srgbClr val="F5F3EA"/>
                </a:solidFill>
                <a:latin typeface="Arial"/>
              </a:defRPr>
            </a:pPr>
            <a:r>
              <a:t>auf feature.</a:t>
            </a:r>
          </a:p>
        </p:txBody>
      </p:sp>
      <p:sp>
        <p:nvSpPr>
          <p:cNvPr id="28" name="Rounded Rectangle 27"/>
          <p:cNvSpPr/>
          <p:nvPr/>
        </p:nvSpPr>
        <p:spPr>
          <a:xfrm>
            <a:off x="548640" y="5684520"/>
            <a:ext cx="11094720" cy="472440"/>
          </a:xfrm>
          <a:prstGeom prst="roundRect">
            <a:avLst>
              <a:gd name="adj" fmla="val 22580"/>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F5F3EA"/>
                </a:solidFill>
                <a:latin typeface="Arial"/>
              </a:defRPr>
            </a:pPr>
            <a:r>
              <a:t>git switch -c feature  →  neuer Name am aktuellen Commit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DAF975"/>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AAB9BD"/>
                </a:solidFill>
                <a:latin typeface="Arial"/>
              </a:defRPr>
            </a:pPr>
            <a:r>
              <a:t>PRINZIP 05 / EIN COMMIT SPÄTER</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F5F3EA"/>
                </a:solidFill>
                <a:latin typeface="Arial"/>
              </a:defRPr>
            </a:pPr>
            <a:r>
              <a:t>Nur dein Branch bewegt sich.</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AAB9BD"/>
                </a:solidFill>
                <a:latin typeface="Arial"/>
              </a:defRPr>
            </a:pPr>
            <a:r>
              <a:t>Ein neuer Commit auf feature lässt main unverändert.</a:t>
            </a:r>
          </a:p>
        </p:txBody>
      </p:sp>
      <p:cxnSp>
        <p:nvCxnSpPr>
          <p:cNvPr id="7" name="Connector 6"/>
          <p:cNvCxnSpPr/>
          <p:nvPr/>
        </p:nvCxnSpPr>
        <p:spPr>
          <a:xfrm>
            <a:off x="548640" y="6362700"/>
            <a:ext cx="11094720" cy="0"/>
          </a:xfrm>
          <a:prstGeom prst="line">
            <a:avLst/>
          </a:prstGeom>
          <a:ln w="11429">
            <a:solidFill>
              <a:srgbClr val="42555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AAB9BD"/>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F5F3EA"/>
                </a:solidFill>
                <a:latin typeface="Arial"/>
              </a:defRPr>
            </a:pPr>
            <a:r>
              <a:t>08</a:t>
            </a:r>
          </a:p>
        </p:txBody>
      </p:sp>
      <p:cxnSp>
        <p:nvCxnSpPr>
          <p:cNvPr id="10" name="Connector 9"/>
          <p:cNvCxnSpPr/>
          <p:nvPr/>
        </p:nvCxnSpPr>
        <p:spPr>
          <a:xfrm>
            <a:off x="1828800" y="3794760"/>
            <a:ext cx="3771900" cy="0"/>
          </a:xfrm>
          <a:prstGeom prst="line">
            <a:avLst/>
          </a:prstGeom>
          <a:ln w="6096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600700" y="3794760"/>
            <a:ext cx="3771900" cy="0"/>
          </a:xfrm>
          <a:prstGeom prst="line">
            <a:avLst/>
          </a:prstGeom>
          <a:ln w="60960">
            <a:solidFill>
              <a:srgbClr val="AAB9BD"/>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501140" y="3467100"/>
            <a:ext cx="655320" cy="655320"/>
          </a:xfrm>
          <a:prstGeom prst="ellipse">
            <a:avLst/>
          </a:prstGeom>
          <a:solidFill>
            <a:srgbClr val="AAB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1140" y="3583990"/>
            <a:ext cx="655320" cy="507433"/>
          </a:xfrm>
          <a:prstGeom prst="rect">
            <a:avLst/>
          </a:prstGeom>
          <a:noFill/>
        </p:spPr>
        <p:txBody>
          <a:bodyPr wrap="none" lIns="0" rIns="0" tIns="0" bIns="0">
            <a:noAutofit/>
          </a:bodyPr>
          <a:lstStyle/>
          <a:p>
            <a:pPr algn="ctr">
              <a:lnSpc>
                <a:spcPct val="123000"/>
              </a:lnSpc>
              <a:spcBef>
                <a:spcPts val="0"/>
              </a:spcBef>
              <a:spcAft>
                <a:spcPts val="0"/>
              </a:spcAft>
              <a:defRPr sz="2760" b="1">
                <a:solidFill>
                  <a:srgbClr val="172C36"/>
                </a:solidFill>
                <a:latin typeface="Courier New"/>
              </a:defRPr>
            </a:pPr>
            <a:r>
              <a:t>A</a:t>
            </a:r>
          </a:p>
        </p:txBody>
      </p:sp>
      <p:sp>
        <p:nvSpPr>
          <p:cNvPr id="14" name="Oval 13"/>
          <p:cNvSpPr/>
          <p:nvPr/>
        </p:nvSpPr>
        <p:spPr>
          <a:xfrm>
            <a:off x="5273040" y="3467100"/>
            <a:ext cx="655320" cy="65532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73040" y="3583990"/>
            <a:ext cx="655320" cy="507433"/>
          </a:xfrm>
          <a:prstGeom prst="rect">
            <a:avLst/>
          </a:prstGeom>
          <a:noFill/>
        </p:spPr>
        <p:txBody>
          <a:bodyPr wrap="none" lIns="0" rIns="0" tIns="0" bIns="0">
            <a:noAutofit/>
          </a:bodyPr>
          <a:lstStyle/>
          <a:p>
            <a:pPr algn="ctr">
              <a:lnSpc>
                <a:spcPct val="123000"/>
              </a:lnSpc>
              <a:spcBef>
                <a:spcPts val="0"/>
              </a:spcBef>
              <a:spcAft>
                <a:spcPts val="0"/>
              </a:spcAft>
              <a:defRPr sz="2760" b="1">
                <a:solidFill>
                  <a:srgbClr val="172C36"/>
                </a:solidFill>
                <a:latin typeface="Courier New"/>
              </a:defRPr>
            </a:pPr>
            <a:r>
              <a:t>B</a:t>
            </a:r>
          </a:p>
        </p:txBody>
      </p:sp>
      <p:sp>
        <p:nvSpPr>
          <p:cNvPr id="16" name="Oval 15"/>
          <p:cNvSpPr/>
          <p:nvPr/>
        </p:nvSpPr>
        <p:spPr>
          <a:xfrm>
            <a:off x="9044940" y="3467100"/>
            <a:ext cx="655320" cy="65532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44940" y="3583990"/>
            <a:ext cx="655320" cy="507433"/>
          </a:xfrm>
          <a:prstGeom prst="rect">
            <a:avLst/>
          </a:prstGeom>
          <a:noFill/>
        </p:spPr>
        <p:txBody>
          <a:bodyPr wrap="none" lIns="0" rIns="0" tIns="0" bIns="0">
            <a:noAutofit/>
          </a:bodyPr>
          <a:lstStyle/>
          <a:p>
            <a:pPr algn="ctr">
              <a:lnSpc>
                <a:spcPct val="123000"/>
              </a:lnSpc>
              <a:spcBef>
                <a:spcPts val="0"/>
              </a:spcBef>
              <a:spcAft>
                <a:spcPts val="0"/>
              </a:spcAft>
              <a:defRPr sz="2760" b="1">
                <a:solidFill>
                  <a:srgbClr val="172C36"/>
                </a:solidFill>
                <a:latin typeface="Courier New"/>
              </a:defRPr>
            </a:pPr>
            <a:r>
              <a:t>C</a:t>
            </a:r>
          </a:p>
        </p:txBody>
      </p:sp>
      <p:sp>
        <p:nvSpPr>
          <p:cNvPr id="18" name="Rounded Rectangle 17"/>
          <p:cNvSpPr/>
          <p:nvPr/>
        </p:nvSpPr>
        <p:spPr>
          <a:xfrm>
            <a:off x="4953000" y="2667000"/>
            <a:ext cx="1295400"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0" y="2735580"/>
            <a:ext cx="11430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main</a:t>
            </a:r>
          </a:p>
        </p:txBody>
      </p:sp>
      <p:cxnSp>
        <p:nvCxnSpPr>
          <p:cNvPr id="20" name="Connector 19"/>
          <p:cNvCxnSpPr/>
          <p:nvPr/>
        </p:nvCxnSpPr>
        <p:spPr>
          <a:xfrm>
            <a:off x="5600700" y="3032760"/>
            <a:ext cx="0" cy="190500"/>
          </a:xfrm>
          <a:prstGeom prst="line">
            <a:avLst/>
          </a:prstGeom>
          <a:ln w="22859">
            <a:solidFill>
              <a:srgbClr val="DAF97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600700" y="3215640"/>
            <a:ext cx="0" cy="220980"/>
          </a:xfrm>
          <a:prstGeom prst="line">
            <a:avLst/>
          </a:prstGeom>
          <a:ln w="30480">
            <a:solidFill>
              <a:srgbClr val="DAF975"/>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534400" y="2667000"/>
            <a:ext cx="167640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10600" y="2735580"/>
            <a:ext cx="15240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feature</a:t>
            </a:r>
          </a:p>
        </p:txBody>
      </p:sp>
      <p:cxnSp>
        <p:nvCxnSpPr>
          <p:cNvPr id="24" name="Connector 23"/>
          <p:cNvCxnSpPr/>
          <p:nvPr/>
        </p:nvCxnSpPr>
        <p:spPr>
          <a:xfrm>
            <a:off x="9372600" y="3032760"/>
            <a:ext cx="0" cy="190500"/>
          </a:xfrm>
          <a:prstGeom prst="line">
            <a:avLst/>
          </a:prstGeom>
          <a:ln w="22859">
            <a:solidFill>
              <a:srgbClr val="65D9E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372600" y="3215640"/>
            <a:ext cx="0" cy="220980"/>
          </a:xfrm>
          <a:prstGeom prst="line">
            <a:avLst/>
          </a:prstGeom>
          <a:ln w="30480">
            <a:solidFill>
              <a:srgbClr val="65D9E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381999" y="4648200"/>
            <a:ext cx="1295400" cy="365760"/>
          </a:xfrm>
          <a:prstGeom prst="roundRect">
            <a:avLst>
              <a:gd name="adj" fmla="val 50000"/>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58200" y="4716780"/>
            <a:ext cx="11430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HEAD</a:t>
            </a:r>
          </a:p>
        </p:txBody>
      </p:sp>
      <p:cxnSp>
        <p:nvCxnSpPr>
          <p:cNvPr id="28" name="Connector 27"/>
          <p:cNvCxnSpPr/>
          <p:nvPr/>
        </p:nvCxnSpPr>
        <p:spPr>
          <a:xfrm>
            <a:off x="9829800" y="4831080"/>
            <a:ext cx="1295400" cy="0"/>
          </a:xfrm>
          <a:prstGeom prst="line">
            <a:avLst/>
          </a:prstGeom>
          <a:ln w="30480">
            <a:solidFill>
              <a:srgbClr val="C5B5F2"/>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1125200" y="2849880"/>
            <a:ext cx="0" cy="1981200"/>
          </a:xfrm>
          <a:prstGeom prst="line">
            <a:avLst/>
          </a:prstGeom>
          <a:ln w="30480">
            <a:solidFill>
              <a:srgbClr val="C5B5F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0325100" y="2849880"/>
            <a:ext cx="800100" cy="0"/>
          </a:xfrm>
          <a:prstGeom prst="line">
            <a:avLst/>
          </a:prstGeom>
          <a:ln w="30480">
            <a:solidFill>
              <a:srgbClr val="C5B5F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0325100" y="2791428"/>
            <a:ext cx="106994" cy="58452"/>
          </a:xfrm>
          <a:prstGeom prst="line">
            <a:avLst/>
          </a:prstGeom>
          <a:ln w="30480">
            <a:solidFill>
              <a:srgbClr val="C5B5F2"/>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325100" y="2849880"/>
            <a:ext cx="106994" cy="58451"/>
          </a:xfrm>
          <a:prstGeom prst="line">
            <a:avLst/>
          </a:prstGeom>
          <a:ln w="30480">
            <a:solidFill>
              <a:srgbClr val="C5B5F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661160" y="4671060"/>
            <a:ext cx="4190999" cy="338632"/>
          </a:xfrm>
          <a:prstGeom prst="rect">
            <a:avLst/>
          </a:prstGeom>
          <a:noFill/>
        </p:spPr>
        <p:txBody>
          <a:bodyPr wrap="none" lIns="0" rIns="0" tIns="0" bIns="0">
            <a:noAutofit/>
          </a:bodyPr>
          <a:lstStyle/>
          <a:p>
            <a:pPr algn="l">
              <a:lnSpc>
                <a:spcPct val="123000"/>
              </a:lnSpc>
              <a:spcBef>
                <a:spcPts val="0"/>
              </a:spcBef>
              <a:spcAft>
                <a:spcPts val="0"/>
              </a:spcAft>
              <a:defRPr sz="1680" b="0">
                <a:solidFill>
                  <a:srgbClr val="AAB9BD"/>
                </a:solidFill>
                <a:latin typeface="Arial"/>
              </a:defRPr>
            </a:pPr>
            <a:r>
              <a:t>vorhandene History</a:t>
            </a:r>
          </a:p>
        </p:txBody>
      </p:sp>
      <p:sp>
        <p:nvSpPr>
          <p:cNvPr id="34" name="Rounded Rectangle 33"/>
          <p:cNvSpPr/>
          <p:nvPr/>
        </p:nvSpPr>
        <p:spPr>
          <a:xfrm>
            <a:off x="548640" y="5684520"/>
            <a:ext cx="11094720" cy="472440"/>
          </a:xfrm>
          <a:prstGeom prst="roundRect">
            <a:avLst>
              <a:gd name="adj" fmla="val 22580"/>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F5F3EA"/>
                </a:solidFill>
                <a:latin typeface="Arial"/>
              </a:defRPr>
            </a:pPr>
            <a:r>
              <a:t>Der Branch folgt deinen neuen Commits. Andere Branches bleiben stehen.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172C36"/>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576B70"/>
                </a:solidFill>
                <a:latin typeface="Arial"/>
              </a:defRPr>
            </a:pPr>
            <a:r>
              <a:t>DER GEMEINSAME WORKFLOW</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172C36"/>
                </a:solidFill>
                <a:latin typeface="Arial"/>
              </a:defRPr>
            </a:pPr>
            <a:r>
              <a:t>So wird aus einer Idee Teamarbeit.</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576B70"/>
                </a:solidFill>
                <a:latin typeface="Arial"/>
              </a:defRPr>
            </a:pPr>
            <a:r>
              <a:t>Kleine Änderungen. Sichtbarer Kontext. Eine bewusste Freigabe.</a:t>
            </a:r>
          </a:p>
        </p:txBody>
      </p:sp>
      <p:cxnSp>
        <p:nvCxnSpPr>
          <p:cNvPr id="7" name="Connector 6"/>
          <p:cNvCxnSpPr/>
          <p:nvPr/>
        </p:nvCxnSpPr>
        <p:spPr>
          <a:xfrm>
            <a:off x="548640" y="6362700"/>
            <a:ext cx="11094720" cy="0"/>
          </a:xfrm>
          <a:prstGeom prst="line">
            <a:avLst/>
          </a:prstGeom>
          <a:ln w="11429">
            <a:solidFill>
              <a:srgbClr val="D2D9D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576B70"/>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172C36"/>
                </a:solidFill>
                <a:latin typeface="Arial"/>
              </a:defRPr>
            </a:pPr>
            <a:r>
              <a:t>09</a:t>
            </a:r>
          </a:p>
        </p:txBody>
      </p:sp>
      <p:sp>
        <p:nvSpPr>
          <p:cNvPr id="10" name="Rounded Rectangle 9"/>
          <p:cNvSpPr/>
          <p:nvPr/>
        </p:nvSpPr>
        <p:spPr>
          <a:xfrm>
            <a:off x="548640" y="2583180"/>
            <a:ext cx="1470660" cy="1882139"/>
          </a:xfrm>
          <a:prstGeom prst="roundRect">
            <a:avLst>
              <a:gd name="adj" fmla="val 10362"/>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 y="2743200"/>
            <a:ext cx="1181100" cy="282397"/>
          </a:xfrm>
          <a:prstGeom prst="rect">
            <a:avLst/>
          </a:prstGeom>
          <a:noFill/>
        </p:spPr>
        <p:txBody>
          <a:bodyPr wrap="none" lIns="0" rIns="0" tIns="0" bIns="0">
            <a:noAutofit/>
          </a:bodyPr>
          <a:lstStyle/>
          <a:p>
            <a:pPr algn="l">
              <a:lnSpc>
                <a:spcPct val="123000"/>
              </a:lnSpc>
              <a:spcBef>
                <a:spcPts val="0"/>
              </a:spcBef>
              <a:spcAft>
                <a:spcPts val="0"/>
              </a:spcAft>
              <a:defRPr sz="1320" b="1">
                <a:solidFill>
                  <a:srgbClr val="172C36"/>
                </a:solidFill>
                <a:latin typeface="Arial"/>
              </a:defRPr>
            </a:pPr>
            <a:r>
              <a:t>01</a:t>
            </a:r>
          </a:p>
        </p:txBody>
      </p:sp>
      <p:sp>
        <p:nvSpPr>
          <p:cNvPr id="12" name="TextBox 11"/>
          <p:cNvSpPr txBox="1"/>
          <p:nvPr/>
        </p:nvSpPr>
        <p:spPr>
          <a:xfrm>
            <a:off x="708660" y="3291840"/>
            <a:ext cx="1333500" cy="348005"/>
          </a:xfrm>
          <a:prstGeom prst="rect">
            <a:avLst/>
          </a:prstGeom>
          <a:noFill/>
        </p:spPr>
        <p:txBody>
          <a:bodyPr wrap="none" lIns="0" rIns="0" tIns="0" bIns="0">
            <a:noAutofit/>
          </a:bodyPr>
          <a:lstStyle/>
          <a:p>
            <a:pPr algn="l">
              <a:lnSpc>
                <a:spcPct val="123000"/>
              </a:lnSpc>
              <a:spcBef>
                <a:spcPts val="0"/>
              </a:spcBef>
              <a:spcAft>
                <a:spcPts val="0"/>
              </a:spcAft>
              <a:defRPr sz="1739" b="1">
                <a:solidFill>
                  <a:srgbClr val="172C36"/>
                </a:solidFill>
                <a:latin typeface="Arial"/>
              </a:defRPr>
            </a:pPr>
            <a:r>
              <a:t>Issue</a:t>
            </a:r>
          </a:p>
        </p:txBody>
      </p:sp>
      <p:sp>
        <p:nvSpPr>
          <p:cNvPr id="13" name="TextBox 12"/>
          <p:cNvSpPr txBox="1"/>
          <p:nvPr/>
        </p:nvSpPr>
        <p:spPr>
          <a:xfrm>
            <a:off x="708660" y="3810000"/>
            <a:ext cx="1333500" cy="263652"/>
          </a:xfrm>
          <a:prstGeom prst="rect">
            <a:avLst/>
          </a:prstGeom>
          <a:noFill/>
        </p:spPr>
        <p:txBody>
          <a:bodyPr wrap="none" lIns="0" rIns="0" tIns="0" bIns="0">
            <a:noAutofit/>
          </a:bodyPr>
          <a:lstStyle/>
          <a:p>
            <a:pPr algn="l">
              <a:lnSpc>
                <a:spcPct val="123000"/>
              </a:lnSpc>
              <a:spcBef>
                <a:spcPts val="0"/>
              </a:spcBef>
              <a:spcAft>
                <a:spcPts val="0"/>
              </a:spcAft>
              <a:defRPr sz="1200" b="0">
                <a:solidFill>
                  <a:srgbClr val="172C36"/>
                </a:solidFill>
                <a:latin typeface="Arial"/>
              </a:defRPr>
            </a:pPr>
            <a:r>
              <a:t>Ziel klären</a:t>
            </a:r>
          </a:p>
        </p:txBody>
      </p:sp>
      <p:cxnSp>
        <p:nvCxnSpPr>
          <p:cNvPr id="14" name="Connector 13"/>
          <p:cNvCxnSpPr/>
          <p:nvPr/>
        </p:nvCxnSpPr>
        <p:spPr>
          <a:xfrm>
            <a:off x="2042160" y="3528060"/>
            <a:ext cx="83820" cy="0"/>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018985" y="3528060"/>
            <a:ext cx="106995" cy="58451"/>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2018985" y="3469608"/>
            <a:ext cx="106995" cy="58452"/>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148840" y="2583180"/>
            <a:ext cx="1470660" cy="1882139"/>
          </a:xfrm>
          <a:prstGeom prst="roundRect">
            <a:avLst>
              <a:gd name="adj" fmla="val 10362"/>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08860" y="2743200"/>
            <a:ext cx="1181100" cy="282397"/>
          </a:xfrm>
          <a:prstGeom prst="rect">
            <a:avLst/>
          </a:prstGeom>
          <a:noFill/>
        </p:spPr>
        <p:txBody>
          <a:bodyPr wrap="none" lIns="0" rIns="0" tIns="0" bIns="0">
            <a:noAutofit/>
          </a:bodyPr>
          <a:lstStyle/>
          <a:p>
            <a:pPr algn="l">
              <a:lnSpc>
                <a:spcPct val="123000"/>
              </a:lnSpc>
              <a:spcBef>
                <a:spcPts val="0"/>
              </a:spcBef>
              <a:spcAft>
                <a:spcPts val="0"/>
              </a:spcAft>
              <a:defRPr sz="1320" b="1">
                <a:solidFill>
                  <a:srgbClr val="172C36"/>
                </a:solidFill>
                <a:latin typeface="Arial"/>
              </a:defRPr>
            </a:pPr>
            <a:r>
              <a:t>02</a:t>
            </a:r>
          </a:p>
        </p:txBody>
      </p:sp>
      <p:sp>
        <p:nvSpPr>
          <p:cNvPr id="19" name="TextBox 18"/>
          <p:cNvSpPr txBox="1"/>
          <p:nvPr/>
        </p:nvSpPr>
        <p:spPr>
          <a:xfrm>
            <a:off x="2308860" y="3291840"/>
            <a:ext cx="1333500" cy="348005"/>
          </a:xfrm>
          <a:prstGeom prst="rect">
            <a:avLst/>
          </a:prstGeom>
          <a:noFill/>
        </p:spPr>
        <p:txBody>
          <a:bodyPr wrap="none" lIns="0" rIns="0" tIns="0" bIns="0">
            <a:noAutofit/>
          </a:bodyPr>
          <a:lstStyle/>
          <a:p>
            <a:pPr algn="l">
              <a:lnSpc>
                <a:spcPct val="123000"/>
              </a:lnSpc>
              <a:spcBef>
                <a:spcPts val="0"/>
              </a:spcBef>
              <a:spcAft>
                <a:spcPts val="0"/>
              </a:spcAft>
              <a:defRPr sz="1739" b="1">
                <a:solidFill>
                  <a:srgbClr val="172C36"/>
                </a:solidFill>
                <a:latin typeface="Arial"/>
              </a:defRPr>
            </a:pPr>
            <a:r>
              <a:t>Branch</a:t>
            </a:r>
          </a:p>
        </p:txBody>
      </p:sp>
      <p:sp>
        <p:nvSpPr>
          <p:cNvPr id="20" name="TextBox 19"/>
          <p:cNvSpPr txBox="1"/>
          <p:nvPr/>
        </p:nvSpPr>
        <p:spPr>
          <a:xfrm>
            <a:off x="2308860" y="3810000"/>
            <a:ext cx="1333500" cy="263652"/>
          </a:xfrm>
          <a:prstGeom prst="rect">
            <a:avLst/>
          </a:prstGeom>
          <a:noFill/>
        </p:spPr>
        <p:txBody>
          <a:bodyPr wrap="none" lIns="0" rIns="0" tIns="0" bIns="0">
            <a:noAutofit/>
          </a:bodyPr>
          <a:lstStyle/>
          <a:p>
            <a:pPr algn="l">
              <a:lnSpc>
                <a:spcPct val="123000"/>
              </a:lnSpc>
              <a:spcBef>
                <a:spcPts val="0"/>
              </a:spcBef>
              <a:spcAft>
                <a:spcPts val="0"/>
              </a:spcAft>
              <a:defRPr sz="1200" b="0">
                <a:solidFill>
                  <a:srgbClr val="172C36"/>
                </a:solidFill>
                <a:latin typeface="Arial"/>
              </a:defRPr>
            </a:pPr>
            <a:r>
              <a:t>Arbeit starten</a:t>
            </a:r>
          </a:p>
        </p:txBody>
      </p:sp>
      <p:cxnSp>
        <p:nvCxnSpPr>
          <p:cNvPr id="21" name="Connector 20"/>
          <p:cNvCxnSpPr/>
          <p:nvPr/>
        </p:nvCxnSpPr>
        <p:spPr>
          <a:xfrm>
            <a:off x="3642360" y="3528060"/>
            <a:ext cx="83820" cy="0"/>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619185" y="3528060"/>
            <a:ext cx="106995" cy="58451"/>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3619185" y="3469608"/>
            <a:ext cx="106995" cy="58452"/>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749039" y="2583180"/>
            <a:ext cx="1470660" cy="1882139"/>
          </a:xfrm>
          <a:prstGeom prst="roundRect">
            <a:avLst>
              <a:gd name="adj" fmla="val 10362"/>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09060" y="2743200"/>
            <a:ext cx="1181100" cy="282397"/>
          </a:xfrm>
          <a:prstGeom prst="rect">
            <a:avLst/>
          </a:prstGeom>
          <a:noFill/>
        </p:spPr>
        <p:txBody>
          <a:bodyPr wrap="none" lIns="0" rIns="0" tIns="0" bIns="0">
            <a:noAutofit/>
          </a:bodyPr>
          <a:lstStyle/>
          <a:p>
            <a:pPr algn="l">
              <a:lnSpc>
                <a:spcPct val="123000"/>
              </a:lnSpc>
              <a:spcBef>
                <a:spcPts val="0"/>
              </a:spcBef>
              <a:spcAft>
                <a:spcPts val="0"/>
              </a:spcAft>
              <a:defRPr sz="1320" b="1">
                <a:solidFill>
                  <a:srgbClr val="172C36"/>
                </a:solidFill>
                <a:latin typeface="Arial"/>
              </a:defRPr>
            </a:pPr>
            <a:r>
              <a:t>03</a:t>
            </a:r>
          </a:p>
        </p:txBody>
      </p:sp>
      <p:sp>
        <p:nvSpPr>
          <p:cNvPr id="26" name="TextBox 25"/>
          <p:cNvSpPr txBox="1"/>
          <p:nvPr/>
        </p:nvSpPr>
        <p:spPr>
          <a:xfrm>
            <a:off x="3909060" y="3291840"/>
            <a:ext cx="1333500" cy="348005"/>
          </a:xfrm>
          <a:prstGeom prst="rect">
            <a:avLst/>
          </a:prstGeom>
          <a:noFill/>
        </p:spPr>
        <p:txBody>
          <a:bodyPr wrap="none" lIns="0" rIns="0" tIns="0" bIns="0">
            <a:noAutofit/>
          </a:bodyPr>
          <a:lstStyle/>
          <a:p>
            <a:pPr algn="l">
              <a:lnSpc>
                <a:spcPct val="123000"/>
              </a:lnSpc>
              <a:spcBef>
                <a:spcPts val="0"/>
              </a:spcBef>
              <a:spcAft>
                <a:spcPts val="0"/>
              </a:spcAft>
              <a:defRPr sz="1739" b="1">
                <a:solidFill>
                  <a:srgbClr val="172C36"/>
                </a:solidFill>
                <a:latin typeface="Arial"/>
              </a:defRPr>
            </a:pPr>
            <a:r>
              <a:t>Commits</a:t>
            </a:r>
          </a:p>
        </p:txBody>
      </p:sp>
      <p:sp>
        <p:nvSpPr>
          <p:cNvPr id="27" name="TextBox 26"/>
          <p:cNvSpPr txBox="1"/>
          <p:nvPr/>
        </p:nvSpPr>
        <p:spPr>
          <a:xfrm>
            <a:off x="3909060" y="3810000"/>
            <a:ext cx="1333500" cy="263652"/>
          </a:xfrm>
          <a:prstGeom prst="rect">
            <a:avLst/>
          </a:prstGeom>
          <a:noFill/>
        </p:spPr>
        <p:txBody>
          <a:bodyPr wrap="none" lIns="0" rIns="0" tIns="0" bIns="0">
            <a:noAutofit/>
          </a:bodyPr>
          <a:lstStyle/>
          <a:p>
            <a:pPr algn="l">
              <a:lnSpc>
                <a:spcPct val="123000"/>
              </a:lnSpc>
              <a:spcBef>
                <a:spcPts val="0"/>
              </a:spcBef>
              <a:spcAft>
                <a:spcPts val="0"/>
              </a:spcAft>
              <a:defRPr sz="1200" b="0">
                <a:solidFill>
                  <a:srgbClr val="172C36"/>
                </a:solidFill>
                <a:latin typeface="Arial"/>
              </a:defRPr>
            </a:pPr>
            <a:r>
              <a:t>Schritte festhalten</a:t>
            </a:r>
          </a:p>
        </p:txBody>
      </p:sp>
      <p:cxnSp>
        <p:nvCxnSpPr>
          <p:cNvPr id="28" name="Connector 27"/>
          <p:cNvCxnSpPr/>
          <p:nvPr/>
        </p:nvCxnSpPr>
        <p:spPr>
          <a:xfrm>
            <a:off x="5242560" y="3528060"/>
            <a:ext cx="83820" cy="0"/>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219385" y="3528060"/>
            <a:ext cx="106995" cy="58451"/>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5219385" y="3469608"/>
            <a:ext cx="106995" cy="58452"/>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349240" y="2583180"/>
            <a:ext cx="1470660" cy="1882139"/>
          </a:xfrm>
          <a:prstGeom prst="roundRect">
            <a:avLst>
              <a:gd name="adj" fmla="val 10362"/>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09260" y="2743200"/>
            <a:ext cx="1181100" cy="282397"/>
          </a:xfrm>
          <a:prstGeom prst="rect">
            <a:avLst/>
          </a:prstGeom>
          <a:noFill/>
        </p:spPr>
        <p:txBody>
          <a:bodyPr wrap="none" lIns="0" rIns="0" tIns="0" bIns="0">
            <a:noAutofit/>
          </a:bodyPr>
          <a:lstStyle/>
          <a:p>
            <a:pPr algn="l">
              <a:lnSpc>
                <a:spcPct val="123000"/>
              </a:lnSpc>
              <a:spcBef>
                <a:spcPts val="0"/>
              </a:spcBef>
              <a:spcAft>
                <a:spcPts val="0"/>
              </a:spcAft>
              <a:defRPr sz="1320" b="1">
                <a:solidFill>
                  <a:srgbClr val="172C36"/>
                </a:solidFill>
                <a:latin typeface="Arial"/>
              </a:defRPr>
            </a:pPr>
            <a:r>
              <a:t>04</a:t>
            </a:r>
          </a:p>
        </p:txBody>
      </p:sp>
      <p:sp>
        <p:nvSpPr>
          <p:cNvPr id="33" name="TextBox 32"/>
          <p:cNvSpPr txBox="1"/>
          <p:nvPr/>
        </p:nvSpPr>
        <p:spPr>
          <a:xfrm>
            <a:off x="5509260" y="3291840"/>
            <a:ext cx="1333500" cy="348005"/>
          </a:xfrm>
          <a:prstGeom prst="rect">
            <a:avLst/>
          </a:prstGeom>
          <a:noFill/>
        </p:spPr>
        <p:txBody>
          <a:bodyPr wrap="none" lIns="0" rIns="0" tIns="0" bIns="0">
            <a:noAutofit/>
          </a:bodyPr>
          <a:lstStyle/>
          <a:p>
            <a:pPr algn="l">
              <a:lnSpc>
                <a:spcPct val="123000"/>
              </a:lnSpc>
              <a:spcBef>
                <a:spcPts val="0"/>
              </a:spcBef>
              <a:spcAft>
                <a:spcPts val="0"/>
              </a:spcAft>
              <a:defRPr sz="1739" b="1">
                <a:solidFill>
                  <a:srgbClr val="172C36"/>
                </a:solidFill>
                <a:latin typeface="Arial"/>
              </a:defRPr>
            </a:pPr>
            <a:r>
              <a:t>Push</a:t>
            </a:r>
          </a:p>
        </p:txBody>
      </p:sp>
      <p:sp>
        <p:nvSpPr>
          <p:cNvPr id="34" name="TextBox 33"/>
          <p:cNvSpPr txBox="1"/>
          <p:nvPr/>
        </p:nvSpPr>
        <p:spPr>
          <a:xfrm>
            <a:off x="5509260" y="3810000"/>
            <a:ext cx="1333500" cy="263652"/>
          </a:xfrm>
          <a:prstGeom prst="rect">
            <a:avLst/>
          </a:prstGeom>
          <a:noFill/>
        </p:spPr>
        <p:txBody>
          <a:bodyPr wrap="none" lIns="0" rIns="0" tIns="0" bIns="0">
            <a:noAutofit/>
          </a:bodyPr>
          <a:lstStyle/>
          <a:p>
            <a:pPr algn="l">
              <a:lnSpc>
                <a:spcPct val="123000"/>
              </a:lnSpc>
              <a:spcBef>
                <a:spcPts val="0"/>
              </a:spcBef>
              <a:spcAft>
                <a:spcPts val="0"/>
              </a:spcAft>
              <a:defRPr sz="1200" b="0">
                <a:solidFill>
                  <a:srgbClr val="172C36"/>
                </a:solidFill>
                <a:latin typeface="Arial"/>
              </a:defRPr>
            </a:pPr>
            <a:r>
              <a:t>Stand teilen</a:t>
            </a:r>
          </a:p>
        </p:txBody>
      </p:sp>
      <p:cxnSp>
        <p:nvCxnSpPr>
          <p:cNvPr id="35" name="Connector 34"/>
          <p:cNvCxnSpPr/>
          <p:nvPr/>
        </p:nvCxnSpPr>
        <p:spPr>
          <a:xfrm>
            <a:off x="6842760" y="3528060"/>
            <a:ext cx="83820" cy="0"/>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819585" y="3528060"/>
            <a:ext cx="106995" cy="58451"/>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6819585" y="3469608"/>
            <a:ext cx="106995" cy="58452"/>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949440" y="2583180"/>
            <a:ext cx="1470660" cy="1882139"/>
          </a:xfrm>
          <a:prstGeom prst="roundRect">
            <a:avLst>
              <a:gd name="adj" fmla="val 10362"/>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09460" y="2743200"/>
            <a:ext cx="1181100" cy="282397"/>
          </a:xfrm>
          <a:prstGeom prst="rect">
            <a:avLst/>
          </a:prstGeom>
          <a:noFill/>
        </p:spPr>
        <p:txBody>
          <a:bodyPr wrap="none" lIns="0" rIns="0" tIns="0" bIns="0">
            <a:noAutofit/>
          </a:bodyPr>
          <a:lstStyle/>
          <a:p>
            <a:pPr algn="l">
              <a:lnSpc>
                <a:spcPct val="123000"/>
              </a:lnSpc>
              <a:spcBef>
                <a:spcPts val="0"/>
              </a:spcBef>
              <a:spcAft>
                <a:spcPts val="0"/>
              </a:spcAft>
              <a:defRPr sz="1320" b="1">
                <a:solidFill>
                  <a:srgbClr val="172C36"/>
                </a:solidFill>
                <a:latin typeface="Arial"/>
              </a:defRPr>
            </a:pPr>
            <a:r>
              <a:t>05</a:t>
            </a:r>
          </a:p>
        </p:txBody>
      </p:sp>
      <p:sp>
        <p:nvSpPr>
          <p:cNvPr id="40" name="TextBox 39"/>
          <p:cNvSpPr txBox="1"/>
          <p:nvPr/>
        </p:nvSpPr>
        <p:spPr>
          <a:xfrm>
            <a:off x="7109460" y="3291840"/>
            <a:ext cx="1333500" cy="348005"/>
          </a:xfrm>
          <a:prstGeom prst="rect">
            <a:avLst/>
          </a:prstGeom>
          <a:noFill/>
        </p:spPr>
        <p:txBody>
          <a:bodyPr wrap="none" lIns="0" rIns="0" tIns="0" bIns="0">
            <a:noAutofit/>
          </a:bodyPr>
          <a:lstStyle/>
          <a:p>
            <a:pPr algn="l">
              <a:lnSpc>
                <a:spcPct val="123000"/>
              </a:lnSpc>
              <a:spcBef>
                <a:spcPts val="0"/>
              </a:spcBef>
              <a:spcAft>
                <a:spcPts val="0"/>
              </a:spcAft>
              <a:defRPr sz="1739" b="1">
                <a:solidFill>
                  <a:srgbClr val="172C36"/>
                </a:solidFill>
                <a:latin typeface="Arial"/>
              </a:defRPr>
            </a:pPr>
            <a:r>
              <a:t>PR</a:t>
            </a:r>
          </a:p>
        </p:txBody>
      </p:sp>
      <p:sp>
        <p:nvSpPr>
          <p:cNvPr id="41" name="TextBox 40"/>
          <p:cNvSpPr txBox="1"/>
          <p:nvPr/>
        </p:nvSpPr>
        <p:spPr>
          <a:xfrm>
            <a:off x="7109460" y="3810000"/>
            <a:ext cx="1333500" cy="263652"/>
          </a:xfrm>
          <a:prstGeom prst="rect">
            <a:avLst/>
          </a:prstGeom>
          <a:noFill/>
        </p:spPr>
        <p:txBody>
          <a:bodyPr wrap="none" lIns="0" rIns="0" tIns="0" bIns="0">
            <a:noAutofit/>
          </a:bodyPr>
          <a:lstStyle/>
          <a:p>
            <a:pPr algn="l">
              <a:lnSpc>
                <a:spcPct val="123000"/>
              </a:lnSpc>
              <a:spcBef>
                <a:spcPts val="0"/>
              </a:spcBef>
              <a:spcAft>
                <a:spcPts val="0"/>
              </a:spcAft>
              <a:defRPr sz="1200" b="0">
                <a:solidFill>
                  <a:srgbClr val="172C36"/>
                </a:solidFill>
                <a:latin typeface="Arial"/>
              </a:defRPr>
            </a:pPr>
            <a:r>
              <a:t>Änderung erklären</a:t>
            </a:r>
          </a:p>
        </p:txBody>
      </p:sp>
      <p:cxnSp>
        <p:nvCxnSpPr>
          <p:cNvPr id="42" name="Connector 41"/>
          <p:cNvCxnSpPr/>
          <p:nvPr/>
        </p:nvCxnSpPr>
        <p:spPr>
          <a:xfrm>
            <a:off x="8442960" y="3528060"/>
            <a:ext cx="83820" cy="0"/>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8419785" y="3528060"/>
            <a:ext cx="106995" cy="58451"/>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8419785" y="3469608"/>
            <a:ext cx="106995" cy="58452"/>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8549640" y="2583180"/>
            <a:ext cx="1470660" cy="1882139"/>
          </a:xfrm>
          <a:prstGeom prst="roundRect">
            <a:avLst>
              <a:gd name="adj" fmla="val 10362"/>
            </a:avLst>
          </a:prstGeom>
          <a:solidFill>
            <a:srgbClr val="FF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709660" y="2743200"/>
            <a:ext cx="1181100" cy="282397"/>
          </a:xfrm>
          <a:prstGeom prst="rect">
            <a:avLst/>
          </a:prstGeom>
          <a:noFill/>
        </p:spPr>
        <p:txBody>
          <a:bodyPr wrap="none" lIns="0" rIns="0" tIns="0" bIns="0">
            <a:noAutofit/>
          </a:bodyPr>
          <a:lstStyle/>
          <a:p>
            <a:pPr algn="l">
              <a:lnSpc>
                <a:spcPct val="123000"/>
              </a:lnSpc>
              <a:spcBef>
                <a:spcPts val="0"/>
              </a:spcBef>
              <a:spcAft>
                <a:spcPts val="0"/>
              </a:spcAft>
              <a:defRPr sz="1320" b="1">
                <a:solidFill>
                  <a:srgbClr val="172C36"/>
                </a:solidFill>
                <a:latin typeface="Arial"/>
              </a:defRPr>
            </a:pPr>
            <a:r>
              <a:t>06</a:t>
            </a:r>
          </a:p>
        </p:txBody>
      </p:sp>
      <p:sp>
        <p:nvSpPr>
          <p:cNvPr id="47" name="TextBox 46"/>
          <p:cNvSpPr txBox="1"/>
          <p:nvPr/>
        </p:nvSpPr>
        <p:spPr>
          <a:xfrm>
            <a:off x="8709660" y="3291840"/>
            <a:ext cx="1333500" cy="348005"/>
          </a:xfrm>
          <a:prstGeom prst="rect">
            <a:avLst/>
          </a:prstGeom>
          <a:noFill/>
        </p:spPr>
        <p:txBody>
          <a:bodyPr wrap="none" lIns="0" rIns="0" tIns="0" bIns="0">
            <a:noAutofit/>
          </a:bodyPr>
          <a:lstStyle/>
          <a:p>
            <a:pPr algn="l">
              <a:lnSpc>
                <a:spcPct val="123000"/>
              </a:lnSpc>
              <a:spcBef>
                <a:spcPts val="0"/>
              </a:spcBef>
              <a:spcAft>
                <a:spcPts val="0"/>
              </a:spcAft>
              <a:defRPr sz="1739" b="1">
                <a:solidFill>
                  <a:srgbClr val="172C36"/>
                </a:solidFill>
                <a:latin typeface="Arial"/>
              </a:defRPr>
            </a:pPr>
            <a:r>
              <a:t>Review</a:t>
            </a:r>
          </a:p>
        </p:txBody>
      </p:sp>
      <p:sp>
        <p:nvSpPr>
          <p:cNvPr id="48" name="TextBox 47"/>
          <p:cNvSpPr txBox="1"/>
          <p:nvPr/>
        </p:nvSpPr>
        <p:spPr>
          <a:xfrm>
            <a:off x="8709660" y="3810000"/>
            <a:ext cx="1333500" cy="451104"/>
          </a:xfrm>
          <a:prstGeom prst="rect">
            <a:avLst/>
          </a:prstGeom>
          <a:noFill/>
        </p:spPr>
        <p:txBody>
          <a:bodyPr wrap="none" lIns="0" rIns="0" tIns="0" bIns="0">
            <a:noAutofit/>
          </a:bodyPr>
          <a:lstStyle/>
          <a:p>
            <a:pPr algn="l">
              <a:lnSpc>
                <a:spcPct val="123000"/>
              </a:lnSpc>
              <a:spcBef>
                <a:spcPts val="0"/>
              </a:spcBef>
              <a:spcAft>
                <a:spcPts val="0"/>
              </a:spcAft>
              <a:defRPr sz="1200" b="0">
                <a:solidFill>
                  <a:srgbClr val="172C36"/>
                </a:solidFill>
                <a:latin typeface="Arial"/>
              </a:defRPr>
            </a:pPr>
            <a:r>
              <a:t>prüfen &amp;</a:t>
            </a:r>
          </a:p>
          <a:p>
            <a:pPr algn="l">
              <a:lnSpc>
                <a:spcPct val="123000"/>
              </a:lnSpc>
              <a:spcBef>
                <a:spcPts val="0"/>
              </a:spcBef>
              <a:spcAft>
                <a:spcPts val="0"/>
              </a:spcAft>
              <a:defRPr sz="1200" b="0">
                <a:solidFill>
                  <a:srgbClr val="172C36"/>
                </a:solidFill>
                <a:latin typeface="Arial"/>
              </a:defRPr>
            </a:pPr>
            <a:r>
              <a:t>verbessern</a:t>
            </a:r>
          </a:p>
        </p:txBody>
      </p:sp>
      <p:cxnSp>
        <p:nvCxnSpPr>
          <p:cNvPr id="49" name="Connector 48"/>
          <p:cNvCxnSpPr/>
          <p:nvPr/>
        </p:nvCxnSpPr>
        <p:spPr>
          <a:xfrm>
            <a:off x="10043160" y="3528060"/>
            <a:ext cx="83820" cy="0"/>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0019985" y="3528060"/>
            <a:ext cx="106995" cy="58451"/>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10019985" y="3469608"/>
            <a:ext cx="106995" cy="58452"/>
          </a:xfrm>
          <a:prstGeom prst="line">
            <a:avLst/>
          </a:prstGeom>
          <a:ln w="15240">
            <a:solidFill>
              <a:srgbClr val="172C36"/>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10149840" y="2583180"/>
            <a:ext cx="1470660" cy="1882139"/>
          </a:xfrm>
          <a:prstGeom prst="roundRect">
            <a:avLst>
              <a:gd name="adj" fmla="val 10362"/>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309860" y="2743200"/>
            <a:ext cx="1181100" cy="282397"/>
          </a:xfrm>
          <a:prstGeom prst="rect">
            <a:avLst/>
          </a:prstGeom>
          <a:noFill/>
        </p:spPr>
        <p:txBody>
          <a:bodyPr wrap="none" lIns="0" rIns="0" tIns="0" bIns="0">
            <a:noAutofit/>
          </a:bodyPr>
          <a:lstStyle/>
          <a:p>
            <a:pPr algn="l">
              <a:lnSpc>
                <a:spcPct val="123000"/>
              </a:lnSpc>
              <a:spcBef>
                <a:spcPts val="0"/>
              </a:spcBef>
              <a:spcAft>
                <a:spcPts val="0"/>
              </a:spcAft>
              <a:defRPr sz="1320" b="1">
                <a:solidFill>
                  <a:srgbClr val="172C36"/>
                </a:solidFill>
                <a:latin typeface="Arial"/>
              </a:defRPr>
            </a:pPr>
            <a:r>
              <a:t>07</a:t>
            </a:r>
          </a:p>
        </p:txBody>
      </p:sp>
      <p:sp>
        <p:nvSpPr>
          <p:cNvPr id="54" name="TextBox 53"/>
          <p:cNvSpPr txBox="1"/>
          <p:nvPr/>
        </p:nvSpPr>
        <p:spPr>
          <a:xfrm>
            <a:off x="10309860" y="3291840"/>
            <a:ext cx="1333500" cy="348005"/>
          </a:xfrm>
          <a:prstGeom prst="rect">
            <a:avLst/>
          </a:prstGeom>
          <a:noFill/>
        </p:spPr>
        <p:txBody>
          <a:bodyPr wrap="none" lIns="0" rIns="0" tIns="0" bIns="0">
            <a:noAutofit/>
          </a:bodyPr>
          <a:lstStyle/>
          <a:p>
            <a:pPr algn="l">
              <a:lnSpc>
                <a:spcPct val="123000"/>
              </a:lnSpc>
              <a:spcBef>
                <a:spcPts val="0"/>
              </a:spcBef>
              <a:spcAft>
                <a:spcPts val="0"/>
              </a:spcAft>
              <a:defRPr sz="1739" b="1">
                <a:solidFill>
                  <a:srgbClr val="172C36"/>
                </a:solidFill>
                <a:latin typeface="Arial"/>
              </a:defRPr>
            </a:pPr>
            <a:r>
              <a:t>Merge</a:t>
            </a:r>
          </a:p>
        </p:txBody>
      </p:sp>
      <p:sp>
        <p:nvSpPr>
          <p:cNvPr id="55" name="TextBox 54"/>
          <p:cNvSpPr txBox="1"/>
          <p:nvPr/>
        </p:nvSpPr>
        <p:spPr>
          <a:xfrm>
            <a:off x="10309860" y="3810000"/>
            <a:ext cx="1333500" cy="263652"/>
          </a:xfrm>
          <a:prstGeom prst="rect">
            <a:avLst/>
          </a:prstGeom>
          <a:noFill/>
        </p:spPr>
        <p:txBody>
          <a:bodyPr wrap="none" lIns="0" rIns="0" tIns="0" bIns="0">
            <a:noAutofit/>
          </a:bodyPr>
          <a:lstStyle/>
          <a:p>
            <a:pPr algn="l">
              <a:lnSpc>
                <a:spcPct val="123000"/>
              </a:lnSpc>
              <a:spcBef>
                <a:spcPts val="0"/>
              </a:spcBef>
              <a:spcAft>
                <a:spcPts val="0"/>
              </a:spcAft>
              <a:defRPr sz="1200" b="0">
                <a:solidFill>
                  <a:srgbClr val="172C36"/>
                </a:solidFill>
                <a:latin typeface="Arial"/>
              </a:defRPr>
            </a:pPr>
            <a:r>
              <a:t>integrieren</a:t>
            </a:r>
          </a:p>
        </p:txBody>
      </p:sp>
      <p:cxnSp>
        <p:nvCxnSpPr>
          <p:cNvPr id="56" name="Connector 55"/>
          <p:cNvCxnSpPr/>
          <p:nvPr/>
        </p:nvCxnSpPr>
        <p:spPr>
          <a:xfrm>
            <a:off x="9906000" y="4686300"/>
            <a:ext cx="0" cy="457200"/>
          </a:xfrm>
          <a:prstGeom prst="line">
            <a:avLst/>
          </a:prstGeom>
          <a:ln w="3048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4533900" y="5143500"/>
            <a:ext cx="5372100" cy="0"/>
          </a:xfrm>
          <a:prstGeom prst="line">
            <a:avLst/>
          </a:prstGeom>
          <a:ln w="3048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533900" y="4686300"/>
            <a:ext cx="0" cy="457200"/>
          </a:xfrm>
          <a:prstGeom prst="line">
            <a:avLst/>
          </a:prstGeom>
          <a:ln w="30480">
            <a:solidFill>
              <a:srgbClr val="172C36"/>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4594860" y="5250180"/>
            <a:ext cx="5334000" cy="319887"/>
          </a:xfrm>
          <a:prstGeom prst="rect">
            <a:avLst/>
          </a:prstGeom>
          <a:noFill/>
        </p:spPr>
        <p:txBody>
          <a:bodyPr wrap="none" lIns="0" rIns="0" tIns="0" bIns="0">
            <a:noAutofit/>
          </a:bodyPr>
          <a:lstStyle/>
          <a:p>
            <a:pPr algn="ctr">
              <a:lnSpc>
                <a:spcPct val="123000"/>
              </a:lnSpc>
              <a:spcBef>
                <a:spcPts val="0"/>
              </a:spcBef>
              <a:spcAft>
                <a:spcPts val="0"/>
              </a:spcAft>
              <a:defRPr sz="1560" b="0">
                <a:solidFill>
                  <a:srgbClr val="172C36"/>
                </a:solidFill>
                <a:latin typeface="Arial"/>
              </a:defRPr>
            </a:pPr>
            <a:r>
              <a:t>Feedback → neuer Commit → gleicher PR</a:t>
            </a:r>
          </a:p>
        </p:txBody>
      </p:sp>
      <p:sp>
        <p:nvSpPr>
          <p:cNvPr id="60" name="Rounded Rectangle 59"/>
          <p:cNvSpPr/>
          <p:nvPr/>
        </p:nvSpPr>
        <p:spPr>
          <a:xfrm>
            <a:off x="548640" y="5684520"/>
            <a:ext cx="11094720" cy="472440"/>
          </a:xfrm>
          <a:prstGeom prst="roundRect">
            <a:avLst>
              <a:gd name="adj" fmla="val 22580"/>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172C36"/>
                </a:solidFill>
                <a:latin typeface="Arial"/>
              </a:defRPr>
            </a:pPr>
            <a:r>
              <a:t>main bleibt der gemeinsam geprüfte Stand.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DAF975"/>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AAB9BD"/>
                </a:solidFill>
                <a:latin typeface="Arial"/>
              </a:defRPr>
            </a:pPr>
            <a:r>
              <a:t>PRAXIS 01 / MINUTE 15–35</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F5F3EA"/>
                </a:solidFill>
                <a:latin typeface="Arial"/>
              </a:defRPr>
            </a:pPr>
            <a:r>
              <a:t>Euer erster Pull Request.</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AAB9BD"/>
                </a:solidFill>
                <a:latin typeface="Arial"/>
              </a:defRPr>
            </a:pPr>
            <a:r>
              <a:t>Ein Auftrag pro Team. Nach dem ersten Commit wechselt das Keyboard.</a:t>
            </a:r>
          </a:p>
        </p:txBody>
      </p:sp>
      <p:cxnSp>
        <p:nvCxnSpPr>
          <p:cNvPr id="7" name="Connector 6"/>
          <p:cNvCxnSpPr/>
          <p:nvPr/>
        </p:nvCxnSpPr>
        <p:spPr>
          <a:xfrm>
            <a:off x="548640" y="6362700"/>
            <a:ext cx="11094720" cy="0"/>
          </a:xfrm>
          <a:prstGeom prst="line">
            <a:avLst/>
          </a:prstGeom>
          <a:ln w="11429">
            <a:solidFill>
              <a:srgbClr val="42555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AAB9BD"/>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F5F3EA"/>
                </a:solidFill>
                <a:latin typeface="Arial"/>
              </a:defRPr>
            </a:pPr>
            <a:r>
              <a:t>10</a:t>
            </a:r>
          </a:p>
        </p:txBody>
      </p:sp>
      <p:sp>
        <p:nvSpPr>
          <p:cNvPr id="10" name="TextBox 9"/>
          <p:cNvSpPr txBox="1"/>
          <p:nvPr/>
        </p:nvSpPr>
        <p:spPr>
          <a:xfrm>
            <a:off x="586740" y="2148840"/>
            <a:ext cx="2590800" cy="1660169"/>
          </a:xfrm>
          <a:prstGeom prst="rect">
            <a:avLst/>
          </a:prstGeom>
          <a:noFill/>
        </p:spPr>
        <p:txBody>
          <a:bodyPr wrap="none" lIns="0" rIns="0" tIns="0" bIns="0">
            <a:noAutofit/>
          </a:bodyPr>
          <a:lstStyle/>
          <a:p>
            <a:pPr algn="l">
              <a:lnSpc>
                <a:spcPct val="123000"/>
              </a:lnSpc>
              <a:spcBef>
                <a:spcPts val="0"/>
              </a:spcBef>
              <a:spcAft>
                <a:spcPts val="0"/>
              </a:spcAft>
              <a:defRPr sz="10140" b="1">
                <a:solidFill>
                  <a:srgbClr val="DAF975"/>
                </a:solidFill>
                <a:latin typeface="Arial"/>
              </a:defRPr>
            </a:pPr>
            <a:r>
              <a:t>20</a:t>
            </a:r>
          </a:p>
        </p:txBody>
      </p:sp>
      <p:sp>
        <p:nvSpPr>
          <p:cNvPr id="11" name="TextBox 10"/>
          <p:cNvSpPr txBox="1"/>
          <p:nvPr/>
        </p:nvSpPr>
        <p:spPr>
          <a:xfrm>
            <a:off x="624840" y="3467100"/>
            <a:ext cx="2438400" cy="366750"/>
          </a:xfrm>
          <a:prstGeom prst="rect">
            <a:avLst/>
          </a:prstGeom>
          <a:noFill/>
        </p:spPr>
        <p:txBody>
          <a:bodyPr wrap="none" lIns="0" rIns="0" tIns="0" bIns="0">
            <a:noAutofit/>
          </a:bodyPr>
          <a:lstStyle/>
          <a:p>
            <a:pPr algn="l">
              <a:lnSpc>
                <a:spcPct val="123000"/>
              </a:lnSpc>
              <a:spcBef>
                <a:spcPts val="0"/>
              </a:spcBef>
              <a:spcAft>
                <a:spcPts val="0"/>
              </a:spcAft>
              <a:defRPr sz="1859" b="1">
                <a:solidFill>
                  <a:srgbClr val="DAF975"/>
                </a:solidFill>
                <a:latin typeface="Arial"/>
              </a:defRPr>
            </a:pPr>
            <a:r>
              <a:t>MINUTEN</a:t>
            </a:r>
          </a:p>
        </p:txBody>
      </p:sp>
      <p:sp>
        <p:nvSpPr>
          <p:cNvPr id="12" name="Oval 11"/>
          <p:cNvSpPr/>
          <p:nvPr/>
        </p:nvSpPr>
        <p:spPr>
          <a:xfrm>
            <a:off x="3611880" y="2156460"/>
            <a:ext cx="396240" cy="39624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9500" y="2202180"/>
            <a:ext cx="381000" cy="319887"/>
          </a:xfrm>
          <a:prstGeom prst="rect">
            <a:avLst/>
          </a:prstGeom>
          <a:noFill/>
        </p:spPr>
        <p:txBody>
          <a:bodyPr wrap="none" lIns="0" rIns="0" tIns="0" bIns="0">
            <a:noAutofit/>
          </a:bodyPr>
          <a:lstStyle/>
          <a:p>
            <a:pPr algn="ctr">
              <a:lnSpc>
                <a:spcPct val="123000"/>
              </a:lnSpc>
              <a:spcBef>
                <a:spcPts val="0"/>
              </a:spcBef>
              <a:spcAft>
                <a:spcPts val="0"/>
              </a:spcAft>
              <a:defRPr sz="1560" b="1">
                <a:solidFill>
                  <a:srgbClr val="172C36"/>
                </a:solidFill>
                <a:latin typeface="Arial"/>
              </a:defRPr>
            </a:pPr>
            <a:r>
              <a:t>1</a:t>
            </a:r>
          </a:p>
        </p:txBody>
      </p:sp>
      <p:sp>
        <p:nvSpPr>
          <p:cNvPr id="14" name="TextBox 13"/>
          <p:cNvSpPr txBox="1"/>
          <p:nvPr/>
        </p:nvSpPr>
        <p:spPr>
          <a:xfrm>
            <a:off x="4175760" y="2202180"/>
            <a:ext cx="2743200" cy="348005"/>
          </a:xfrm>
          <a:prstGeom prst="rect">
            <a:avLst/>
          </a:prstGeom>
          <a:noFill/>
        </p:spPr>
        <p:txBody>
          <a:bodyPr wrap="none" lIns="0" rIns="0" tIns="0" bIns="0">
            <a:noAutofit/>
          </a:bodyPr>
          <a:lstStyle/>
          <a:p>
            <a:pPr algn="l">
              <a:lnSpc>
                <a:spcPct val="123000"/>
              </a:lnSpc>
              <a:spcBef>
                <a:spcPts val="0"/>
              </a:spcBef>
              <a:spcAft>
                <a:spcPts val="0"/>
              </a:spcAft>
              <a:defRPr sz="1739" b="1">
                <a:solidFill>
                  <a:srgbClr val="F5F3EA"/>
                </a:solidFill>
                <a:latin typeface="Arial"/>
              </a:defRPr>
            </a:pPr>
            <a:r>
              <a:t>Startseite</a:t>
            </a:r>
          </a:p>
        </p:txBody>
      </p:sp>
      <p:sp>
        <p:nvSpPr>
          <p:cNvPr id="15" name="Oval 14"/>
          <p:cNvSpPr/>
          <p:nvPr/>
        </p:nvSpPr>
        <p:spPr>
          <a:xfrm>
            <a:off x="3611880" y="2811780"/>
            <a:ext cx="396240" cy="39624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9500" y="2857500"/>
            <a:ext cx="381000" cy="319887"/>
          </a:xfrm>
          <a:prstGeom prst="rect">
            <a:avLst/>
          </a:prstGeom>
          <a:noFill/>
        </p:spPr>
        <p:txBody>
          <a:bodyPr wrap="none" lIns="0" rIns="0" tIns="0" bIns="0">
            <a:noAutofit/>
          </a:bodyPr>
          <a:lstStyle/>
          <a:p>
            <a:pPr algn="ctr">
              <a:lnSpc>
                <a:spcPct val="123000"/>
              </a:lnSpc>
              <a:spcBef>
                <a:spcPts val="0"/>
              </a:spcBef>
              <a:spcAft>
                <a:spcPts val="0"/>
              </a:spcAft>
              <a:defRPr sz="1560" b="1">
                <a:solidFill>
                  <a:srgbClr val="172C36"/>
                </a:solidFill>
                <a:latin typeface="Arial"/>
              </a:defRPr>
            </a:pPr>
            <a:r>
              <a:t>2</a:t>
            </a:r>
          </a:p>
        </p:txBody>
      </p:sp>
      <p:sp>
        <p:nvSpPr>
          <p:cNvPr id="17" name="TextBox 16"/>
          <p:cNvSpPr txBox="1"/>
          <p:nvPr/>
        </p:nvSpPr>
        <p:spPr>
          <a:xfrm>
            <a:off x="4175760" y="2857500"/>
            <a:ext cx="2743200" cy="348005"/>
          </a:xfrm>
          <a:prstGeom prst="rect">
            <a:avLst/>
          </a:prstGeom>
          <a:noFill/>
        </p:spPr>
        <p:txBody>
          <a:bodyPr wrap="none" lIns="0" rIns="0" tIns="0" bIns="0">
            <a:noAutofit/>
          </a:bodyPr>
          <a:lstStyle/>
          <a:p>
            <a:pPr algn="l">
              <a:lnSpc>
                <a:spcPct val="123000"/>
              </a:lnSpc>
              <a:spcBef>
                <a:spcPts val="0"/>
              </a:spcBef>
              <a:spcAft>
                <a:spcPts val="0"/>
              </a:spcAft>
              <a:defRPr sz="1739" b="1">
                <a:solidFill>
                  <a:srgbClr val="F5F3EA"/>
                </a:solidFill>
                <a:latin typeface="Arial"/>
              </a:defRPr>
            </a:pPr>
            <a:r>
              <a:t>Programm</a:t>
            </a:r>
          </a:p>
        </p:txBody>
      </p:sp>
      <p:sp>
        <p:nvSpPr>
          <p:cNvPr id="18" name="Oval 17"/>
          <p:cNvSpPr/>
          <p:nvPr/>
        </p:nvSpPr>
        <p:spPr>
          <a:xfrm>
            <a:off x="3611880" y="3467100"/>
            <a:ext cx="396240" cy="396240"/>
          </a:xfrm>
          <a:prstGeom prst="ellipse">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9500" y="3512820"/>
            <a:ext cx="381000" cy="319887"/>
          </a:xfrm>
          <a:prstGeom prst="rect">
            <a:avLst/>
          </a:prstGeom>
          <a:noFill/>
        </p:spPr>
        <p:txBody>
          <a:bodyPr wrap="none" lIns="0" rIns="0" tIns="0" bIns="0">
            <a:noAutofit/>
          </a:bodyPr>
          <a:lstStyle/>
          <a:p>
            <a:pPr algn="ctr">
              <a:lnSpc>
                <a:spcPct val="123000"/>
              </a:lnSpc>
              <a:spcBef>
                <a:spcPts val="0"/>
              </a:spcBef>
              <a:spcAft>
                <a:spcPts val="0"/>
              </a:spcAft>
              <a:defRPr sz="1560" b="1">
                <a:solidFill>
                  <a:srgbClr val="172C36"/>
                </a:solidFill>
                <a:latin typeface="Arial"/>
              </a:defRPr>
            </a:pPr>
            <a:r>
              <a:t>3</a:t>
            </a:r>
          </a:p>
        </p:txBody>
      </p:sp>
      <p:sp>
        <p:nvSpPr>
          <p:cNvPr id="20" name="TextBox 19"/>
          <p:cNvSpPr txBox="1"/>
          <p:nvPr/>
        </p:nvSpPr>
        <p:spPr>
          <a:xfrm>
            <a:off x="4175760" y="3512820"/>
            <a:ext cx="2743200" cy="348005"/>
          </a:xfrm>
          <a:prstGeom prst="rect">
            <a:avLst/>
          </a:prstGeom>
          <a:noFill/>
        </p:spPr>
        <p:txBody>
          <a:bodyPr wrap="none" lIns="0" rIns="0" tIns="0" bIns="0">
            <a:noAutofit/>
          </a:bodyPr>
          <a:lstStyle/>
          <a:p>
            <a:pPr algn="l">
              <a:lnSpc>
                <a:spcPct val="123000"/>
              </a:lnSpc>
              <a:spcBef>
                <a:spcPts val="0"/>
              </a:spcBef>
              <a:spcAft>
                <a:spcPts val="0"/>
              </a:spcAft>
              <a:defRPr sz="1739" b="1">
                <a:solidFill>
                  <a:srgbClr val="F5F3EA"/>
                </a:solidFill>
                <a:latin typeface="Arial"/>
              </a:defRPr>
            </a:pPr>
            <a:r>
              <a:t>Snacks</a:t>
            </a:r>
          </a:p>
        </p:txBody>
      </p:sp>
      <p:sp>
        <p:nvSpPr>
          <p:cNvPr id="21" name="Oval 20"/>
          <p:cNvSpPr/>
          <p:nvPr/>
        </p:nvSpPr>
        <p:spPr>
          <a:xfrm>
            <a:off x="3611880" y="4122420"/>
            <a:ext cx="396240" cy="396240"/>
          </a:xfrm>
          <a:prstGeom prst="ellipse">
            <a:avLst/>
          </a:prstGeom>
          <a:solidFill>
            <a:srgbClr val="FF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19500" y="4168140"/>
            <a:ext cx="381000" cy="319887"/>
          </a:xfrm>
          <a:prstGeom prst="rect">
            <a:avLst/>
          </a:prstGeom>
          <a:noFill/>
        </p:spPr>
        <p:txBody>
          <a:bodyPr wrap="none" lIns="0" rIns="0" tIns="0" bIns="0">
            <a:noAutofit/>
          </a:bodyPr>
          <a:lstStyle/>
          <a:p>
            <a:pPr algn="ctr">
              <a:lnSpc>
                <a:spcPct val="123000"/>
              </a:lnSpc>
              <a:spcBef>
                <a:spcPts val="0"/>
              </a:spcBef>
              <a:spcAft>
                <a:spcPts val="0"/>
              </a:spcAft>
              <a:defRPr sz="1560" b="1">
                <a:solidFill>
                  <a:srgbClr val="172C36"/>
                </a:solidFill>
                <a:latin typeface="Arial"/>
              </a:defRPr>
            </a:pPr>
            <a:r>
              <a:t>4</a:t>
            </a:r>
          </a:p>
        </p:txBody>
      </p:sp>
      <p:sp>
        <p:nvSpPr>
          <p:cNvPr id="23" name="TextBox 22"/>
          <p:cNvSpPr txBox="1"/>
          <p:nvPr/>
        </p:nvSpPr>
        <p:spPr>
          <a:xfrm>
            <a:off x="4175760" y="4168140"/>
            <a:ext cx="2743200" cy="348005"/>
          </a:xfrm>
          <a:prstGeom prst="rect">
            <a:avLst/>
          </a:prstGeom>
          <a:noFill/>
        </p:spPr>
        <p:txBody>
          <a:bodyPr wrap="none" lIns="0" rIns="0" tIns="0" bIns="0">
            <a:noAutofit/>
          </a:bodyPr>
          <a:lstStyle/>
          <a:p>
            <a:pPr algn="l">
              <a:lnSpc>
                <a:spcPct val="123000"/>
              </a:lnSpc>
              <a:spcBef>
                <a:spcPts val="0"/>
              </a:spcBef>
              <a:spcAft>
                <a:spcPts val="0"/>
              </a:spcAft>
              <a:defRPr sz="1739" b="1">
                <a:solidFill>
                  <a:srgbClr val="F5F3EA"/>
                </a:solidFill>
                <a:latin typeface="Arial"/>
              </a:defRPr>
            </a:pPr>
            <a:r>
              <a:t>Kontakte</a:t>
            </a:r>
          </a:p>
        </p:txBody>
      </p:sp>
      <p:sp>
        <p:nvSpPr>
          <p:cNvPr id="24" name="Oval 23"/>
          <p:cNvSpPr/>
          <p:nvPr/>
        </p:nvSpPr>
        <p:spPr>
          <a:xfrm>
            <a:off x="3611880" y="4777740"/>
            <a:ext cx="396240" cy="39624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19500" y="4823460"/>
            <a:ext cx="381000" cy="319887"/>
          </a:xfrm>
          <a:prstGeom prst="rect">
            <a:avLst/>
          </a:prstGeom>
          <a:noFill/>
        </p:spPr>
        <p:txBody>
          <a:bodyPr wrap="none" lIns="0" rIns="0" tIns="0" bIns="0">
            <a:noAutofit/>
          </a:bodyPr>
          <a:lstStyle/>
          <a:p>
            <a:pPr algn="ctr">
              <a:lnSpc>
                <a:spcPct val="123000"/>
              </a:lnSpc>
              <a:spcBef>
                <a:spcPts val="0"/>
              </a:spcBef>
              <a:spcAft>
                <a:spcPts val="0"/>
              </a:spcAft>
              <a:defRPr sz="1560" b="1">
                <a:solidFill>
                  <a:srgbClr val="172C36"/>
                </a:solidFill>
                <a:latin typeface="Arial"/>
              </a:defRPr>
            </a:pPr>
            <a:r>
              <a:t>5</a:t>
            </a:r>
          </a:p>
        </p:txBody>
      </p:sp>
      <p:sp>
        <p:nvSpPr>
          <p:cNvPr id="26" name="TextBox 25"/>
          <p:cNvSpPr txBox="1"/>
          <p:nvPr/>
        </p:nvSpPr>
        <p:spPr>
          <a:xfrm>
            <a:off x="4175760" y="4823460"/>
            <a:ext cx="2743200" cy="348005"/>
          </a:xfrm>
          <a:prstGeom prst="rect">
            <a:avLst/>
          </a:prstGeom>
          <a:noFill/>
        </p:spPr>
        <p:txBody>
          <a:bodyPr wrap="none" lIns="0" rIns="0" tIns="0" bIns="0">
            <a:noAutofit/>
          </a:bodyPr>
          <a:lstStyle/>
          <a:p>
            <a:pPr algn="l">
              <a:lnSpc>
                <a:spcPct val="123000"/>
              </a:lnSpc>
              <a:spcBef>
                <a:spcPts val="0"/>
              </a:spcBef>
              <a:spcAft>
                <a:spcPts val="0"/>
              </a:spcAft>
              <a:defRPr sz="1739" b="1">
                <a:solidFill>
                  <a:srgbClr val="F5F3EA"/>
                </a:solidFill>
                <a:latin typeface="Arial"/>
              </a:defRPr>
            </a:pPr>
            <a:r>
              <a:t>Status</a:t>
            </a:r>
          </a:p>
        </p:txBody>
      </p:sp>
      <p:sp>
        <p:nvSpPr>
          <p:cNvPr id="27" name="Rounded Rectangle 26"/>
          <p:cNvSpPr/>
          <p:nvPr/>
        </p:nvSpPr>
        <p:spPr>
          <a:xfrm>
            <a:off x="7338060" y="2148840"/>
            <a:ext cx="4305300" cy="3124200"/>
          </a:xfrm>
          <a:prstGeom prst="roundRect">
            <a:avLst>
              <a:gd name="adj" fmla="val 6341"/>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04760" y="2506980"/>
            <a:ext cx="381000" cy="329260"/>
          </a:xfrm>
          <a:prstGeom prst="rect">
            <a:avLst/>
          </a:prstGeom>
          <a:noFill/>
        </p:spPr>
        <p:txBody>
          <a:bodyPr wrap="none" lIns="0" rIns="0" tIns="0" bIns="0">
            <a:noAutofit/>
          </a:bodyPr>
          <a:lstStyle/>
          <a:p>
            <a:pPr algn="l">
              <a:lnSpc>
                <a:spcPct val="123000"/>
              </a:lnSpc>
              <a:spcBef>
                <a:spcPts val="0"/>
              </a:spcBef>
              <a:spcAft>
                <a:spcPts val="0"/>
              </a:spcAft>
              <a:defRPr sz="1620" b="1">
                <a:solidFill>
                  <a:srgbClr val="DAF975"/>
                </a:solidFill>
                <a:latin typeface="Arial"/>
              </a:defRPr>
            </a:pPr>
            <a:r>
              <a:t>1</a:t>
            </a:r>
          </a:p>
        </p:txBody>
      </p:sp>
      <p:sp>
        <p:nvSpPr>
          <p:cNvPr id="29" name="TextBox 28"/>
          <p:cNvSpPr txBox="1"/>
          <p:nvPr/>
        </p:nvSpPr>
        <p:spPr>
          <a:xfrm>
            <a:off x="8008620" y="2506980"/>
            <a:ext cx="3314700" cy="357378"/>
          </a:xfrm>
          <a:prstGeom prst="rect">
            <a:avLst/>
          </a:prstGeom>
          <a:noFill/>
        </p:spPr>
        <p:txBody>
          <a:bodyPr wrap="none" lIns="0" rIns="0" tIns="0" bIns="0">
            <a:noAutofit/>
          </a:bodyPr>
          <a:lstStyle/>
          <a:p>
            <a:pPr algn="l">
              <a:lnSpc>
                <a:spcPct val="123000"/>
              </a:lnSpc>
              <a:spcBef>
                <a:spcPts val="0"/>
              </a:spcBef>
              <a:spcAft>
                <a:spcPts val="0"/>
              </a:spcAft>
              <a:defRPr sz="1800" b="1">
                <a:solidFill>
                  <a:srgbClr val="F5F3EA"/>
                </a:solidFill>
                <a:latin typeface="Arial"/>
              </a:defRPr>
            </a:pPr>
            <a:r>
              <a:t>Branch erstellen</a:t>
            </a:r>
          </a:p>
        </p:txBody>
      </p:sp>
      <p:sp>
        <p:nvSpPr>
          <p:cNvPr id="30" name="TextBox 29"/>
          <p:cNvSpPr txBox="1"/>
          <p:nvPr/>
        </p:nvSpPr>
        <p:spPr>
          <a:xfrm>
            <a:off x="7604760" y="3337560"/>
            <a:ext cx="381000" cy="329260"/>
          </a:xfrm>
          <a:prstGeom prst="rect">
            <a:avLst/>
          </a:prstGeom>
          <a:noFill/>
        </p:spPr>
        <p:txBody>
          <a:bodyPr wrap="none" lIns="0" rIns="0" tIns="0" bIns="0">
            <a:noAutofit/>
          </a:bodyPr>
          <a:lstStyle/>
          <a:p>
            <a:pPr algn="l">
              <a:lnSpc>
                <a:spcPct val="123000"/>
              </a:lnSpc>
              <a:spcBef>
                <a:spcPts val="0"/>
              </a:spcBef>
              <a:spcAft>
                <a:spcPts val="0"/>
              </a:spcAft>
              <a:defRPr sz="1620" b="1">
                <a:solidFill>
                  <a:srgbClr val="DAF975"/>
                </a:solidFill>
                <a:latin typeface="Arial"/>
              </a:defRPr>
            </a:pPr>
            <a:r>
              <a:t>2</a:t>
            </a:r>
          </a:p>
        </p:txBody>
      </p:sp>
      <p:sp>
        <p:nvSpPr>
          <p:cNvPr id="31" name="TextBox 30"/>
          <p:cNvSpPr txBox="1"/>
          <p:nvPr/>
        </p:nvSpPr>
        <p:spPr>
          <a:xfrm>
            <a:off x="8008620" y="3337560"/>
            <a:ext cx="3314700" cy="357378"/>
          </a:xfrm>
          <a:prstGeom prst="rect">
            <a:avLst/>
          </a:prstGeom>
          <a:noFill/>
        </p:spPr>
        <p:txBody>
          <a:bodyPr wrap="none" lIns="0" rIns="0" tIns="0" bIns="0">
            <a:noAutofit/>
          </a:bodyPr>
          <a:lstStyle/>
          <a:p>
            <a:pPr algn="l">
              <a:lnSpc>
                <a:spcPct val="123000"/>
              </a:lnSpc>
              <a:spcBef>
                <a:spcPts val="0"/>
              </a:spcBef>
              <a:spcAft>
                <a:spcPts val="0"/>
              </a:spcAft>
              <a:defRPr sz="1800" b="1">
                <a:solidFill>
                  <a:srgbClr val="F5F3EA"/>
                </a:solidFill>
                <a:latin typeface="Arial"/>
              </a:defRPr>
            </a:pPr>
            <a:r>
              <a:t>Zwei sinnvolle Commits</a:t>
            </a:r>
          </a:p>
        </p:txBody>
      </p:sp>
      <p:sp>
        <p:nvSpPr>
          <p:cNvPr id="32" name="TextBox 31"/>
          <p:cNvSpPr txBox="1"/>
          <p:nvPr/>
        </p:nvSpPr>
        <p:spPr>
          <a:xfrm>
            <a:off x="7604760" y="4168140"/>
            <a:ext cx="381000" cy="329260"/>
          </a:xfrm>
          <a:prstGeom prst="rect">
            <a:avLst/>
          </a:prstGeom>
          <a:noFill/>
        </p:spPr>
        <p:txBody>
          <a:bodyPr wrap="none" lIns="0" rIns="0" tIns="0" bIns="0">
            <a:noAutofit/>
          </a:bodyPr>
          <a:lstStyle/>
          <a:p>
            <a:pPr algn="l">
              <a:lnSpc>
                <a:spcPct val="123000"/>
              </a:lnSpc>
              <a:spcBef>
                <a:spcPts val="0"/>
              </a:spcBef>
              <a:spcAft>
                <a:spcPts val="0"/>
              </a:spcAft>
              <a:defRPr sz="1620" b="1">
                <a:solidFill>
                  <a:srgbClr val="DAF975"/>
                </a:solidFill>
                <a:latin typeface="Arial"/>
              </a:defRPr>
            </a:pPr>
            <a:r>
              <a:t>3</a:t>
            </a:r>
          </a:p>
        </p:txBody>
      </p:sp>
      <p:sp>
        <p:nvSpPr>
          <p:cNvPr id="33" name="TextBox 32"/>
          <p:cNvSpPr txBox="1"/>
          <p:nvPr/>
        </p:nvSpPr>
        <p:spPr>
          <a:xfrm>
            <a:off x="8008620" y="4168140"/>
            <a:ext cx="3314700" cy="357378"/>
          </a:xfrm>
          <a:prstGeom prst="rect">
            <a:avLst/>
          </a:prstGeom>
          <a:noFill/>
        </p:spPr>
        <p:txBody>
          <a:bodyPr wrap="none" lIns="0" rIns="0" tIns="0" bIns="0">
            <a:noAutofit/>
          </a:bodyPr>
          <a:lstStyle/>
          <a:p>
            <a:pPr algn="l">
              <a:lnSpc>
                <a:spcPct val="123000"/>
              </a:lnSpc>
              <a:spcBef>
                <a:spcPts val="0"/>
              </a:spcBef>
              <a:spcAft>
                <a:spcPts val="0"/>
              </a:spcAft>
              <a:defRPr sz="1800" b="1">
                <a:solidFill>
                  <a:srgbClr val="F5F3EA"/>
                </a:solidFill>
                <a:latin typeface="Arial"/>
              </a:defRPr>
            </a:pPr>
            <a:r>
              <a:t>Push + PR beschreiben</a:t>
            </a:r>
          </a:p>
        </p:txBody>
      </p:sp>
      <p:sp>
        <p:nvSpPr>
          <p:cNvPr id="34" name="Rounded Rectangle 33"/>
          <p:cNvSpPr/>
          <p:nvPr/>
        </p:nvSpPr>
        <p:spPr>
          <a:xfrm>
            <a:off x="548640" y="5684520"/>
            <a:ext cx="11094720" cy="472440"/>
          </a:xfrm>
          <a:prstGeom prst="roundRect">
            <a:avLst>
              <a:gd name="adj" fmla="val 22580"/>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F5F3EA"/>
                </a:solidFill>
                <a:latin typeface="Arial"/>
              </a:defRPr>
            </a:pPr>
            <a:r>
              <a:t>Checkpoint: 5 offene PRs. Ziel und Prüfung sind beschrieben. Noch nicht mergen.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172C36"/>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576B70"/>
                </a:solidFill>
                <a:latin typeface="Arial"/>
              </a:defRPr>
            </a:pPr>
            <a:r>
              <a:t>PRINZIP 06 / REVIEW</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172C36"/>
                </a:solidFill>
                <a:latin typeface="Arial"/>
              </a:defRPr>
            </a:pPr>
            <a:r>
              <a:t>Ein PR macht Entscheidungen sichtbar.</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576B70"/>
                </a:solidFill>
                <a:latin typeface="Arial"/>
              </a:defRPr>
            </a:pPr>
            <a:r>
              <a:t>Der Diff zeigt das Was. Die Diskussion klärt das Warum.</a:t>
            </a:r>
          </a:p>
        </p:txBody>
      </p:sp>
      <p:cxnSp>
        <p:nvCxnSpPr>
          <p:cNvPr id="7" name="Connector 6"/>
          <p:cNvCxnSpPr/>
          <p:nvPr/>
        </p:nvCxnSpPr>
        <p:spPr>
          <a:xfrm>
            <a:off x="548640" y="6362700"/>
            <a:ext cx="11094720" cy="0"/>
          </a:xfrm>
          <a:prstGeom prst="line">
            <a:avLst/>
          </a:prstGeom>
          <a:ln w="11429">
            <a:solidFill>
              <a:srgbClr val="D2D9D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576B70"/>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172C36"/>
                </a:solidFill>
                <a:latin typeface="Arial"/>
              </a:defRPr>
            </a:pPr>
            <a:r>
              <a:t>11</a:t>
            </a:r>
          </a:p>
        </p:txBody>
      </p:sp>
      <p:sp>
        <p:nvSpPr>
          <p:cNvPr id="10" name="Rounded Rectangle 9"/>
          <p:cNvSpPr/>
          <p:nvPr/>
        </p:nvSpPr>
        <p:spPr>
          <a:xfrm>
            <a:off x="632460" y="2133600"/>
            <a:ext cx="6316980" cy="3345180"/>
          </a:xfrm>
          <a:prstGeom prst="roundRect">
            <a:avLst>
              <a:gd name="adj" fmla="val 546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680" y="2362200"/>
            <a:ext cx="1874519" cy="365760"/>
          </a:xfrm>
          <a:prstGeom prst="roundRect">
            <a:avLst>
              <a:gd name="adj" fmla="val 50000"/>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4880" y="2430780"/>
            <a:ext cx="172212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program.md</a:t>
            </a:r>
          </a:p>
        </p:txBody>
      </p:sp>
      <p:sp>
        <p:nvSpPr>
          <p:cNvPr id="13" name="Rounded Rectangle 12"/>
          <p:cNvSpPr/>
          <p:nvPr/>
        </p:nvSpPr>
        <p:spPr>
          <a:xfrm>
            <a:off x="861060" y="3048000"/>
            <a:ext cx="5859780" cy="708660"/>
          </a:xfrm>
          <a:prstGeom prst="roundRect">
            <a:avLst>
              <a:gd name="adj" fmla="val 12903"/>
            </a:avLst>
          </a:prstGeom>
          <a:solidFill>
            <a:srgbClr val="FAD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1080" y="3268980"/>
            <a:ext cx="5562600" cy="366750"/>
          </a:xfrm>
          <a:prstGeom prst="rect">
            <a:avLst/>
          </a:prstGeom>
          <a:noFill/>
        </p:spPr>
        <p:txBody>
          <a:bodyPr wrap="none" lIns="0" rIns="0" tIns="0" bIns="0">
            <a:noAutofit/>
          </a:bodyPr>
          <a:lstStyle/>
          <a:p>
            <a:pPr algn="l">
              <a:lnSpc>
                <a:spcPct val="123000"/>
              </a:lnSpc>
              <a:spcBef>
                <a:spcPts val="0"/>
              </a:spcBef>
              <a:spcAft>
                <a:spcPts val="0"/>
              </a:spcAft>
              <a:defRPr sz="1859" b="1">
                <a:solidFill>
                  <a:srgbClr val="172C36"/>
                </a:solidFill>
                <a:latin typeface="Courier New"/>
              </a:defRPr>
            </a:pPr>
            <a:r>
              <a:t>− 16:30 Filmwerkstatt</a:t>
            </a:r>
          </a:p>
        </p:txBody>
      </p:sp>
      <p:sp>
        <p:nvSpPr>
          <p:cNvPr id="15" name="Rounded Rectangle 14"/>
          <p:cNvSpPr/>
          <p:nvPr/>
        </p:nvSpPr>
        <p:spPr>
          <a:xfrm>
            <a:off x="861060" y="3916680"/>
            <a:ext cx="5859780" cy="914400"/>
          </a:xfrm>
          <a:prstGeom prst="roundRect">
            <a:avLst>
              <a:gd name="adj" fmla="val 10000"/>
            </a:avLst>
          </a:prstGeom>
          <a:solidFill>
            <a:srgbClr val="E5F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1080" y="4183380"/>
            <a:ext cx="5562600" cy="348005"/>
          </a:xfrm>
          <a:prstGeom prst="rect">
            <a:avLst/>
          </a:prstGeom>
          <a:noFill/>
        </p:spPr>
        <p:txBody>
          <a:bodyPr wrap="none" lIns="0" rIns="0" tIns="0" bIns="0">
            <a:noAutofit/>
          </a:bodyPr>
          <a:lstStyle/>
          <a:p>
            <a:pPr algn="l">
              <a:lnSpc>
                <a:spcPct val="123000"/>
              </a:lnSpc>
              <a:spcBef>
                <a:spcPts val="0"/>
              </a:spcBef>
              <a:spcAft>
                <a:spcPts val="0"/>
              </a:spcAft>
              <a:defRPr sz="1739" b="1">
                <a:solidFill>
                  <a:srgbClr val="172C36"/>
                </a:solidFill>
                <a:latin typeface="Courier New"/>
              </a:defRPr>
            </a:pPr>
            <a:r>
              <a:t>+ 16:30 Filmwerkstatt, Raum B</a:t>
            </a:r>
          </a:p>
        </p:txBody>
      </p:sp>
      <p:sp>
        <p:nvSpPr>
          <p:cNvPr id="17" name="Rounded Rectangle 16"/>
          <p:cNvSpPr/>
          <p:nvPr/>
        </p:nvSpPr>
        <p:spPr>
          <a:xfrm>
            <a:off x="7475220" y="2491740"/>
            <a:ext cx="4023360" cy="1607820"/>
          </a:xfrm>
          <a:prstGeom prst="roundRect">
            <a:avLst>
              <a:gd name="adj" fmla="val 10900"/>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6199" y="2697480"/>
            <a:ext cx="3314700" cy="273024"/>
          </a:xfrm>
          <a:prstGeom prst="rect">
            <a:avLst/>
          </a:prstGeom>
          <a:noFill/>
        </p:spPr>
        <p:txBody>
          <a:bodyPr wrap="none" lIns="0" rIns="0" tIns="0" bIns="0">
            <a:noAutofit/>
          </a:bodyPr>
          <a:lstStyle/>
          <a:p>
            <a:pPr algn="l">
              <a:lnSpc>
                <a:spcPct val="123000"/>
              </a:lnSpc>
              <a:spcBef>
                <a:spcPts val="0"/>
              </a:spcBef>
              <a:spcAft>
                <a:spcPts val="0"/>
              </a:spcAft>
              <a:defRPr sz="1260" b="1">
                <a:solidFill>
                  <a:srgbClr val="172C36"/>
                </a:solidFill>
                <a:latin typeface="Arial"/>
              </a:defRPr>
            </a:pPr>
            <a:r>
              <a:t>REVIEW</a:t>
            </a:r>
          </a:p>
        </p:txBody>
      </p:sp>
      <p:sp>
        <p:nvSpPr>
          <p:cNvPr id="19" name="TextBox 18"/>
          <p:cNvSpPr txBox="1"/>
          <p:nvPr/>
        </p:nvSpPr>
        <p:spPr>
          <a:xfrm>
            <a:off x="7696199" y="3108960"/>
            <a:ext cx="3467100" cy="601065"/>
          </a:xfrm>
          <a:prstGeom prst="rect">
            <a:avLst/>
          </a:prstGeom>
          <a:noFill/>
        </p:spPr>
        <p:txBody>
          <a:bodyPr wrap="none" lIns="0" rIns="0" tIns="0" bIns="0">
            <a:noAutofit/>
          </a:bodyPr>
          <a:lstStyle/>
          <a:p>
            <a:pPr algn="l">
              <a:lnSpc>
                <a:spcPct val="123000"/>
              </a:lnSpc>
              <a:spcBef>
                <a:spcPts val="0"/>
              </a:spcBef>
              <a:spcAft>
                <a:spcPts val="0"/>
              </a:spcAft>
              <a:defRPr sz="1680" b="1">
                <a:solidFill>
                  <a:srgbClr val="172C36"/>
                </a:solidFill>
                <a:latin typeface="Arial"/>
              </a:defRPr>
            </a:pPr>
            <a:r>
              <a:t>„Wo findet der neue Slot statt?</a:t>
            </a:r>
          </a:p>
          <a:p>
            <a:pPr algn="l">
              <a:lnSpc>
                <a:spcPct val="123000"/>
              </a:lnSpc>
              <a:spcBef>
                <a:spcPts val="0"/>
              </a:spcBef>
              <a:spcAft>
                <a:spcPts val="0"/>
              </a:spcAft>
              <a:defRPr sz="1680" b="1">
                <a:solidFill>
                  <a:srgbClr val="172C36"/>
                </a:solidFill>
                <a:latin typeface="Arial"/>
              </a:defRPr>
            </a:pPr>
            <a:r>
              <a:t>Bitte den Ort ergänzen.“</a:t>
            </a:r>
          </a:p>
        </p:txBody>
      </p:sp>
      <p:sp>
        <p:nvSpPr>
          <p:cNvPr id="20" name="Rounded Rectangle 19"/>
          <p:cNvSpPr/>
          <p:nvPr/>
        </p:nvSpPr>
        <p:spPr>
          <a:xfrm>
            <a:off x="7475220" y="4450080"/>
            <a:ext cx="1112520" cy="365760"/>
          </a:xfrm>
          <a:prstGeom prst="roundRect">
            <a:avLst>
              <a:gd name="adj" fmla="val 50000"/>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51420" y="4518660"/>
            <a:ext cx="96012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prüfen</a:t>
            </a:r>
          </a:p>
        </p:txBody>
      </p:sp>
      <p:cxnSp>
        <p:nvCxnSpPr>
          <p:cNvPr id="22" name="Connector 21"/>
          <p:cNvCxnSpPr/>
          <p:nvPr/>
        </p:nvCxnSpPr>
        <p:spPr>
          <a:xfrm>
            <a:off x="8724900" y="4632960"/>
            <a:ext cx="419100" cy="0"/>
          </a:xfrm>
          <a:prstGeom prst="line">
            <a:avLst/>
          </a:prstGeom>
          <a:ln w="3048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9037005" y="4632960"/>
            <a:ext cx="106995" cy="58451"/>
          </a:xfrm>
          <a:prstGeom prst="line">
            <a:avLst/>
          </a:prstGeom>
          <a:ln w="3048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9037005" y="4574508"/>
            <a:ext cx="106995" cy="58452"/>
          </a:xfrm>
          <a:prstGeom prst="line">
            <a:avLst/>
          </a:prstGeom>
          <a:ln w="30480">
            <a:solidFill>
              <a:srgbClr val="172C3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334500" y="4450080"/>
            <a:ext cx="1524000"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0700" y="4518660"/>
            <a:ext cx="13716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Approve</a:t>
            </a:r>
          </a:p>
        </p:txBody>
      </p:sp>
      <p:sp>
        <p:nvSpPr>
          <p:cNvPr id="27" name="Rounded Rectangle 26"/>
          <p:cNvSpPr/>
          <p:nvPr/>
        </p:nvSpPr>
        <p:spPr>
          <a:xfrm>
            <a:off x="548640" y="5684520"/>
            <a:ext cx="11094720" cy="472440"/>
          </a:xfrm>
          <a:prstGeom prst="roundRect">
            <a:avLst>
              <a:gd name="adj" fmla="val 22580"/>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172C36"/>
                </a:solidFill>
                <a:latin typeface="Arial"/>
              </a:defRPr>
            </a:pPr>
            <a:r>
              <a:t>Rückmeldung → Nachbesserung → erneute Prüfung → Freigabe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DAF975"/>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AAB9BD"/>
                </a:solidFill>
                <a:latin typeface="Arial"/>
              </a:defRPr>
            </a:pPr>
            <a:r>
              <a:t>PRAXIS 02 / MINUTE 35–55</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F5F3EA"/>
                </a:solidFill>
                <a:latin typeface="Arial"/>
              </a:defRPr>
            </a:pPr>
            <a:r>
              <a:t>Jetzt prüft das nächste Team.</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AAB9BD"/>
                </a:solidFill>
                <a:latin typeface="Arial"/>
              </a:defRPr>
            </a:pPr>
            <a:r>
              <a:t>Beide Personen schreiben einen sichtbaren Review-Beitrag.</a:t>
            </a:r>
          </a:p>
        </p:txBody>
      </p:sp>
      <p:cxnSp>
        <p:nvCxnSpPr>
          <p:cNvPr id="7" name="Connector 6"/>
          <p:cNvCxnSpPr/>
          <p:nvPr/>
        </p:nvCxnSpPr>
        <p:spPr>
          <a:xfrm>
            <a:off x="548640" y="6362700"/>
            <a:ext cx="11094720" cy="0"/>
          </a:xfrm>
          <a:prstGeom prst="line">
            <a:avLst/>
          </a:prstGeom>
          <a:ln w="11429">
            <a:solidFill>
              <a:srgbClr val="42555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AAB9BD"/>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F5F3EA"/>
                </a:solidFill>
                <a:latin typeface="Arial"/>
              </a:defRPr>
            </a:pPr>
            <a:r>
              <a:t>12</a:t>
            </a:r>
          </a:p>
        </p:txBody>
      </p:sp>
      <p:cxnSp>
        <p:nvCxnSpPr>
          <p:cNvPr id="10" name="Connector 9"/>
          <p:cNvCxnSpPr/>
          <p:nvPr/>
        </p:nvCxnSpPr>
        <p:spPr>
          <a:xfrm>
            <a:off x="3564892" y="2357354"/>
            <a:ext cx="998546" cy="643045"/>
          </a:xfrm>
          <a:prstGeom prst="line">
            <a:avLst/>
          </a:prstGeom>
          <a:ln w="3810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441836" y="2991612"/>
            <a:ext cx="121602" cy="8787"/>
          </a:xfrm>
          <a:prstGeom prst="line">
            <a:avLst/>
          </a:prstGeom>
          <a:ln w="3810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4505130" y="2893326"/>
            <a:ext cx="58308" cy="107073"/>
          </a:xfrm>
          <a:prstGeom prst="line">
            <a:avLst/>
          </a:prstGeom>
          <a:ln w="3810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387850" y="3520381"/>
            <a:ext cx="365081" cy="995923"/>
          </a:xfrm>
          <a:prstGeom prst="line">
            <a:avLst/>
          </a:prstGeom>
          <a:ln w="3810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369795" y="4395729"/>
            <a:ext cx="18055" cy="120575"/>
          </a:xfrm>
          <a:prstGeom prst="line">
            <a:avLst/>
          </a:prstGeom>
          <a:ln w="3810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387850" y="4435964"/>
            <a:ext cx="91706" cy="80340"/>
          </a:xfrm>
          <a:prstGeom prst="line">
            <a:avLst/>
          </a:prstGeom>
          <a:ln w="3810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2656996" y="4859718"/>
            <a:ext cx="1262067" cy="0"/>
          </a:xfrm>
          <a:prstGeom prst="line">
            <a:avLst/>
          </a:prstGeom>
          <a:ln w="3810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2656996" y="4801266"/>
            <a:ext cx="106995" cy="58452"/>
          </a:xfrm>
          <a:prstGeom prst="line">
            <a:avLst/>
          </a:prstGeom>
          <a:ln w="3810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656996" y="4859718"/>
            <a:ext cx="106995" cy="58451"/>
          </a:xfrm>
          <a:prstGeom prst="line">
            <a:avLst/>
          </a:prstGeom>
          <a:ln w="3810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1808136" y="3541845"/>
            <a:ext cx="365081" cy="995923"/>
          </a:xfrm>
          <a:prstGeom prst="line">
            <a:avLst/>
          </a:prstGeom>
          <a:ln w="3810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1808136" y="3541845"/>
            <a:ext cx="91705" cy="80340"/>
          </a:xfrm>
          <a:prstGeom prst="line">
            <a:avLst/>
          </a:prstGeom>
          <a:ln w="3810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1790081" y="3541845"/>
            <a:ext cx="18055" cy="120575"/>
          </a:xfrm>
          <a:prstGeom prst="line">
            <a:avLst/>
          </a:prstGeom>
          <a:ln w="3810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970541" y="2369731"/>
            <a:ext cx="998546" cy="643045"/>
          </a:xfrm>
          <a:prstGeom prst="line">
            <a:avLst/>
          </a:prstGeom>
          <a:ln w="3810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910779" y="2369731"/>
            <a:ext cx="58308" cy="107073"/>
          </a:xfrm>
          <a:prstGeom prst="line">
            <a:avLst/>
          </a:prstGeom>
          <a:ln w="3810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847484" y="2369731"/>
            <a:ext cx="121603" cy="8787"/>
          </a:xfrm>
          <a:prstGeom prst="line">
            <a:avLst/>
          </a:prstGeom>
          <a:ln w="38100">
            <a:solidFill>
              <a:srgbClr val="AAB9BD"/>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2971800" y="1866899"/>
            <a:ext cx="609600" cy="60960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71800" y="1975103"/>
            <a:ext cx="609600" cy="477347"/>
          </a:xfrm>
          <a:prstGeom prst="rect">
            <a:avLst/>
          </a:prstGeom>
          <a:noFill/>
        </p:spPr>
        <p:txBody>
          <a:bodyPr wrap="none" lIns="0" rIns="0" tIns="0" bIns="0">
            <a:noAutofit/>
          </a:bodyPr>
          <a:lstStyle/>
          <a:p>
            <a:pPr algn="ctr">
              <a:lnSpc>
                <a:spcPct val="123000"/>
              </a:lnSpc>
              <a:spcBef>
                <a:spcPts val="0"/>
              </a:spcBef>
              <a:spcAft>
                <a:spcPts val="0"/>
              </a:spcAft>
              <a:defRPr sz="2568" b="1">
                <a:solidFill>
                  <a:srgbClr val="172C36"/>
                </a:solidFill>
                <a:latin typeface="Courier New"/>
              </a:defRPr>
            </a:pPr>
            <a:r>
              <a:t>1</a:t>
            </a:r>
          </a:p>
        </p:txBody>
      </p:sp>
      <p:sp>
        <p:nvSpPr>
          <p:cNvPr id="27" name="Oval 26"/>
          <p:cNvSpPr/>
          <p:nvPr/>
        </p:nvSpPr>
        <p:spPr>
          <a:xfrm>
            <a:off x="4566151" y="2893631"/>
            <a:ext cx="609600" cy="60960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6151" y="3001835"/>
            <a:ext cx="609600" cy="477347"/>
          </a:xfrm>
          <a:prstGeom prst="rect">
            <a:avLst/>
          </a:prstGeom>
          <a:noFill/>
        </p:spPr>
        <p:txBody>
          <a:bodyPr wrap="none" lIns="0" rIns="0" tIns="0" bIns="0">
            <a:noAutofit/>
          </a:bodyPr>
          <a:lstStyle/>
          <a:p>
            <a:pPr algn="ctr">
              <a:lnSpc>
                <a:spcPct val="123000"/>
              </a:lnSpc>
              <a:spcBef>
                <a:spcPts val="0"/>
              </a:spcBef>
              <a:spcAft>
                <a:spcPts val="0"/>
              </a:spcAft>
              <a:defRPr sz="2568" b="1">
                <a:solidFill>
                  <a:srgbClr val="172C36"/>
                </a:solidFill>
                <a:latin typeface="Courier New"/>
              </a:defRPr>
            </a:pPr>
            <a:r>
              <a:t>2</a:t>
            </a:r>
          </a:p>
        </p:txBody>
      </p:sp>
      <p:sp>
        <p:nvSpPr>
          <p:cNvPr id="29" name="Oval 28"/>
          <p:cNvSpPr/>
          <p:nvPr/>
        </p:nvSpPr>
        <p:spPr>
          <a:xfrm>
            <a:off x="3957163" y="4554918"/>
            <a:ext cx="609600" cy="60960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57163" y="4663122"/>
            <a:ext cx="609600" cy="477347"/>
          </a:xfrm>
          <a:prstGeom prst="rect">
            <a:avLst/>
          </a:prstGeom>
          <a:noFill/>
        </p:spPr>
        <p:txBody>
          <a:bodyPr wrap="none" lIns="0" rIns="0" tIns="0" bIns="0">
            <a:noAutofit/>
          </a:bodyPr>
          <a:lstStyle/>
          <a:p>
            <a:pPr algn="ctr">
              <a:lnSpc>
                <a:spcPct val="123000"/>
              </a:lnSpc>
              <a:spcBef>
                <a:spcPts val="0"/>
              </a:spcBef>
              <a:spcAft>
                <a:spcPts val="0"/>
              </a:spcAft>
              <a:defRPr sz="2568" b="1">
                <a:solidFill>
                  <a:srgbClr val="172C36"/>
                </a:solidFill>
                <a:latin typeface="Courier New"/>
              </a:defRPr>
            </a:pPr>
            <a:r>
              <a:t>3</a:t>
            </a:r>
          </a:p>
        </p:txBody>
      </p:sp>
      <p:sp>
        <p:nvSpPr>
          <p:cNvPr id="31" name="Oval 30"/>
          <p:cNvSpPr/>
          <p:nvPr/>
        </p:nvSpPr>
        <p:spPr>
          <a:xfrm>
            <a:off x="1986436" y="4554918"/>
            <a:ext cx="609600" cy="60960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986436" y="4663122"/>
            <a:ext cx="609600" cy="477347"/>
          </a:xfrm>
          <a:prstGeom prst="rect">
            <a:avLst/>
          </a:prstGeom>
          <a:noFill/>
        </p:spPr>
        <p:txBody>
          <a:bodyPr wrap="none" lIns="0" rIns="0" tIns="0" bIns="0">
            <a:noAutofit/>
          </a:bodyPr>
          <a:lstStyle/>
          <a:p>
            <a:pPr algn="ctr">
              <a:lnSpc>
                <a:spcPct val="123000"/>
              </a:lnSpc>
              <a:spcBef>
                <a:spcPts val="0"/>
              </a:spcBef>
              <a:spcAft>
                <a:spcPts val="0"/>
              </a:spcAft>
              <a:defRPr sz="2568" b="1">
                <a:solidFill>
                  <a:srgbClr val="172C36"/>
                </a:solidFill>
                <a:latin typeface="Courier New"/>
              </a:defRPr>
            </a:pPr>
            <a:r>
              <a:t>4</a:t>
            </a:r>
          </a:p>
        </p:txBody>
      </p:sp>
      <p:sp>
        <p:nvSpPr>
          <p:cNvPr id="33" name="Oval 32"/>
          <p:cNvSpPr/>
          <p:nvPr/>
        </p:nvSpPr>
        <p:spPr>
          <a:xfrm>
            <a:off x="1377448" y="2893631"/>
            <a:ext cx="609600" cy="60960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77448" y="3001835"/>
            <a:ext cx="609600" cy="477347"/>
          </a:xfrm>
          <a:prstGeom prst="rect">
            <a:avLst/>
          </a:prstGeom>
          <a:noFill/>
        </p:spPr>
        <p:txBody>
          <a:bodyPr wrap="none" lIns="0" rIns="0" tIns="0" bIns="0">
            <a:noAutofit/>
          </a:bodyPr>
          <a:lstStyle/>
          <a:p>
            <a:pPr algn="ctr">
              <a:lnSpc>
                <a:spcPct val="123000"/>
              </a:lnSpc>
              <a:spcBef>
                <a:spcPts val="0"/>
              </a:spcBef>
              <a:spcAft>
                <a:spcPts val="0"/>
              </a:spcAft>
              <a:defRPr sz="2568" b="1">
                <a:solidFill>
                  <a:srgbClr val="172C36"/>
                </a:solidFill>
                <a:latin typeface="Courier New"/>
              </a:defRPr>
            </a:pPr>
            <a:r>
              <a:t>5</a:t>
            </a:r>
          </a:p>
        </p:txBody>
      </p:sp>
      <p:sp>
        <p:nvSpPr>
          <p:cNvPr id="35" name="TextBox 34"/>
          <p:cNvSpPr txBox="1"/>
          <p:nvPr/>
        </p:nvSpPr>
        <p:spPr>
          <a:xfrm>
            <a:off x="2400300" y="3444240"/>
            <a:ext cx="1752600" cy="713536"/>
          </a:xfrm>
          <a:prstGeom prst="rect">
            <a:avLst/>
          </a:prstGeom>
          <a:noFill/>
        </p:spPr>
        <p:txBody>
          <a:bodyPr wrap="none" lIns="0" rIns="0" tIns="0" bIns="0">
            <a:noAutofit/>
          </a:bodyPr>
          <a:lstStyle/>
          <a:p>
            <a:pPr algn="ctr">
              <a:lnSpc>
                <a:spcPct val="123000"/>
              </a:lnSpc>
              <a:spcBef>
                <a:spcPts val="0"/>
              </a:spcBef>
              <a:spcAft>
                <a:spcPts val="0"/>
              </a:spcAft>
              <a:defRPr sz="2039" b="1">
                <a:solidFill>
                  <a:srgbClr val="F5F3EA"/>
                </a:solidFill>
                <a:latin typeface="Arial"/>
              </a:defRPr>
            </a:pPr>
            <a:r>
              <a:t>REVIEW-</a:t>
            </a:r>
          </a:p>
          <a:p>
            <a:pPr algn="ctr">
              <a:lnSpc>
                <a:spcPct val="123000"/>
              </a:lnSpc>
              <a:spcBef>
                <a:spcPts val="0"/>
              </a:spcBef>
              <a:spcAft>
                <a:spcPts val="0"/>
              </a:spcAft>
              <a:defRPr sz="2039" b="1">
                <a:solidFill>
                  <a:srgbClr val="F5F3EA"/>
                </a:solidFill>
                <a:latin typeface="Arial"/>
              </a:defRPr>
            </a:pPr>
            <a:r>
              <a:t>RING</a:t>
            </a:r>
          </a:p>
        </p:txBody>
      </p:sp>
      <p:sp>
        <p:nvSpPr>
          <p:cNvPr id="36" name="Rounded Rectangle 35"/>
          <p:cNvSpPr/>
          <p:nvPr/>
        </p:nvSpPr>
        <p:spPr>
          <a:xfrm>
            <a:off x="6362700" y="2148840"/>
            <a:ext cx="5052060" cy="990599"/>
          </a:xfrm>
          <a:prstGeom prst="roundRect">
            <a:avLst>
              <a:gd name="adj" fmla="val 14615"/>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76060" y="2324100"/>
            <a:ext cx="4648200" cy="385495"/>
          </a:xfrm>
          <a:prstGeom prst="rect">
            <a:avLst/>
          </a:prstGeom>
          <a:noFill/>
        </p:spPr>
        <p:txBody>
          <a:bodyPr wrap="none" lIns="0" rIns="0" tIns="0" bIns="0">
            <a:noAutofit/>
          </a:bodyPr>
          <a:lstStyle/>
          <a:p>
            <a:pPr algn="l">
              <a:lnSpc>
                <a:spcPct val="123000"/>
              </a:lnSpc>
              <a:spcBef>
                <a:spcPts val="0"/>
              </a:spcBef>
              <a:spcAft>
                <a:spcPts val="0"/>
              </a:spcAft>
              <a:defRPr sz="1980" b="1">
                <a:solidFill>
                  <a:srgbClr val="65D9EC"/>
                </a:solidFill>
                <a:latin typeface="Arial"/>
              </a:defRPr>
            </a:pPr>
            <a:r>
              <a:t>1 Stärke</a:t>
            </a:r>
          </a:p>
        </p:txBody>
      </p:sp>
      <p:sp>
        <p:nvSpPr>
          <p:cNvPr id="38" name="TextBox 37"/>
          <p:cNvSpPr txBox="1"/>
          <p:nvPr/>
        </p:nvSpPr>
        <p:spPr>
          <a:xfrm>
            <a:off x="6576060" y="2712720"/>
            <a:ext cx="46482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F5F3EA"/>
                </a:solidFill>
                <a:latin typeface="Arial"/>
              </a:defRPr>
            </a:pPr>
            <a:r>
              <a:t>konkret begründen</a:t>
            </a:r>
          </a:p>
        </p:txBody>
      </p:sp>
      <p:sp>
        <p:nvSpPr>
          <p:cNvPr id="39" name="Rounded Rectangle 38"/>
          <p:cNvSpPr/>
          <p:nvPr/>
        </p:nvSpPr>
        <p:spPr>
          <a:xfrm>
            <a:off x="6362700" y="3291840"/>
            <a:ext cx="5052060" cy="990599"/>
          </a:xfrm>
          <a:prstGeom prst="roundRect">
            <a:avLst>
              <a:gd name="adj" fmla="val 14615"/>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76060" y="3467100"/>
            <a:ext cx="4648200" cy="385495"/>
          </a:xfrm>
          <a:prstGeom prst="rect">
            <a:avLst/>
          </a:prstGeom>
          <a:noFill/>
        </p:spPr>
        <p:txBody>
          <a:bodyPr wrap="none" lIns="0" rIns="0" tIns="0" bIns="0">
            <a:noAutofit/>
          </a:bodyPr>
          <a:lstStyle/>
          <a:p>
            <a:pPr algn="l">
              <a:lnSpc>
                <a:spcPct val="123000"/>
              </a:lnSpc>
              <a:spcBef>
                <a:spcPts val="0"/>
              </a:spcBef>
              <a:spcAft>
                <a:spcPts val="0"/>
              </a:spcAft>
              <a:defRPr sz="1980" b="1">
                <a:solidFill>
                  <a:srgbClr val="C5B5F2"/>
                </a:solidFill>
                <a:latin typeface="Arial"/>
              </a:defRPr>
            </a:pPr>
            <a:r>
              <a:t>1 Verbesserung</a:t>
            </a:r>
          </a:p>
        </p:txBody>
      </p:sp>
      <p:sp>
        <p:nvSpPr>
          <p:cNvPr id="41" name="TextBox 40"/>
          <p:cNvSpPr txBox="1"/>
          <p:nvPr/>
        </p:nvSpPr>
        <p:spPr>
          <a:xfrm>
            <a:off x="6576060" y="3855720"/>
            <a:ext cx="46482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F5F3EA"/>
                </a:solidFill>
                <a:latin typeface="Arial"/>
              </a:defRPr>
            </a:pPr>
            <a:r>
              <a:t>Wirkung erklären</a:t>
            </a:r>
          </a:p>
        </p:txBody>
      </p:sp>
      <p:sp>
        <p:nvSpPr>
          <p:cNvPr id="42" name="Rounded Rectangle 41"/>
          <p:cNvSpPr/>
          <p:nvPr/>
        </p:nvSpPr>
        <p:spPr>
          <a:xfrm>
            <a:off x="6362700" y="4434840"/>
            <a:ext cx="5052060" cy="990599"/>
          </a:xfrm>
          <a:prstGeom prst="roundRect">
            <a:avLst>
              <a:gd name="adj" fmla="val 14615"/>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76060" y="4610100"/>
            <a:ext cx="4648200" cy="385495"/>
          </a:xfrm>
          <a:prstGeom prst="rect">
            <a:avLst/>
          </a:prstGeom>
          <a:noFill/>
        </p:spPr>
        <p:txBody>
          <a:bodyPr wrap="none" lIns="0" rIns="0" tIns="0" bIns="0">
            <a:noAutofit/>
          </a:bodyPr>
          <a:lstStyle/>
          <a:p>
            <a:pPr algn="l">
              <a:lnSpc>
                <a:spcPct val="123000"/>
              </a:lnSpc>
              <a:spcBef>
                <a:spcPts val="0"/>
              </a:spcBef>
              <a:spcAft>
                <a:spcPts val="0"/>
              </a:spcAft>
              <a:defRPr sz="1980" b="1">
                <a:solidFill>
                  <a:srgbClr val="DAF975"/>
                </a:solidFill>
                <a:latin typeface="Arial"/>
              </a:defRPr>
            </a:pPr>
            <a:r>
              <a:t>Finales Review</a:t>
            </a:r>
          </a:p>
        </p:txBody>
      </p:sp>
      <p:sp>
        <p:nvSpPr>
          <p:cNvPr id="44" name="TextBox 43"/>
          <p:cNvSpPr txBox="1"/>
          <p:nvPr/>
        </p:nvSpPr>
        <p:spPr>
          <a:xfrm>
            <a:off x="6576060" y="4998720"/>
            <a:ext cx="46482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F5F3EA"/>
                </a:solidFill>
                <a:latin typeface="Arial"/>
              </a:defRPr>
            </a:pPr>
            <a:r>
              <a:t>nachbessern → prüfen → mergen</a:t>
            </a:r>
          </a:p>
        </p:txBody>
      </p:sp>
      <p:sp>
        <p:nvSpPr>
          <p:cNvPr id="45" name="Rounded Rectangle 44"/>
          <p:cNvSpPr/>
          <p:nvPr/>
        </p:nvSpPr>
        <p:spPr>
          <a:xfrm>
            <a:off x="548640" y="5684520"/>
            <a:ext cx="11094720" cy="472440"/>
          </a:xfrm>
          <a:prstGeom prst="roundRect">
            <a:avLst>
              <a:gd name="adj" fmla="val 22580"/>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F5F3EA"/>
                </a:solidFill>
                <a:latin typeface="Arial"/>
              </a:defRPr>
            </a:pPr>
            <a:r>
              <a:t>Entwürfe absenden. Erst nach finalem Review: Create a merge commit.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172C36"/>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576B70"/>
                </a:solidFill>
                <a:latin typeface="Arial"/>
              </a:defRPr>
            </a:pPr>
            <a:r>
              <a:t>PRINZIP 07 / FETCH &amp; PULL</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172C36"/>
                </a:solidFill>
                <a:latin typeface="Arial"/>
              </a:defRPr>
            </a:pPr>
            <a:r>
              <a:t>Holen ist noch nicht integrieren.</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576B70"/>
                </a:solidFill>
                <a:latin typeface="Arial"/>
              </a:defRPr>
            </a:pPr>
            <a:r>
              <a:t>Zustand nach git fetch origin: Dein Arbeitsbranch kann noch zurückliegen.</a:t>
            </a:r>
          </a:p>
        </p:txBody>
      </p:sp>
      <p:cxnSp>
        <p:nvCxnSpPr>
          <p:cNvPr id="7" name="Connector 6"/>
          <p:cNvCxnSpPr/>
          <p:nvPr/>
        </p:nvCxnSpPr>
        <p:spPr>
          <a:xfrm>
            <a:off x="548640" y="6362700"/>
            <a:ext cx="11094720" cy="0"/>
          </a:xfrm>
          <a:prstGeom prst="line">
            <a:avLst/>
          </a:prstGeom>
          <a:ln w="11429">
            <a:solidFill>
              <a:srgbClr val="D2D9D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576B70"/>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172C36"/>
                </a:solidFill>
                <a:latin typeface="Arial"/>
              </a:defRPr>
            </a:pPr>
            <a:r>
              <a:t>13</a:t>
            </a:r>
          </a:p>
        </p:txBody>
      </p:sp>
      <p:sp>
        <p:nvSpPr>
          <p:cNvPr id="10" name="TextBox 9"/>
          <p:cNvSpPr txBox="1"/>
          <p:nvPr/>
        </p:nvSpPr>
        <p:spPr>
          <a:xfrm>
            <a:off x="640080" y="2301240"/>
            <a:ext cx="3733799" cy="348005"/>
          </a:xfrm>
          <a:prstGeom prst="rect">
            <a:avLst/>
          </a:prstGeom>
          <a:noFill/>
        </p:spPr>
        <p:txBody>
          <a:bodyPr wrap="none" lIns="0" rIns="0" tIns="0" bIns="0">
            <a:noAutofit/>
          </a:bodyPr>
          <a:lstStyle/>
          <a:p>
            <a:pPr algn="l">
              <a:lnSpc>
                <a:spcPct val="123000"/>
              </a:lnSpc>
              <a:spcBef>
                <a:spcPts val="0"/>
              </a:spcBef>
              <a:spcAft>
                <a:spcPts val="0"/>
              </a:spcAft>
              <a:defRPr sz="1739" b="1">
                <a:solidFill>
                  <a:srgbClr val="172C36"/>
                </a:solidFill>
                <a:latin typeface="Courier New"/>
              </a:defRPr>
            </a:pPr>
            <a:r>
              <a:t>Server: main</a:t>
            </a:r>
          </a:p>
        </p:txBody>
      </p:sp>
      <p:cxnSp>
        <p:nvCxnSpPr>
          <p:cNvPr id="11" name="Connector 10"/>
          <p:cNvCxnSpPr/>
          <p:nvPr/>
        </p:nvCxnSpPr>
        <p:spPr>
          <a:xfrm>
            <a:off x="5006340" y="2453640"/>
            <a:ext cx="5128260" cy="0"/>
          </a:xfrm>
          <a:prstGeom prst="line">
            <a:avLst/>
          </a:prstGeom>
          <a:ln w="38100">
            <a:solidFill>
              <a:srgbClr val="172C3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876800" y="2225040"/>
            <a:ext cx="457200" cy="45720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76800" y="2304288"/>
            <a:ext cx="457200" cy="377060"/>
          </a:xfrm>
          <a:prstGeom prst="rect">
            <a:avLst/>
          </a:prstGeom>
          <a:noFill/>
        </p:spPr>
        <p:txBody>
          <a:bodyPr wrap="none" lIns="0" rIns="0" tIns="0" bIns="0">
            <a:noAutofit/>
          </a:bodyPr>
          <a:lstStyle/>
          <a:p>
            <a:pPr algn="ctr">
              <a:lnSpc>
                <a:spcPct val="123000"/>
              </a:lnSpc>
              <a:spcBef>
                <a:spcPts val="0"/>
              </a:spcBef>
              <a:spcAft>
                <a:spcPts val="0"/>
              </a:spcAft>
              <a:defRPr sz="1926" b="1">
                <a:solidFill>
                  <a:srgbClr val="172C36"/>
                </a:solidFill>
                <a:latin typeface="Courier New"/>
              </a:defRPr>
            </a:pPr>
            <a:r>
              <a:t>A</a:t>
            </a:r>
          </a:p>
        </p:txBody>
      </p:sp>
      <p:sp>
        <p:nvSpPr>
          <p:cNvPr id="14" name="Oval 13"/>
          <p:cNvSpPr/>
          <p:nvPr/>
        </p:nvSpPr>
        <p:spPr>
          <a:xfrm>
            <a:off x="7391400" y="2225040"/>
            <a:ext cx="457200" cy="45720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91400" y="2304288"/>
            <a:ext cx="457200" cy="377060"/>
          </a:xfrm>
          <a:prstGeom prst="rect">
            <a:avLst/>
          </a:prstGeom>
          <a:noFill/>
        </p:spPr>
        <p:txBody>
          <a:bodyPr wrap="none" lIns="0" rIns="0" tIns="0" bIns="0">
            <a:noAutofit/>
          </a:bodyPr>
          <a:lstStyle/>
          <a:p>
            <a:pPr algn="ctr">
              <a:lnSpc>
                <a:spcPct val="123000"/>
              </a:lnSpc>
              <a:spcBef>
                <a:spcPts val="0"/>
              </a:spcBef>
              <a:spcAft>
                <a:spcPts val="0"/>
              </a:spcAft>
              <a:defRPr sz="1926" b="1">
                <a:solidFill>
                  <a:srgbClr val="172C36"/>
                </a:solidFill>
                <a:latin typeface="Courier New"/>
              </a:defRPr>
            </a:pPr>
            <a:r>
              <a:t>B</a:t>
            </a:r>
          </a:p>
        </p:txBody>
      </p:sp>
      <p:sp>
        <p:nvSpPr>
          <p:cNvPr id="16" name="Oval 15"/>
          <p:cNvSpPr/>
          <p:nvPr/>
        </p:nvSpPr>
        <p:spPr>
          <a:xfrm>
            <a:off x="9906000" y="2225040"/>
            <a:ext cx="457200" cy="45720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06000" y="2304288"/>
            <a:ext cx="457200" cy="377060"/>
          </a:xfrm>
          <a:prstGeom prst="rect">
            <a:avLst/>
          </a:prstGeom>
          <a:noFill/>
        </p:spPr>
        <p:txBody>
          <a:bodyPr wrap="none" lIns="0" rIns="0" tIns="0" bIns="0">
            <a:noAutofit/>
          </a:bodyPr>
          <a:lstStyle/>
          <a:p>
            <a:pPr algn="ctr">
              <a:lnSpc>
                <a:spcPct val="123000"/>
              </a:lnSpc>
              <a:spcBef>
                <a:spcPts val="0"/>
              </a:spcBef>
              <a:spcAft>
                <a:spcPts val="0"/>
              </a:spcAft>
              <a:defRPr sz="1926" b="1">
                <a:solidFill>
                  <a:srgbClr val="172C36"/>
                </a:solidFill>
                <a:latin typeface="Courier New"/>
              </a:defRPr>
            </a:pPr>
            <a:r>
              <a:t>C</a:t>
            </a:r>
          </a:p>
        </p:txBody>
      </p:sp>
      <p:sp>
        <p:nvSpPr>
          <p:cNvPr id="18" name="TextBox 17"/>
          <p:cNvSpPr txBox="1"/>
          <p:nvPr/>
        </p:nvSpPr>
        <p:spPr>
          <a:xfrm>
            <a:off x="640080" y="3390900"/>
            <a:ext cx="3733799" cy="348005"/>
          </a:xfrm>
          <a:prstGeom prst="rect">
            <a:avLst/>
          </a:prstGeom>
          <a:noFill/>
        </p:spPr>
        <p:txBody>
          <a:bodyPr wrap="none" lIns="0" rIns="0" tIns="0" bIns="0">
            <a:noAutofit/>
          </a:bodyPr>
          <a:lstStyle/>
          <a:p>
            <a:pPr algn="l">
              <a:lnSpc>
                <a:spcPct val="123000"/>
              </a:lnSpc>
              <a:spcBef>
                <a:spcPts val="0"/>
              </a:spcBef>
              <a:spcAft>
                <a:spcPts val="0"/>
              </a:spcAft>
              <a:defRPr sz="1739" b="1">
                <a:solidFill>
                  <a:srgbClr val="172C36"/>
                </a:solidFill>
                <a:latin typeface="Courier New"/>
              </a:defRPr>
            </a:pPr>
            <a:r>
              <a:t>Lokal: origin/main</a:t>
            </a:r>
          </a:p>
        </p:txBody>
      </p:sp>
      <p:cxnSp>
        <p:nvCxnSpPr>
          <p:cNvPr id="19" name="Connector 18"/>
          <p:cNvCxnSpPr/>
          <p:nvPr/>
        </p:nvCxnSpPr>
        <p:spPr>
          <a:xfrm>
            <a:off x="5006340" y="3543300"/>
            <a:ext cx="5128260" cy="0"/>
          </a:xfrm>
          <a:prstGeom prst="line">
            <a:avLst/>
          </a:prstGeom>
          <a:ln w="38100">
            <a:solidFill>
              <a:srgbClr val="172C36"/>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876800" y="3314700"/>
            <a:ext cx="457200" cy="457200"/>
          </a:xfrm>
          <a:prstGeom prst="ellipse">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76800" y="3393948"/>
            <a:ext cx="457200" cy="377060"/>
          </a:xfrm>
          <a:prstGeom prst="rect">
            <a:avLst/>
          </a:prstGeom>
          <a:noFill/>
        </p:spPr>
        <p:txBody>
          <a:bodyPr wrap="none" lIns="0" rIns="0" tIns="0" bIns="0">
            <a:noAutofit/>
          </a:bodyPr>
          <a:lstStyle/>
          <a:p>
            <a:pPr algn="ctr">
              <a:lnSpc>
                <a:spcPct val="123000"/>
              </a:lnSpc>
              <a:spcBef>
                <a:spcPts val="0"/>
              </a:spcBef>
              <a:spcAft>
                <a:spcPts val="0"/>
              </a:spcAft>
              <a:defRPr sz="1926" b="1">
                <a:solidFill>
                  <a:srgbClr val="172C36"/>
                </a:solidFill>
                <a:latin typeface="Courier New"/>
              </a:defRPr>
            </a:pPr>
            <a:r>
              <a:t>A</a:t>
            </a:r>
          </a:p>
        </p:txBody>
      </p:sp>
      <p:sp>
        <p:nvSpPr>
          <p:cNvPr id="22" name="Oval 21"/>
          <p:cNvSpPr/>
          <p:nvPr/>
        </p:nvSpPr>
        <p:spPr>
          <a:xfrm>
            <a:off x="7391400" y="3314700"/>
            <a:ext cx="457200" cy="457200"/>
          </a:xfrm>
          <a:prstGeom prst="ellipse">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91400" y="3393948"/>
            <a:ext cx="457200" cy="377060"/>
          </a:xfrm>
          <a:prstGeom prst="rect">
            <a:avLst/>
          </a:prstGeom>
          <a:noFill/>
        </p:spPr>
        <p:txBody>
          <a:bodyPr wrap="none" lIns="0" rIns="0" tIns="0" bIns="0">
            <a:noAutofit/>
          </a:bodyPr>
          <a:lstStyle/>
          <a:p>
            <a:pPr algn="ctr">
              <a:lnSpc>
                <a:spcPct val="123000"/>
              </a:lnSpc>
              <a:spcBef>
                <a:spcPts val="0"/>
              </a:spcBef>
              <a:spcAft>
                <a:spcPts val="0"/>
              </a:spcAft>
              <a:defRPr sz="1926" b="1">
                <a:solidFill>
                  <a:srgbClr val="172C36"/>
                </a:solidFill>
                <a:latin typeface="Courier New"/>
              </a:defRPr>
            </a:pPr>
            <a:r>
              <a:t>B</a:t>
            </a:r>
          </a:p>
        </p:txBody>
      </p:sp>
      <p:sp>
        <p:nvSpPr>
          <p:cNvPr id="24" name="Oval 23"/>
          <p:cNvSpPr/>
          <p:nvPr/>
        </p:nvSpPr>
        <p:spPr>
          <a:xfrm>
            <a:off x="9906000" y="3314700"/>
            <a:ext cx="457200" cy="457200"/>
          </a:xfrm>
          <a:prstGeom prst="ellipse">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06000" y="3393948"/>
            <a:ext cx="457200" cy="377060"/>
          </a:xfrm>
          <a:prstGeom prst="rect">
            <a:avLst/>
          </a:prstGeom>
          <a:noFill/>
        </p:spPr>
        <p:txBody>
          <a:bodyPr wrap="none" lIns="0" rIns="0" tIns="0" bIns="0">
            <a:noAutofit/>
          </a:bodyPr>
          <a:lstStyle/>
          <a:p>
            <a:pPr algn="ctr">
              <a:lnSpc>
                <a:spcPct val="123000"/>
              </a:lnSpc>
              <a:spcBef>
                <a:spcPts val="0"/>
              </a:spcBef>
              <a:spcAft>
                <a:spcPts val="0"/>
              </a:spcAft>
              <a:defRPr sz="1926" b="1">
                <a:solidFill>
                  <a:srgbClr val="172C36"/>
                </a:solidFill>
                <a:latin typeface="Courier New"/>
              </a:defRPr>
            </a:pPr>
            <a:r>
              <a:t>C</a:t>
            </a:r>
          </a:p>
        </p:txBody>
      </p:sp>
      <p:sp>
        <p:nvSpPr>
          <p:cNvPr id="26" name="TextBox 25"/>
          <p:cNvSpPr txBox="1"/>
          <p:nvPr/>
        </p:nvSpPr>
        <p:spPr>
          <a:xfrm>
            <a:off x="640080" y="4480560"/>
            <a:ext cx="3733799" cy="348005"/>
          </a:xfrm>
          <a:prstGeom prst="rect">
            <a:avLst/>
          </a:prstGeom>
          <a:noFill/>
        </p:spPr>
        <p:txBody>
          <a:bodyPr wrap="none" lIns="0" rIns="0" tIns="0" bIns="0">
            <a:noAutofit/>
          </a:bodyPr>
          <a:lstStyle/>
          <a:p>
            <a:pPr algn="l">
              <a:lnSpc>
                <a:spcPct val="123000"/>
              </a:lnSpc>
              <a:spcBef>
                <a:spcPts val="0"/>
              </a:spcBef>
              <a:spcAft>
                <a:spcPts val="0"/>
              </a:spcAft>
              <a:defRPr sz="1739" b="1">
                <a:solidFill>
                  <a:srgbClr val="172C36"/>
                </a:solidFill>
                <a:latin typeface="Courier New"/>
              </a:defRPr>
            </a:pPr>
            <a:r>
              <a:t>Lokal: main</a:t>
            </a:r>
          </a:p>
        </p:txBody>
      </p:sp>
      <p:cxnSp>
        <p:nvCxnSpPr>
          <p:cNvPr id="27" name="Connector 26"/>
          <p:cNvCxnSpPr/>
          <p:nvPr/>
        </p:nvCxnSpPr>
        <p:spPr>
          <a:xfrm>
            <a:off x="5006340" y="4632960"/>
            <a:ext cx="2613660" cy="0"/>
          </a:xfrm>
          <a:prstGeom prst="line">
            <a:avLst/>
          </a:prstGeom>
          <a:ln w="38100">
            <a:solidFill>
              <a:srgbClr val="172C36"/>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4876800" y="4404360"/>
            <a:ext cx="457200" cy="45720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76800" y="4483608"/>
            <a:ext cx="457200" cy="377060"/>
          </a:xfrm>
          <a:prstGeom prst="rect">
            <a:avLst/>
          </a:prstGeom>
          <a:noFill/>
        </p:spPr>
        <p:txBody>
          <a:bodyPr wrap="none" lIns="0" rIns="0" tIns="0" bIns="0">
            <a:noAutofit/>
          </a:bodyPr>
          <a:lstStyle/>
          <a:p>
            <a:pPr algn="ctr">
              <a:lnSpc>
                <a:spcPct val="123000"/>
              </a:lnSpc>
              <a:spcBef>
                <a:spcPts val="0"/>
              </a:spcBef>
              <a:spcAft>
                <a:spcPts val="0"/>
              </a:spcAft>
              <a:defRPr sz="1926" b="1">
                <a:solidFill>
                  <a:srgbClr val="172C36"/>
                </a:solidFill>
                <a:latin typeface="Courier New"/>
              </a:defRPr>
            </a:pPr>
            <a:r>
              <a:t>A</a:t>
            </a:r>
          </a:p>
        </p:txBody>
      </p:sp>
      <p:sp>
        <p:nvSpPr>
          <p:cNvPr id="30" name="Oval 29"/>
          <p:cNvSpPr/>
          <p:nvPr/>
        </p:nvSpPr>
        <p:spPr>
          <a:xfrm>
            <a:off x="7391400" y="4404360"/>
            <a:ext cx="457200" cy="45720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91400" y="4483608"/>
            <a:ext cx="457200" cy="377060"/>
          </a:xfrm>
          <a:prstGeom prst="rect">
            <a:avLst/>
          </a:prstGeom>
          <a:noFill/>
        </p:spPr>
        <p:txBody>
          <a:bodyPr wrap="none" lIns="0" rIns="0" tIns="0" bIns="0">
            <a:noAutofit/>
          </a:bodyPr>
          <a:lstStyle/>
          <a:p>
            <a:pPr algn="ctr">
              <a:lnSpc>
                <a:spcPct val="123000"/>
              </a:lnSpc>
              <a:spcBef>
                <a:spcPts val="0"/>
              </a:spcBef>
              <a:spcAft>
                <a:spcPts val="0"/>
              </a:spcAft>
              <a:defRPr sz="1926" b="1">
                <a:solidFill>
                  <a:srgbClr val="172C36"/>
                </a:solidFill>
                <a:latin typeface="Courier New"/>
              </a:defRPr>
            </a:pPr>
            <a:r>
              <a:t>B</a:t>
            </a:r>
          </a:p>
        </p:txBody>
      </p:sp>
      <p:cxnSp>
        <p:nvCxnSpPr>
          <p:cNvPr id="32" name="Connector 31"/>
          <p:cNvCxnSpPr/>
          <p:nvPr/>
        </p:nvCxnSpPr>
        <p:spPr>
          <a:xfrm>
            <a:off x="7886700" y="4632960"/>
            <a:ext cx="2133600" cy="0"/>
          </a:xfrm>
          <a:prstGeom prst="line">
            <a:avLst/>
          </a:prstGeom>
          <a:ln w="30480">
            <a:solidFill>
              <a:srgbClr val="B7C5BF"/>
            </a:solidFill>
            <a:prstDash val="dash"/>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153399" y="5006340"/>
            <a:ext cx="2590800" cy="291769"/>
          </a:xfrm>
          <a:prstGeom prst="rect">
            <a:avLst/>
          </a:prstGeom>
          <a:noFill/>
        </p:spPr>
        <p:txBody>
          <a:bodyPr wrap="none" lIns="0" rIns="0" tIns="0" bIns="0">
            <a:noAutofit/>
          </a:bodyPr>
          <a:lstStyle/>
          <a:p>
            <a:pPr algn="ctr">
              <a:lnSpc>
                <a:spcPct val="123000"/>
              </a:lnSpc>
              <a:spcBef>
                <a:spcPts val="0"/>
              </a:spcBef>
              <a:spcAft>
                <a:spcPts val="0"/>
              </a:spcAft>
              <a:defRPr sz="1380" b="0">
                <a:solidFill>
                  <a:srgbClr val="172C36"/>
                </a:solidFill>
                <a:latin typeface="Arial"/>
              </a:defRPr>
            </a:pPr>
            <a:r>
              <a:t>noch nicht integriert</a:t>
            </a:r>
          </a:p>
        </p:txBody>
      </p:sp>
      <p:sp>
        <p:nvSpPr>
          <p:cNvPr id="34" name="Rounded Rectangle 33"/>
          <p:cNvSpPr/>
          <p:nvPr/>
        </p:nvSpPr>
        <p:spPr>
          <a:xfrm>
            <a:off x="548640" y="5684520"/>
            <a:ext cx="11094720" cy="472440"/>
          </a:xfrm>
          <a:prstGeom prst="roundRect">
            <a:avLst>
              <a:gd name="adj" fmla="val 22580"/>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172C36"/>
                </a:solidFill>
                <a:latin typeface="Arial"/>
              </a:defRPr>
            </a:pPr>
            <a:r>
              <a:t>fetch holt den Stand. pull holt und versucht zusätzlich zu integrieren.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172C36"/>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576B70"/>
                </a:solidFill>
                <a:latin typeface="Arial"/>
              </a:defRPr>
            </a:pPr>
            <a:r>
              <a:t>PRINZIP 08 / KONFLIKT</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172C36"/>
                </a:solidFill>
                <a:latin typeface="Arial"/>
              </a:defRPr>
            </a:pPr>
            <a:r>
              <a:t>Gleicher Start. Zwei Entscheidungen.</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576B70"/>
                </a:solidFill>
                <a:latin typeface="Arial"/>
              </a:defRPr>
            </a:pPr>
            <a:r>
              <a:t>Beide Branches haben dieselbe Zeile unterschiedlich verändert.</a:t>
            </a:r>
          </a:p>
        </p:txBody>
      </p:sp>
      <p:cxnSp>
        <p:nvCxnSpPr>
          <p:cNvPr id="7" name="Connector 6"/>
          <p:cNvCxnSpPr/>
          <p:nvPr/>
        </p:nvCxnSpPr>
        <p:spPr>
          <a:xfrm>
            <a:off x="548640" y="6362700"/>
            <a:ext cx="11094720" cy="0"/>
          </a:xfrm>
          <a:prstGeom prst="line">
            <a:avLst/>
          </a:prstGeom>
          <a:ln w="11429">
            <a:solidFill>
              <a:srgbClr val="D2D9D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576B70"/>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172C36"/>
                </a:solidFill>
                <a:latin typeface="Arial"/>
              </a:defRPr>
            </a:pPr>
            <a:r>
              <a:t>14</a:t>
            </a:r>
          </a:p>
        </p:txBody>
      </p:sp>
      <p:sp>
        <p:nvSpPr>
          <p:cNvPr id="10" name="Rounded Rectangle 9"/>
          <p:cNvSpPr/>
          <p:nvPr/>
        </p:nvSpPr>
        <p:spPr>
          <a:xfrm>
            <a:off x="647700" y="3086100"/>
            <a:ext cx="3238500" cy="1112520"/>
          </a:xfrm>
          <a:prstGeom prst="roundRect">
            <a:avLst>
              <a:gd name="adj" fmla="val 13698"/>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284220"/>
            <a:ext cx="2819400" cy="282397"/>
          </a:xfrm>
          <a:prstGeom prst="rect">
            <a:avLst/>
          </a:prstGeom>
          <a:noFill/>
        </p:spPr>
        <p:txBody>
          <a:bodyPr wrap="none" lIns="0" rIns="0" tIns="0" bIns="0">
            <a:noAutofit/>
          </a:bodyPr>
          <a:lstStyle/>
          <a:p>
            <a:pPr algn="l">
              <a:lnSpc>
                <a:spcPct val="123000"/>
              </a:lnSpc>
              <a:spcBef>
                <a:spcPts val="0"/>
              </a:spcBef>
              <a:spcAft>
                <a:spcPts val="0"/>
              </a:spcAft>
              <a:defRPr sz="1320" b="1">
                <a:solidFill>
                  <a:srgbClr val="172C36"/>
                </a:solidFill>
                <a:latin typeface="Arial"/>
              </a:defRPr>
            </a:pPr>
            <a:r>
              <a:t>GEMEINSAME BASIS</a:t>
            </a:r>
          </a:p>
        </p:txBody>
      </p:sp>
      <p:sp>
        <p:nvSpPr>
          <p:cNvPr id="12" name="TextBox 11"/>
          <p:cNvSpPr txBox="1"/>
          <p:nvPr/>
        </p:nvSpPr>
        <p:spPr>
          <a:xfrm>
            <a:off x="838200" y="3634740"/>
            <a:ext cx="2819400" cy="394868"/>
          </a:xfrm>
          <a:prstGeom prst="rect">
            <a:avLst/>
          </a:prstGeom>
          <a:noFill/>
        </p:spPr>
        <p:txBody>
          <a:bodyPr wrap="none" lIns="0" rIns="0" tIns="0" bIns="0">
            <a:noAutofit/>
          </a:bodyPr>
          <a:lstStyle/>
          <a:p>
            <a:pPr algn="l">
              <a:lnSpc>
                <a:spcPct val="123000"/>
              </a:lnSpc>
              <a:spcBef>
                <a:spcPts val="0"/>
              </a:spcBef>
              <a:spcAft>
                <a:spcPts val="0"/>
              </a:spcAft>
              <a:defRPr sz="2039" b="1">
                <a:solidFill>
                  <a:srgbClr val="172C36"/>
                </a:solidFill>
                <a:latin typeface="Arial"/>
              </a:defRPr>
            </a:pPr>
            <a:r>
              <a:t>12:00 · Innenhof</a:t>
            </a:r>
          </a:p>
        </p:txBody>
      </p:sp>
      <p:cxnSp>
        <p:nvCxnSpPr>
          <p:cNvPr id="13" name="Connector 12"/>
          <p:cNvCxnSpPr/>
          <p:nvPr/>
        </p:nvCxnSpPr>
        <p:spPr>
          <a:xfrm>
            <a:off x="3886200" y="3642360"/>
            <a:ext cx="990600" cy="0"/>
          </a:xfrm>
          <a:prstGeom prst="line">
            <a:avLst/>
          </a:prstGeom>
          <a:ln w="3810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876800" y="2575560"/>
            <a:ext cx="914400" cy="1066800"/>
          </a:xfrm>
          <a:prstGeom prst="line">
            <a:avLst/>
          </a:prstGeom>
          <a:ln w="3810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91200" y="2575560"/>
            <a:ext cx="571500" cy="0"/>
          </a:xfrm>
          <a:prstGeom prst="line">
            <a:avLst/>
          </a:prstGeom>
          <a:ln w="3810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876800" y="3642360"/>
            <a:ext cx="914400" cy="1021080"/>
          </a:xfrm>
          <a:prstGeom prst="line">
            <a:avLst/>
          </a:prstGeom>
          <a:ln w="38100">
            <a:solidFill>
              <a:srgbClr val="172C3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791200" y="4663440"/>
            <a:ext cx="571500" cy="0"/>
          </a:xfrm>
          <a:prstGeom prst="line">
            <a:avLst/>
          </a:prstGeom>
          <a:ln w="38100">
            <a:solidFill>
              <a:srgbClr val="172C3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62700" y="1988819"/>
            <a:ext cx="5181600" cy="1242060"/>
          </a:xfrm>
          <a:prstGeom prst="roundRect">
            <a:avLst>
              <a:gd name="adj" fmla="val 13496"/>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91300" y="2194560"/>
            <a:ext cx="4572000" cy="282397"/>
          </a:xfrm>
          <a:prstGeom prst="rect">
            <a:avLst/>
          </a:prstGeom>
          <a:noFill/>
        </p:spPr>
        <p:txBody>
          <a:bodyPr wrap="none" lIns="0" rIns="0" tIns="0" bIns="0">
            <a:noAutofit/>
          </a:bodyPr>
          <a:lstStyle/>
          <a:p>
            <a:pPr algn="l">
              <a:lnSpc>
                <a:spcPct val="123000"/>
              </a:lnSpc>
              <a:spcBef>
                <a:spcPts val="0"/>
              </a:spcBef>
              <a:spcAft>
                <a:spcPts val="0"/>
              </a:spcAft>
              <a:defRPr sz="1320" b="1">
                <a:solidFill>
                  <a:srgbClr val="172C36"/>
                </a:solidFill>
                <a:latin typeface="Arial"/>
              </a:defRPr>
            </a:pPr>
            <a:r>
              <a:t>TEAM A → MAIN</a:t>
            </a:r>
          </a:p>
        </p:txBody>
      </p:sp>
      <p:sp>
        <p:nvSpPr>
          <p:cNvPr id="20" name="TextBox 19"/>
          <p:cNvSpPr txBox="1"/>
          <p:nvPr/>
        </p:nvSpPr>
        <p:spPr>
          <a:xfrm>
            <a:off x="6591300" y="2560320"/>
            <a:ext cx="4648200" cy="422986"/>
          </a:xfrm>
          <a:prstGeom prst="rect">
            <a:avLst/>
          </a:prstGeom>
          <a:noFill/>
        </p:spPr>
        <p:txBody>
          <a:bodyPr wrap="none" lIns="0" rIns="0" tIns="0" bIns="0">
            <a:noAutofit/>
          </a:bodyPr>
          <a:lstStyle/>
          <a:p>
            <a:pPr algn="l">
              <a:lnSpc>
                <a:spcPct val="123000"/>
              </a:lnSpc>
              <a:spcBef>
                <a:spcPts val="0"/>
              </a:spcBef>
              <a:spcAft>
                <a:spcPts val="0"/>
              </a:spcAft>
              <a:defRPr sz="2220" b="1">
                <a:solidFill>
                  <a:srgbClr val="172C36"/>
                </a:solidFill>
                <a:latin typeface="Arial"/>
              </a:defRPr>
            </a:pPr>
            <a:r>
              <a:t>12:00 · Mensa</a:t>
            </a:r>
          </a:p>
        </p:txBody>
      </p:sp>
      <p:sp>
        <p:nvSpPr>
          <p:cNvPr id="21" name="Rounded Rectangle 20"/>
          <p:cNvSpPr/>
          <p:nvPr/>
        </p:nvSpPr>
        <p:spPr>
          <a:xfrm>
            <a:off x="6362700" y="4046220"/>
            <a:ext cx="5181600" cy="1402080"/>
          </a:xfrm>
          <a:prstGeom prst="roundRect">
            <a:avLst>
              <a:gd name="adj" fmla="val 11956"/>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91300" y="4244340"/>
            <a:ext cx="4572000" cy="282397"/>
          </a:xfrm>
          <a:prstGeom prst="rect">
            <a:avLst/>
          </a:prstGeom>
          <a:noFill/>
        </p:spPr>
        <p:txBody>
          <a:bodyPr wrap="none" lIns="0" rIns="0" tIns="0" bIns="0">
            <a:noAutofit/>
          </a:bodyPr>
          <a:lstStyle/>
          <a:p>
            <a:pPr algn="l">
              <a:lnSpc>
                <a:spcPct val="123000"/>
              </a:lnSpc>
              <a:spcBef>
                <a:spcPts val="0"/>
              </a:spcBef>
              <a:spcAft>
                <a:spcPts val="0"/>
              </a:spcAft>
              <a:defRPr sz="1320" b="1">
                <a:solidFill>
                  <a:srgbClr val="172C36"/>
                </a:solidFill>
                <a:latin typeface="Arial"/>
              </a:defRPr>
            </a:pPr>
            <a:r>
              <a:t>TEAM B</a:t>
            </a:r>
          </a:p>
        </p:txBody>
      </p:sp>
      <p:sp>
        <p:nvSpPr>
          <p:cNvPr id="23" name="TextBox 22"/>
          <p:cNvSpPr txBox="1"/>
          <p:nvPr/>
        </p:nvSpPr>
        <p:spPr>
          <a:xfrm>
            <a:off x="6591300" y="4572000"/>
            <a:ext cx="4648200" cy="713536"/>
          </a:xfrm>
          <a:prstGeom prst="rect">
            <a:avLst/>
          </a:prstGeom>
          <a:noFill/>
        </p:spPr>
        <p:txBody>
          <a:bodyPr wrap="none" lIns="0" rIns="0" tIns="0" bIns="0">
            <a:noAutofit/>
          </a:bodyPr>
          <a:lstStyle/>
          <a:p>
            <a:pPr algn="l">
              <a:lnSpc>
                <a:spcPct val="123000"/>
              </a:lnSpc>
              <a:spcBef>
                <a:spcPts val="0"/>
              </a:spcBef>
              <a:spcAft>
                <a:spcPts val="0"/>
              </a:spcAft>
              <a:defRPr sz="2039" b="1">
                <a:solidFill>
                  <a:srgbClr val="172C36"/>
                </a:solidFill>
                <a:latin typeface="Arial"/>
              </a:defRPr>
            </a:pPr>
            <a:r>
              <a:t>12:30 · Innenhof</a:t>
            </a:r>
          </a:p>
          <a:p>
            <a:pPr algn="l">
              <a:lnSpc>
                <a:spcPct val="123000"/>
              </a:lnSpc>
              <a:spcBef>
                <a:spcPts val="0"/>
              </a:spcBef>
              <a:spcAft>
                <a:spcPts val="0"/>
              </a:spcAft>
              <a:defRPr sz="2039" b="1">
                <a:solidFill>
                  <a:srgbClr val="172C36"/>
                </a:solidFill>
                <a:latin typeface="Arial"/>
              </a:defRPr>
            </a:pPr>
            <a:r>
              <a:t>vegetarisches Buffet</a:t>
            </a:r>
          </a:p>
        </p:txBody>
      </p:sp>
      <p:sp>
        <p:nvSpPr>
          <p:cNvPr id="24" name="Rounded Rectangle 23"/>
          <p:cNvSpPr/>
          <p:nvPr/>
        </p:nvSpPr>
        <p:spPr>
          <a:xfrm>
            <a:off x="548640" y="5684520"/>
            <a:ext cx="11094720" cy="472440"/>
          </a:xfrm>
          <a:prstGeom prst="roundRect">
            <a:avLst>
              <a:gd name="adj" fmla="val 22580"/>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172C36"/>
                </a:solidFill>
                <a:latin typeface="Arial"/>
              </a:defRPr>
            </a:pPr>
            <a:r>
              <a:t>Git erkennt den Textkonflikt. Ihr klärt die gültige Information für die Gäste.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DAF975"/>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AAB9BD"/>
                </a:solidFill>
                <a:latin typeface="Arial"/>
              </a:defRPr>
            </a:pPr>
            <a:r>
              <a:t>PRINZIP 08 / KONFLIKT LESEN</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F5F3EA"/>
                </a:solidFill>
                <a:latin typeface="Arial"/>
              </a:defRPr>
            </a:pPr>
            <a:r>
              <a:t>Git stoppt. Ihr entscheidet.</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AAB9BD"/>
                </a:solidFill>
                <a:latin typeface="Arial"/>
              </a:defRPr>
            </a:pPr>
            <a:r>
              <a:t>Im lokalen Konfliktlabor, auf team-b: git merge main</a:t>
            </a:r>
          </a:p>
        </p:txBody>
      </p:sp>
      <p:cxnSp>
        <p:nvCxnSpPr>
          <p:cNvPr id="7" name="Connector 6"/>
          <p:cNvCxnSpPr/>
          <p:nvPr/>
        </p:nvCxnSpPr>
        <p:spPr>
          <a:xfrm>
            <a:off x="548640" y="6362700"/>
            <a:ext cx="11094720" cy="0"/>
          </a:xfrm>
          <a:prstGeom prst="line">
            <a:avLst/>
          </a:prstGeom>
          <a:ln w="11429">
            <a:solidFill>
              <a:srgbClr val="42555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AAB9BD"/>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F5F3EA"/>
                </a:solidFill>
                <a:latin typeface="Arial"/>
              </a:defRPr>
            </a:pPr>
            <a:r>
              <a:t>15</a:t>
            </a:r>
          </a:p>
        </p:txBody>
      </p:sp>
      <p:sp>
        <p:nvSpPr>
          <p:cNvPr id="10" name="Rounded Rectangle 9"/>
          <p:cNvSpPr/>
          <p:nvPr/>
        </p:nvSpPr>
        <p:spPr>
          <a:xfrm>
            <a:off x="556260" y="2095499"/>
            <a:ext cx="8153399" cy="3131820"/>
          </a:xfrm>
          <a:prstGeom prst="roundRect">
            <a:avLst>
              <a:gd name="adj" fmla="val 5352"/>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 y="2346960"/>
            <a:ext cx="7620000" cy="357378"/>
          </a:xfrm>
          <a:prstGeom prst="rect">
            <a:avLst/>
          </a:prstGeom>
          <a:noFill/>
        </p:spPr>
        <p:txBody>
          <a:bodyPr wrap="none" lIns="0" rIns="0" tIns="0" bIns="0">
            <a:noAutofit/>
          </a:bodyPr>
          <a:lstStyle/>
          <a:p>
            <a:pPr algn="l">
              <a:lnSpc>
                <a:spcPct val="123000"/>
              </a:lnSpc>
              <a:spcBef>
                <a:spcPts val="0"/>
              </a:spcBef>
              <a:spcAft>
                <a:spcPts val="0"/>
              </a:spcAft>
              <a:defRPr sz="1800" b="1">
                <a:solidFill>
                  <a:srgbClr val="FF8B73"/>
                </a:solidFill>
                <a:latin typeface="Courier New"/>
              </a:defRPr>
            </a:pPr>
            <a:r>
              <a:t>&lt;&lt;&lt;&lt;&lt;&lt;&lt; HEAD</a:t>
            </a:r>
          </a:p>
        </p:txBody>
      </p:sp>
      <p:sp>
        <p:nvSpPr>
          <p:cNvPr id="12" name="TextBox 11"/>
          <p:cNvSpPr txBox="1"/>
          <p:nvPr/>
        </p:nvSpPr>
        <p:spPr>
          <a:xfrm>
            <a:off x="800100" y="2903220"/>
            <a:ext cx="7620000" cy="357378"/>
          </a:xfrm>
          <a:prstGeom prst="rect">
            <a:avLst/>
          </a:prstGeom>
          <a:noFill/>
        </p:spPr>
        <p:txBody>
          <a:bodyPr wrap="none" lIns="0" rIns="0" tIns="0" bIns="0">
            <a:noAutofit/>
          </a:bodyPr>
          <a:lstStyle/>
          <a:p>
            <a:pPr algn="l">
              <a:lnSpc>
                <a:spcPct val="123000"/>
              </a:lnSpc>
              <a:spcBef>
                <a:spcPts val="0"/>
              </a:spcBef>
              <a:spcAft>
                <a:spcPts val="0"/>
              </a:spcAft>
              <a:defRPr sz="1800" b="1">
                <a:solidFill>
                  <a:srgbClr val="65D9EC"/>
                </a:solidFill>
                <a:latin typeface="Courier New"/>
              </a:defRPr>
            </a:pPr>
            <a:r>
              <a:t>- 12:30 Lunch im Innenhof mit vegetarischem Buffet</a:t>
            </a:r>
          </a:p>
        </p:txBody>
      </p:sp>
      <p:sp>
        <p:nvSpPr>
          <p:cNvPr id="13" name="TextBox 12"/>
          <p:cNvSpPr txBox="1"/>
          <p:nvPr/>
        </p:nvSpPr>
        <p:spPr>
          <a:xfrm>
            <a:off x="800100" y="3459480"/>
            <a:ext cx="7620000" cy="357378"/>
          </a:xfrm>
          <a:prstGeom prst="rect">
            <a:avLst/>
          </a:prstGeom>
          <a:noFill/>
        </p:spPr>
        <p:txBody>
          <a:bodyPr wrap="none" lIns="0" rIns="0" tIns="0" bIns="0">
            <a:noAutofit/>
          </a:bodyPr>
          <a:lstStyle/>
          <a:p>
            <a:pPr algn="l">
              <a:lnSpc>
                <a:spcPct val="123000"/>
              </a:lnSpc>
              <a:spcBef>
                <a:spcPts val="0"/>
              </a:spcBef>
              <a:spcAft>
                <a:spcPts val="0"/>
              </a:spcAft>
              <a:defRPr sz="1800" b="1">
                <a:solidFill>
                  <a:srgbClr val="FF8B73"/>
                </a:solidFill>
                <a:latin typeface="Courier New"/>
              </a:defRPr>
            </a:pPr>
            <a:r>
              <a:t>=======</a:t>
            </a:r>
          </a:p>
        </p:txBody>
      </p:sp>
      <p:sp>
        <p:nvSpPr>
          <p:cNvPr id="14" name="TextBox 13"/>
          <p:cNvSpPr txBox="1"/>
          <p:nvPr/>
        </p:nvSpPr>
        <p:spPr>
          <a:xfrm>
            <a:off x="800100" y="4015740"/>
            <a:ext cx="7620000" cy="357378"/>
          </a:xfrm>
          <a:prstGeom prst="rect">
            <a:avLst/>
          </a:prstGeom>
          <a:noFill/>
        </p:spPr>
        <p:txBody>
          <a:bodyPr wrap="none" lIns="0" rIns="0" tIns="0" bIns="0">
            <a:noAutofit/>
          </a:bodyPr>
          <a:lstStyle/>
          <a:p>
            <a:pPr algn="l">
              <a:lnSpc>
                <a:spcPct val="123000"/>
              </a:lnSpc>
              <a:spcBef>
                <a:spcPts val="0"/>
              </a:spcBef>
              <a:spcAft>
                <a:spcPts val="0"/>
              </a:spcAft>
              <a:defRPr sz="1800" b="1">
                <a:solidFill>
                  <a:srgbClr val="DAF975"/>
                </a:solidFill>
                <a:latin typeface="Courier New"/>
              </a:defRPr>
            </a:pPr>
            <a:r>
              <a:t>- 12:00 Lunch in der Mensa</a:t>
            </a:r>
          </a:p>
        </p:txBody>
      </p:sp>
      <p:sp>
        <p:nvSpPr>
          <p:cNvPr id="15" name="TextBox 14"/>
          <p:cNvSpPr txBox="1"/>
          <p:nvPr/>
        </p:nvSpPr>
        <p:spPr>
          <a:xfrm>
            <a:off x="800100" y="4572000"/>
            <a:ext cx="7620000" cy="357378"/>
          </a:xfrm>
          <a:prstGeom prst="rect">
            <a:avLst/>
          </a:prstGeom>
          <a:noFill/>
        </p:spPr>
        <p:txBody>
          <a:bodyPr wrap="none" lIns="0" rIns="0" tIns="0" bIns="0">
            <a:noAutofit/>
          </a:bodyPr>
          <a:lstStyle/>
          <a:p>
            <a:pPr algn="l">
              <a:lnSpc>
                <a:spcPct val="123000"/>
              </a:lnSpc>
              <a:spcBef>
                <a:spcPts val="0"/>
              </a:spcBef>
              <a:spcAft>
                <a:spcPts val="0"/>
              </a:spcAft>
              <a:defRPr sz="1800" b="1">
                <a:solidFill>
                  <a:srgbClr val="FF8B73"/>
                </a:solidFill>
                <a:latin typeface="Courier New"/>
              </a:defRPr>
            </a:pPr>
            <a:r>
              <a:t>&gt;&gt;&gt;&gt;&gt;&gt;&gt; main</a:t>
            </a:r>
          </a:p>
        </p:txBody>
      </p:sp>
      <p:sp>
        <p:nvSpPr>
          <p:cNvPr id="16" name="TextBox 15"/>
          <p:cNvSpPr txBox="1"/>
          <p:nvPr/>
        </p:nvSpPr>
        <p:spPr>
          <a:xfrm>
            <a:off x="9067800" y="2278380"/>
            <a:ext cx="2476500" cy="291769"/>
          </a:xfrm>
          <a:prstGeom prst="rect">
            <a:avLst/>
          </a:prstGeom>
          <a:noFill/>
        </p:spPr>
        <p:txBody>
          <a:bodyPr wrap="none" lIns="0" rIns="0" tIns="0" bIns="0">
            <a:noAutofit/>
          </a:bodyPr>
          <a:lstStyle/>
          <a:p>
            <a:pPr algn="l">
              <a:lnSpc>
                <a:spcPct val="123000"/>
              </a:lnSpc>
              <a:spcBef>
                <a:spcPts val="0"/>
              </a:spcBef>
              <a:spcAft>
                <a:spcPts val="0"/>
              </a:spcAft>
              <a:defRPr sz="1380" b="1">
                <a:solidFill>
                  <a:srgbClr val="AAB9BD"/>
                </a:solidFill>
                <a:latin typeface="Arial"/>
              </a:defRPr>
            </a:pPr>
            <a:r>
              <a:t>VORGABEN</a:t>
            </a:r>
          </a:p>
        </p:txBody>
      </p:sp>
      <p:sp>
        <p:nvSpPr>
          <p:cNvPr id="17" name="Rounded Rectangle 16"/>
          <p:cNvSpPr/>
          <p:nvPr/>
        </p:nvSpPr>
        <p:spPr>
          <a:xfrm>
            <a:off x="8991600" y="2720340"/>
            <a:ext cx="249936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67800" y="2788920"/>
            <a:ext cx="2346960" cy="357378"/>
          </a:xfrm>
          <a:prstGeom prst="rect">
            <a:avLst/>
          </a:prstGeom>
          <a:noFill/>
        </p:spPr>
        <p:txBody>
          <a:bodyPr wrap="none" lIns="0" rIns="0" tIns="0" bIns="0">
            <a:noAutofit/>
          </a:bodyPr>
          <a:lstStyle/>
          <a:p>
            <a:pPr algn="ctr">
              <a:lnSpc>
                <a:spcPct val="123000"/>
              </a:lnSpc>
              <a:spcBef>
                <a:spcPts val="0"/>
              </a:spcBef>
              <a:spcAft>
                <a:spcPts val="0"/>
              </a:spcAft>
              <a:defRPr sz="1800" b="1">
                <a:solidFill>
                  <a:srgbClr val="172C36"/>
                </a:solidFill>
                <a:latin typeface="Courier New"/>
              </a:defRPr>
            </a:pPr>
            <a:r>
              <a:t>12:30</a:t>
            </a:r>
          </a:p>
        </p:txBody>
      </p:sp>
      <p:sp>
        <p:nvSpPr>
          <p:cNvPr id="19" name="Rounded Rectangle 18"/>
          <p:cNvSpPr/>
          <p:nvPr/>
        </p:nvSpPr>
        <p:spPr>
          <a:xfrm>
            <a:off x="8991600" y="3444240"/>
            <a:ext cx="2499360"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67800" y="3512820"/>
            <a:ext cx="2346960" cy="357378"/>
          </a:xfrm>
          <a:prstGeom prst="rect">
            <a:avLst/>
          </a:prstGeom>
          <a:noFill/>
        </p:spPr>
        <p:txBody>
          <a:bodyPr wrap="none" lIns="0" rIns="0" tIns="0" bIns="0">
            <a:noAutofit/>
          </a:bodyPr>
          <a:lstStyle/>
          <a:p>
            <a:pPr algn="ctr">
              <a:lnSpc>
                <a:spcPct val="123000"/>
              </a:lnSpc>
              <a:spcBef>
                <a:spcPts val="0"/>
              </a:spcBef>
              <a:spcAft>
                <a:spcPts val="0"/>
              </a:spcAft>
              <a:defRPr sz="1800" b="1">
                <a:solidFill>
                  <a:srgbClr val="172C36"/>
                </a:solidFill>
                <a:latin typeface="Courier New"/>
              </a:defRPr>
            </a:pPr>
            <a:r>
              <a:t>Mensa</a:t>
            </a:r>
          </a:p>
        </p:txBody>
      </p:sp>
      <p:sp>
        <p:nvSpPr>
          <p:cNvPr id="21" name="Rounded Rectangle 20"/>
          <p:cNvSpPr/>
          <p:nvPr/>
        </p:nvSpPr>
        <p:spPr>
          <a:xfrm>
            <a:off x="8991600" y="4168140"/>
            <a:ext cx="2499360" cy="365760"/>
          </a:xfrm>
          <a:prstGeom prst="roundRect">
            <a:avLst>
              <a:gd name="adj" fmla="val 50000"/>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67800" y="4236720"/>
            <a:ext cx="2346960" cy="357378"/>
          </a:xfrm>
          <a:prstGeom prst="rect">
            <a:avLst/>
          </a:prstGeom>
          <a:noFill/>
        </p:spPr>
        <p:txBody>
          <a:bodyPr wrap="none" lIns="0" rIns="0" tIns="0" bIns="0">
            <a:noAutofit/>
          </a:bodyPr>
          <a:lstStyle/>
          <a:p>
            <a:pPr algn="ctr">
              <a:lnSpc>
                <a:spcPct val="123000"/>
              </a:lnSpc>
              <a:spcBef>
                <a:spcPts val="0"/>
              </a:spcBef>
              <a:spcAft>
                <a:spcPts val="0"/>
              </a:spcAft>
              <a:defRPr sz="1800" b="1">
                <a:solidFill>
                  <a:srgbClr val="172C36"/>
                </a:solidFill>
                <a:latin typeface="Courier New"/>
              </a:defRPr>
            </a:pPr>
            <a:r>
              <a:t>vegetarisch</a:t>
            </a:r>
          </a:p>
        </p:txBody>
      </p:sp>
      <p:sp>
        <p:nvSpPr>
          <p:cNvPr id="23" name="Rounded Rectangle 22"/>
          <p:cNvSpPr/>
          <p:nvPr/>
        </p:nvSpPr>
        <p:spPr>
          <a:xfrm>
            <a:off x="548640" y="5684520"/>
            <a:ext cx="11094720" cy="472440"/>
          </a:xfrm>
          <a:prstGeom prst="roundRect">
            <a:avLst>
              <a:gd name="adj" fmla="val 22580"/>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F5F3EA"/>
                </a:solidFill>
                <a:latin typeface="Arial"/>
              </a:defRPr>
            </a:pPr>
            <a:r>
              <a:t>Die Marker zeigen Varianten. Die fachlich richtige Endfassung bestimmt ihr.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DAF975"/>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AAB9BD"/>
                </a:solidFill>
                <a:latin typeface="Arial"/>
              </a:defRPr>
            </a:pPr>
            <a:r>
              <a:t>PRAXIS 03 / MINUTE 55–80</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F5F3EA"/>
                </a:solidFill>
                <a:latin typeface="Arial"/>
              </a:defRPr>
            </a:pPr>
            <a:r>
              <a:t>Baut die gültige Lunch-Zeile.</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AAB9BD"/>
                </a:solidFill>
                <a:latin typeface="Arial"/>
              </a:defRPr>
            </a:pPr>
            <a:r>
              <a:t>Jede Person löst einen echten Konflikt. Danach erklärt ihr euch die Entscheidung.</a:t>
            </a:r>
          </a:p>
        </p:txBody>
      </p:sp>
      <p:cxnSp>
        <p:nvCxnSpPr>
          <p:cNvPr id="7" name="Connector 6"/>
          <p:cNvCxnSpPr/>
          <p:nvPr/>
        </p:nvCxnSpPr>
        <p:spPr>
          <a:xfrm>
            <a:off x="548640" y="6362700"/>
            <a:ext cx="11094720" cy="0"/>
          </a:xfrm>
          <a:prstGeom prst="line">
            <a:avLst/>
          </a:prstGeom>
          <a:ln w="11429">
            <a:solidFill>
              <a:srgbClr val="42555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AAB9BD"/>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F5F3EA"/>
                </a:solidFill>
                <a:latin typeface="Arial"/>
              </a:defRPr>
            </a:pPr>
            <a:r>
              <a:t>16</a:t>
            </a:r>
          </a:p>
        </p:txBody>
      </p:sp>
      <p:sp>
        <p:nvSpPr>
          <p:cNvPr id="10" name="TextBox 9"/>
          <p:cNvSpPr txBox="1"/>
          <p:nvPr/>
        </p:nvSpPr>
        <p:spPr>
          <a:xfrm>
            <a:off x="586740" y="2240280"/>
            <a:ext cx="2819400" cy="1641424"/>
          </a:xfrm>
          <a:prstGeom prst="rect">
            <a:avLst/>
          </a:prstGeom>
          <a:noFill/>
        </p:spPr>
        <p:txBody>
          <a:bodyPr wrap="none" lIns="0" rIns="0" tIns="0" bIns="0">
            <a:noAutofit/>
          </a:bodyPr>
          <a:lstStyle/>
          <a:p>
            <a:pPr algn="l">
              <a:lnSpc>
                <a:spcPct val="123000"/>
              </a:lnSpc>
              <a:spcBef>
                <a:spcPts val="0"/>
              </a:spcBef>
              <a:spcAft>
                <a:spcPts val="0"/>
              </a:spcAft>
              <a:defRPr sz="10020" b="1">
                <a:solidFill>
                  <a:srgbClr val="FF8B73"/>
                </a:solidFill>
                <a:latin typeface="Arial"/>
              </a:defRPr>
            </a:pPr>
            <a:r>
              <a:t>25</a:t>
            </a:r>
          </a:p>
        </p:txBody>
      </p:sp>
      <p:sp>
        <p:nvSpPr>
          <p:cNvPr id="11" name="TextBox 10"/>
          <p:cNvSpPr txBox="1"/>
          <p:nvPr/>
        </p:nvSpPr>
        <p:spPr>
          <a:xfrm>
            <a:off x="632460" y="3566160"/>
            <a:ext cx="2667000" cy="319887"/>
          </a:xfrm>
          <a:prstGeom prst="rect">
            <a:avLst/>
          </a:prstGeom>
          <a:noFill/>
        </p:spPr>
        <p:txBody>
          <a:bodyPr wrap="none" lIns="0" rIns="0" tIns="0" bIns="0">
            <a:noAutofit/>
          </a:bodyPr>
          <a:lstStyle/>
          <a:p>
            <a:pPr algn="l">
              <a:lnSpc>
                <a:spcPct val="123000"/>
              </a:lnSpc>
              <a:spcBef>
                <a:spcPts val="0"/>
              </a:spcBef>
              <a:spcAft>
                <a:spcPts val="0"/>
              </a:spcAft>
              <a:defRPr sz="1560" b="1">
                <a:solidFill>
                  <a:srgbClr val="FF8B73"/>
                </a:solidFill>
                <a:latin typeface="Arial"/>
              </a:defRPr>
            </a:pPr>
            <a:r>
              <a:t>MINUTEN GESAMT</a:t>
            </a:r>
          </a:p>
        </p:txBody>
      </p:sp>
      <p:sp>
        <p:nvSpPr>
          <p:cNvPr id="12" name="Rounded Rectangle 11"/>
          <p:cNvSpPr/>
          <p:nvPr/>
        </p:nvSpPr>
        <p:spPr>
          <a:xfrm>
            <a:off x="4069080" y="2148840"/>
            <a:ext cx="7444740" cy="1005840"/>
          </a:xfrm>
          <a:prstGeom prst="roundRect">
            <a:avLst>
              <a:gd name="adj" fmla="val 15151"/>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67200" y="2446020"/>
            <a:ext cx="65532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2514600"/>
            <a:ext cx="50292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01</a:t>
            </a:r>
          </a:p>
        </p:txBody>
      </p:sp>
      <p:sp>
        <p:nvSpPr>
          <p:cNvPr id="15" name="TextBox 14"/>
          <p:cNvSpPr txBox="1"/>
          <p:nvPr/>
        </p:nvSpPr>
        <p:spPr>
          <a:xfrm>
            <a:off x="5181600" y="2301240"/>
            <a:ext cx="5791200" cy="394868"/>
          </a:xfrm>
          <a:prstGeom prst="rect">
            <a:avLst/>
          </a:prstGeom>
          <a:noFill/>
        </p:spPr>
        <p:txBody>
          <a:bodyPr wrap="none" lIns="0" rIns="0" tIns="0" bIns="0">
            <a:noAutofit/>
          </a:bodyPr>
          <a:lstStyle/>
          <a:p>
            <a:pPr algn="l">
              <a:lnSpc>
                <a:spcPct val="123000"/>
              </a:lnSpc>
              <a:spcBef>
                <a:spcPts val="0"/>
              </a:spcBef>
              <a:spcAft>
                <a:spcPts val="0"/>
              </a:spcAft>
              <a:defRPr sz="2039" b="1">
                <a:solidFill>
                  <a:srgbClr val="65D9EC"/>
                </a:solidFill>
                <a:latin typeface="Arial"/>
              </a:defRPr>
            </a:pPr>
            <a:r>
              <a:t>Lesen</a:t>
            </a:r>
          </a:p>
        </p:txBody>
      </p:sp>
      <p:sp>
        <p:nvSpPr>
          <p:cNvPr id="16" name="TextBox 15"/>
          <p:cNvSpPr txBox="1"/>
          <p:nvPr/>
        </p:nvSpPr>
        <p:spPr>
          <a:xfrm>
            <a:off x="5181600" y="2705100"/>
            <a:ext cx="5791200" cy="338632"/>
          </a:xfrm>
          <a:prstGeom prst="rect">
            <a:avLst/>
          </a:prstGeom>
          <a:noFill/>
        </p:spPr>
        <p:txBody>
          <a:bodyPr wrap="none" lIns="0" rIns="0" tIns="0" bIns="0">
            <a:noAutofit/>
          </a:bodyPr>
          <a:lstStyle/>
          <a:p>
            <a:pPr algn="l">
              <a:lnSpc>
                <a:spcPct val="123000"/>
              </a:lnSpc>
              <a:spcBef>
                <a:spcPts val="0"/>
              </a:spcBef>
              <a:spcAft>
                <a:spcPts val="0"/>
              </a:spcAft>
              <a:defRPr sz="1680" b="0">
                <a:solidFill>
                  <a:srgbClr val="F5F3EA"/>
                </a:solidFill>
                <a:latin typeface="Arial"/>
              </a:defRPr>
            </a:pPr>
            <a:r>
              <a:t>Status + beide Varianten</a:t>
            </a:r>
          </a:p>
        </p:txBody>
      </p:sp>
      <p:sp>
        <p:nvSpPr>
          <p:cNvPr id="17" name="Rounded Rectangle 16"/>
          <p:cNvSpPr/>
          <p:nvPr/>
        </p:nvSpPr>
        <p:spPr>
          <a:xfrm>
            <a:off x="4069080" y="3284220"/>
            <a:ext cx="7444740" cy="1005840"/>
          </a:xfrm>
          <a:prstGeom prst="roundRect">
            <a:avLst>
              <a:gd name="adj" fmla="val 15151"/>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67200" y="3581400"/>
            <a:ext cx="655320" cy="365760"/>
          </a:xfrm>
          <a:prstGeom prst="roundRect">
            <a:avLst>
              <a:gd name="adj" fmla="val 50000"/>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3649980"/>
            <a:ext cx="50292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02</a:t>
            </a:r>
          </a:p>
        </p:txBody>
      </p:sp>
      <p:sp>
        <p:nvSpPr>
          <p:cNvPr id="20" name="TextBox 19"/>
          <p:cNvSpPr txBox="1"/>
          <p:nvPr/>
        </p:nvSpPr>
        <p:spPr>
          <a:xfrm>
            <a:off x="5181600" y="3436620"/>
            <a:ext cx="5791200" cy="394868"/>
          </a:xfrm>
          <a:prstGeom prst="rect">
            <a:avLst/>
          </a:prstGeom>
          <a:noFill/>
        </p:spPr>
        <p:txBody>
          <a:bodyPr wrap="none" lIns="0" rIns="0" tIns="0" bIns="0">
            <a:noAutofit/>
          </a:bodyPr>
          <a:lstStyle/>
          <a:p>
            <a:pPr algn="l">
              <a:lnSpc>
                <a:spcPct val="123000"/>
              </a:lnSpc>
              <a:spcBef>
                <a:spcPts val="0"/>
              </a:spcBef>
              <a:spcAft>
                <a:spcPts val="0"/>
              </a:spcAft>
              <a:defRPr sz="2039" b="1">
                <a:solidFill>
                  <a:srgbClr val="C5B5F2"/>
                </a:solidFill>
                <a:latin typeface="Arial"/>
              </a:defRPr>
            </a:pPr>
            <a:r>
              <a:t>Entscheiden</a:t>
            </a:r>
          </a:p>
        </p:txBody>
      </p:sp>
      <p:sp>
        <p:nvSpPr>
          <p:cNvPr id="21" name="TextBox 20"/>
          <p:cNvSpPr txBox="1"/>
          <p:nvPr/>
        </p:nvSpPr>
        <p:spPr>
          <a:xfrm>
            <a:off x="5181600" y="3840480"/>
            <a:ext cx="5791200" cy="338632"/>
          </a:xfrm>
          <a:prstGeom prst="rect">
            <a:avLst/>
          </a:prstGeom>
          <a:noFill/>
        </p:spPr>
        <p:txBody>
          <a:bodyPr wrap="none" lIns="0" rIns="0" tIns="0" bIns="0">
            <a:noAutofit/>
          </a:bodyPr>
          <a:lstStyle/>
          <a:p>
            <a:pPr algn="l">
              <a:lnSpc>
                <a:spcPct val="123000"/>
              </a:lnSpc>
              <a:spcBef>
                <a:spcPts val="0"/>
              </a:spcBef>
              <a:spcAft>
                <a:spcPts val="0"/>
              </a:spcAft>
              <a:defRPr sz="1680" b="0">
                <a:solidFill>
                  <a:srgbClr val="F5F3EA"/>
                </a:solidFill>
                <a:latin typeface="Arial"/>
              </a:defRPr>
            </a:pPr>
            <a:r>
              <a:t>Zeit, Ort und Angebot verbinden</a:t>
            </a:r>
          </a:p>
        </p:txBody>
      </p:sp>
      <p:sp>
        <p:nvSpPr>
          <p:cNvPr id="22" name="Rounded Rectangle 21"/>
          <p:cNvSpPr/>
          <p:nvPr/>
        </p:nvSpPr>
        <p:spPr>
          <a:xfrm>
            <a:off x="4069080" y="4419600"/>
            <a:ext cx="7444740" cy="1005840"/>
          </a:xfrm>
          <a:prstGeom prst="roundRect">
            <a:avLst>
              <a:gd name="adj" fmla="val 15151"/>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267200" y="4716780"/>
            <a:ext cx="655320"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4785360"/>
            <a:ext cx="50292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03</a:t>
            </a:r>
          </a:p>
        </p:txBody>
      </p:sp>
      <p:sp>
        <p:nvSpPr>
          <p:cNvPr id="25" name="TextBox 24"/>
          <p:cNvSpPr txBox="1"/>
          <p:nvPr/>
        </p:nvSpPr>
        <p:spPr>
          <a:xfrm>
            <a:off x="5181600" y="4572000"/>
            <a:ext cx="5791200" cy="394868"/>
          </a:xfrm>
          <a:prstGeom prst="rect">
            <a:avLst/>
          </a:prstGeom>
          <a:noFill/>
        </p:spPr>
        <p:txBody>
          <a:bodyPr wrap="none" lIns="0" rIns="0" tIns="0" bIns="0">
            <a:noAutofit/>
          </a:bodyPr>
          <a:lstStyle/>
          <a:p>
            <a:pPr algn="l">
              <a:lnSpc>
                <a:spcPct val="123000"/>
              </a:lnSpc>
              <a:spcBef>
                <a:spcPts val="0"/>
              </a:spcBef>
              <a:spcAft>
                <a:spcPts val="0"/>
              </a:spcAft>
              <a:defRPr sz="2039" b="1">
                <a:solidFill>
                  <a:srgbClr val="DAF975"/>
                </a:solidFill>
                <a:latin typeface="Arial"/>
              </a:defRPr>
            </a:pPr>
            <a:r>
              <a:t>Abschliessen</a:t>
            </a:r>
          </a:p>
        </p:txBody>
      </p:sp>
      <p:sp>
        <p:nvSpPr>
          <p:cNvPr id="26" name="TextBox 25"/>
          <p:cNvSpPr txBox="1"/>
          <p:nvPr/>
        </p:nvSpPr>
        <p:spPr>
          <a:xfrm>
            <a:off x="5181600" y="4975860"/>
            <a:ext cx="5791200" cy="338632"/>
          </a:xfrm>
          <a:prstGeom prst="rect">
            <a:avLst/>
          </a:prstGeom>
          <a:noFill/>
        </p:spPr>
        <p:txBody>
          <a:bodyPr wrap="none" lIns="0" rIns="0" tIns="0" bIns="0">
            <a:noAutofit/>
          </a:bodyPr>
          <a:lstStyle/>
          <a:p>
            <a:pPr algn="l">
              <a:lnSpc>
                <a:spcPct val="123000"/>
              </a:lnSpc>
              <a:spcBef>
                <a:spcPts val="0"/>
              </a:spcBef>
              <a:spcAft>
                <a:spcPts val="0"/>
              </a:spcAft>
              <a:defRPr sz="1680" b="0">
                <a:solidFill>
                  <a:srgbClr val="F5F3EA"/>
                </a:solidFill>
                <a:latin typeface="Arial"/>
              </a:defRPr>
            </a:pPr>
            <a:r>
              <a:t>prüfen → add → commit</a:t>
            </a:r>
          </a:p>
        </p:txBody>
      </p:sp>
      <p:sp>
        <p:nvSpPr>
          <p:cNvPr id="27" name="Rounded Rectangle 26"/>
          <p:cNvSpPr/>
          <p:nvPr/>
        </p:nvSpPr>
        <p:spPr>
          <a:xfrm>
            <a:off x="548640" y="5684520"/>
            <a:ext cx="11094720" cy="472440"/>
          </a:xfrm>
          <a:prstGeom prst="roundRect">
            <a:avLst>
              <a:gd name="adj" fmla="val 22580"/>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F5F3EA"/>
                </a:solidFill>
                <a:latin typeface="Arial"/>
              </a:defRPr>
            </a:pPr>
            <a:r>
              <a:t>Fertig: keine Marker, alle drei Vorgaben erfüllt, sauberer git status.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172C36"/>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576B70"/>
                </a:solidFill>
                <a:latin typeface="Arial"/>
              </a:defRPr>
            </a:pPr>
            <a:r>
              <a:t>AUFLÖSUNG / ERST NACH DER PRAXIS</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172C36"/>
                </a:solidFill>
                <a:latin typeface="Arial"/>
              </a:defRPr>
            </a:pPr>
            <a:r>
              <a:t>Drei Anforderungen. Eine Lösung.</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576B70"/>
                </a:solidFill>
                <a:latin typeface="Arial"/>
              </a:defRPr>
            </a:pPr>
            <a:r>
              <a:t>Eine gültige Endfassung enthält die Informationen aus beiden Änderungen.</a:t>
            </a:r>
          </a:p>
        </p:txBody>
      </p:sp>
      <p:cxnSp>
        <p:nvCxnSpPr>
          <p:cNvPr id="7" name="Connector 6"/>
          <p:cNvCxnSpPr/>
          <p:nvPr/>
        </p:nvCxnSpPr>
        <p:spPr>
          <a:xfrm>
            <a:off x="548640" y="6362700"/>
            <a:ext cx="11094720" cy="0"/>
          </a:xfrm>
          <a:prstGeom prst="line">
            <a:avLst/>
          </a:prstGeom>
          <a:ln w="11429">
            <a:solidFill>
              <a:srgbClr val="D2D9D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576B70"/>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172C36"/>
                </a:solidFill>
                <a:latin typeface="Arial"/>
              </a:defRPr>
            </a:pPr>
            <a:r>
              <a:t>17</a:t>
            </a:r>
          </a:p>
        </p:txBody>
      </p:sp>
      <p:sp>
        <p:nvSpPr>
          <p:cNvPr id="10" name="Rounded Rectangle 9"/>
          <p:cNvSpPr/>
          <p:nvPr/>
        </p:nvSpPr>
        <p:spPr>
          <a:xfrm>
            <a:off x="556260" y="2072640"/>
            <a:ext cx="11087100" cy="1143000"/>
          </a:xfrm>
          <a:prstGeom prst="roundRect">
            <a:avLst>
              <a:gd name="adj" fmla="val 16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331720"/>
            <a:ext cx="10439400" cy="479221"/>
          </a:xfrm>
          <a:prstGeom prst="rect">
            <a:avLst/>
          </a:prstGeom>
          <a:noFill/>
        </p:spPr>
        <p:txBody>
          <a:bodyPr wrap="none" lIns="0" rIns="0" tIns="0" bIns="0">
            <a:noAutofit/>
          </a:bodyPr>
          <a:lstStyle/>
          <a:p>
            <a:pPr algn="l">
              <a:lnSpc>
                <a:spcPct val="123000"/>
              </a:lnSpc>
              <a:spcBef>
                <a:spcPts val="0"/>
              </a:spcBef>
              <a:spcAft>
                <a:spcPts val="0"/>
              </a:spcAft>
              <a:defRPr sz="2580" b="1">
                <a:solidFill>
                  <a:srgbClr val="172C36"/>
                </a:solidFill>
                <a:latin typeface="Arial"/>
              </a:defRPr>
            </a:pPr>
            <a:r>
              <a:t>12:30 · Lunch in der Mensa</a:t>
            </a:r>
          </a:p>
        </p:txBody>
      </p:sp>
      <p:sp>
        <p:nvSpPr>
          <p:cNvPr id="12" name="TextBox 11"/>
          <p:cNvSpPr txBox="1"/>
          <p:nvPr/>
        </p:nvSpPr>
        <p:spPr>
          <a:xfrm>
            <a:off x="822960" y="2766060"/>
            <a:ext cx="10439400" cy="376123"/>
          </a:xfrm>
          <a:prstGeom prst="rect">
            <a:avLst/>
          </a:prstGeom>
          <a:noFill/>
        </p:spPr>
        <p:txBody>
          <a:bodyPr wrap="none" lIns="0" rIns="0" tIns="0" bIns="0">
            <a:noAutofit/>
          </a:bodyPr>
          <a:lstStyle/>
          <a:p>
            <a:pPr algn="l">
              <a:lnSpc>
                <a:spcPct val="123000"/>
              </a:lnSpc>
              <a:spcBef>
                <a:spcPts val="0"/>
              </a:spcBef>
              <a:spcAft>
                <a:spcPts val="0"/>
              </a:spcAft>
              <a:defRPr sz="1920" b="0">
                <a:solidFill>
                  <a:srgbClr val="172C36"/>
                </a:solidFill>
                <a:latin typeface="Arial"/>
              </a:defRPr>
            </a:pPr>
            <a:r>
              <a:t>mit vegetarischem Buffet</a:t>
            </a:r>
          </a:p>
        </p:txBody>
      </p:sp>
      <p:cxnSp>
        <p:nvCxnSpPr>
          <p:cNvPr id="13" name="Connector 12"/>
          <p:cNvCxnSpPr/>
          <p:nvPr/>
        </p:nvCxnSpPr>
        <p:spPr>
          <a:xfrm flipV="1">
            <a:off x="1661160" y="3931920"/>
            <a:ext cx="2529839" cy="563880"/>
          </a:xfrm>
          <a:prstGeom prst="line">
            <a:avLst/>
          </a:prstGeom>
          <a:ln w="60960">
            <a:solidFill>
              <a:srgbClr val="6A863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190999" y="3931920"/>
            <a:ext cx="4419601" cy="563880"/>
          </a:xfrm>
          <a:prstGeom prst="line">
            <a:avLst/>
          </a:prstGeom>
          <a:ln w="60960">
            <a:solidFill>
              <a:srgbClr val="6A863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661160" y="4495800"/>
            <a:ext cx="2529839" cy="693420"/>
          </a:xfrm>
          <a:prstGeom prst="line">
            <a:avLst/>
          </a:prstGeom>
          <a:ln w="60960">
            <a:solidFill>
              <a:srgbClr val="24829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190999" y="4495800"/>
            <a:ext cx="4419601" cy="693420"/>
          </a:xfrm>
          <a:prstGeom prst="line">
            <a:avLst/>
          </a:prstGeom>
          <a:ln w="60960">
            <a:solidFill>
              <a:srgbClr val="24829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1417320" y="4251960"/>
            <a:ext cx="487680" cy="487680"/>
          </a:xfrm>
          <a:prstGeom prst="ellipse">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4336999"/>
            <a:ext cx="487680" cy="397117"/>
          </a:xfrm>
          <a:prstGeom prst="rect">
            <a:avLst/>
          </a:prstGeom>
          <a:noFill/>
        </p:spPr>
        <p:txBody>
          <a:bodyPr wrap="none" lIns="0" rIns="0" tIns="0" bIns="0">
            <a:noAutofit/>
          </a:bodyPr>
          <a:lstStyle/>
          <a:p>
            <a:pPr algn="ctr">
              <a:lnSpc>
                <a:spcPct val="123000"/>
              </a:lnSpc>
              <a:spcBef>
                <a:spcPts val="0"/>
              </a:spcBef>
              <a:spcAft>
                <a:spcPts val="0"/>
              </a:spcAft>
              <a:defRPr sz="2054" b="1">
                <a:solidFill>
                  <a:srgbClr val="172C36"/>
                </a:solidFill>
                <a:latin typeface="Courier New"/>
              </a:defRPr>
            </a:pPr>
            <a:r>
              <a:t>O</a:t>
            </a:r>
          </a:p>
        </p:txBody>
      </p:sp>
      <p:sp>
        <p:nvSpPr>
          <p:cNvPr id="19" name="Oval 18"/>
          <p:cNvSpPr/>
          <p:nvPr/>
        </p:nvSpPr>
        <p:spPr>
          <a:xfrm>
            <a:off x="3947160" y="3688080"/>
            <a:ext cx="487680" cy="48768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47160" y="3773119"/>
            <a:ext cx="487680" cy="397117"/>
          </a:xfrm>
          <a:prstGeom prst="rect">
            <a:avLst/>
          </a:prstGeom>
          <a:noFill/>
        </p:spPr>
        <p:txBody>
          <a:bodyPr wrap="none" lIns="0" rIns="0" tIns="0" bIns="0">
            <a:noAutofit/>
          </a:bodyPr>
          <a:lstStyle/>
          <a:p>
            <a:pPr algn="ctr">
              <a:lnSpc>
                <a:spcPct val="123000"/>
              </a:lnSpc>
              <a:spcBef>
                <a:spcPts val="0"/>
              </a:spcBef>
              <a:spcAft>
                <a:spcPts val="0"/>
              </a:spcAft>
              <a:defRPr sz="2054" b="1">
                <a:solidFill>
                  <a:srgbClr val="172C36"/>
                </a:solidFill>
                <a:latin typeface="Courier New"/>
              </a:defRPr>
            </a:pPr>
            <a:r>
              <a:t>A</a:t>
            </a:r>
          </a:p>
        </p:txBody>
      </p:sp>
      <p:sp>
        <p:nvSpPr>
          <p:cNvPr id="21" name="Oval 20"/>
          <p:cNvSpPr/>
          <p:nvPr/>
        </p:nvSpPr>
        <p:spPr>
          <a:xfrm>
            <a:off x="3947160" y="4945380"/>
            <a:ext cx="487680" cy="48768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47160" y="5030419"/>
            <a:ext cx="487680" cy="397117"/>
          </a:xfrm>
          <a:prstGeom prst="rect">
            <a:avLst/>
          </a:prstGeom>
          <a:noFill/>
        </p:spPr>
        <p:txBody>
          <a:bodyPr wrap="none" lIns="0" rIns="0" tIns="0" bIns="0">
            <a:noAutofit/>
          </a:bodyPr>
          <a:lstStyle/>
          <a:p>
            <a:pPr algn="ctr">
              <a:lnSpc>
                <a:spcPct val="123000"/>
              </a:lnSpc>
              <a:spcBef>
                <a:spcPts val="0"/>
              </a:spcBef>
              <a:spcAft>
                <a:spcPts val="0"/>
              </a:spcAft>
              <a:defRPr sz="2054" b="1">
                <a:solidFill>
                  <a:srgbClr val="172C36"/>
                </a:solidFill>
                <a:latin typeface="Courier New"/>
              </a:defRPr>
            </a:pPr>
            <a:r>
              <a:t>B</a:t>
            </a:r>
          </a:p>
        </p:txBody>
      </p:sp>
      <p:sp>
        <p:nvSpPr>
          <p:cNvPr id="23" name="Oval 22"/>
          <p:cNvSpPr/>
          <p:nvPr/>
        </p:nvSpPr>
        <p:spPr>
          <a:xfrm>
            <a:off x="8366760" y="4251960"/>
            <a:ext cx="487680" cy="487680"/>
          </a:xfrm>
          <a:prstGeom prst="ellipse">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66760" y="4336999"/>
            <a:ext cx="487680" cy="397117"/>
          </a:xfrm>
          <a:prstGeom prst="rect">
            <a:avLst/>
          </a:prstGeom>
          <a:noFill/>
        </p:spPr>
        <p:txBody>
          <a:bodyPr wrap="none" lIns="0" rIns="0" tIns="0" bIns="0">
            <a:noAutofit/>
          </a:bodyPr>
          <a:lstStyle/>
          <a:p>
            <a:pPr algn="ctr">
              <a:lnSpc>
                <a:spcPct val="123000"/>
              </a:lnSpc>
              <a:spcBef>
                <a:spcPts val="0"/>
              </a:spcBef>
              <a:spcAft>
                <a:spcPts val="0"/>
              </a:spcAft>
              <a:defRPr sz="2054" b="1">
                <a:solidFill>
                  <a:srgbClr val="172C36"/>
                </a:solidFill>
                <a:latin typeface="Courier New"/>
              </a:defRPr>
            </a:pPr>
            <a:r>
              <a:t>M</a:t>
            </a:r>
          </a:p>
        </p:txBody>
      </p:sp>
      <p:sp>
        <p:nvSpPr>
          <p:cNvPr id="25" name="Rounded Rectangle 24"/>
          <p:cNvSpPr/>
          <p:nvPr/>
        </p:nvSpPr>
        <p:spPr>
          <a:xfrm>
            <a:off x="3710940" y="3429000"/>
            <a:ext cx="990599"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87140" y="3497580"/>
            <a:ext cx="8382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main</a:t>
            </a:r>
          </a:p>
        </p:txBody>
      </p:sp>
      <p:sp>
        <p:nvSpPr>
          <p:cNvPr id="27" name="Rounded Rectangle 26"/>
          <p:cNvSpPr/>
          <p:nvPr/>
        </p:nvSpPr>
        <p:spPr>
          <a:xfrm>
            <a:off x="9189720" y="4305300"/>
            <a:ext cx="167640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65920" y="4373880"/>
            <a:ext cx="15240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team-b</a:t>
            </a:r>
          </a:p>
        </p:txBody>
      </p:sp>
      <p:sp>
        <p:nvSpPr>
          <p:cNvPr id="29" name="TextBox 28"/>
          <p:cNvSpPr txBox="1"/>
          <p:nvPr/>
        </p:nvSpPr>
        <p:spPr>
          <a:xfrm>
            <a:off x="7086600" y="5227320"/>
            <a:ext cx="4343400" cy="338632"/>
          </a:xfrm>
          <a:prstGeom prst="rect">
            <a:avLst/>
          </a:prstGeom>
          <a:noFill/>
        </p:spPr>
        <p:txBody>
          <a:bodyPr wrap="none" lIns="0" rIns="0" tIns="0" bIns="0">
            <a:noAutofit/>
          </a:bodyPr>
          <a:lstStyle/>
          <a:p>
            <a:pPr algn="l">
              <a:lnSpc>
                <a:spcPct val="123000"/>
              </a:lnSpc>
              <a:spcBef>
                <a:spcPts val="0"/>
              </a:spcBef>
              <a:spcAft>
                <a:spcPts val="0"/>
              </a:spcAft>
              <a:defRPr sz="1680" b="0">
                <a:solidFill>
                  <a:srgbClr val="172C36"/>
                </a:solidFill>
                <a:latin typeface="Arial"/>
              </a:defRPr>
            </a:pPr>
            <a:r>
              <a:t>M hat zwei Eltern: A und B.</a:t>
            </a:r>
          </a:p>
        </p:txBody>
      </p:sp>
      <p:sp>
        <p:nvSpPr>
          <p:cNvPr id="30" name="Rounded Rectangle 29"/>
          <p:cNvSpPr/>
          <p:nvPr/>
        </p:nvSpPr>
        <p:spPr>
          <a:xfrm>
            <a:off x="548640" y="5684520"/>
            <a:ext cx="11094720" cy="472440"/>
          </a:xfrm>
          <a:prstGeom prst="roundRect">
            <a:avLst>
              <a:gd name="adj" fmla="val 22580"/>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172C36"/>
                </a:solidFill>
                <a:latin typeface="Arial"/>
              </a:defRPr>
            </a:pPr>
            <a:r>
              <a:t>Konfliktfrei heisst: Git konnte zusammenführen. Richtig heisst: Ihr habt geprüft.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DAF975"/>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AAB9BD"/>
                </a:solidFill>
                <a:latin typeface="Arial"/>
              </a:defRPr>
            </a:pPr>
            <a:r>
              <a:t>PRINZIP 09 / FAST-FORWARD</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F5F3EA"/>
                </a:solidFill>
                <a:latin typeface="Arial"/>
              </a:defRPr>
            </a:pPr>
            <a:r>
              <a:t>Fast-Forward: Das Schild rückt nach.</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AAB9BD"/>
                </a:solidFill>
                <a:latin typeface="Arial"/>
              </a:defRPr>
            </a:pPr>
            <a:r>
              <a:t>Die Commits bleiben dieselben. Nur der Zielbranch bewegt sich.</a:t>
            </a:r>
          </a:p>
        </p:txBody>
      </p:sp>
      <p:cxnSp>
        <p:nvCxnSpPr>
          <p:cNvPr id="7" name="Connector 6"/>
          <p:cNvCxnSpPr/>
          <p:nvPr/>
        </p:nvCxnSpPr>
        <p:spPr>
          <a:xfrm>
            <a:off x="548640" y="6362700"/>
            <a:ext cx="11094720" cy="0"/>
          </a:xfrm>
          <a:prstGeom prst="line">
            <a:avLst/>
          </a:prstGeom>
          <a:ln w="11429">
            <a:solidFill>
              <a:srgbClr val="42555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AAB9BD"/>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F5F3EA"/>
                </a:solidFill>
                <a:latin typeface="Arial"/>
              </a:defRPr>
            </a:pPr>
            <a:r>
              <a:t>18</a:t>
            </a:r>
          </a:p>
        </p:txBody>
      </p:sp>
      <p:sp>
        <p:nvSpPr>
          <p:cNvPr id="10" name="TextBox 9"/>
          <p:cNvSpPr txBox="1"/>
          <p:nvPr/>
        </p:nvSpPr>
        <p:spPr>
          <a:xfrm>
            <a:off x="617220" y="2659380"/>
            <a:ext cx="2133600" cy="301142"/>
          </a:xfrm>
          <a:prstGeom prst="rect">
            <a:avLst/>
          </a:prstGeom>
          <a:noFill/>
        </p:spPr>
        <p:txBody>
          <a:bodyPr wrap="none" lIns="0" rIns="0" tIns="0" bIns="0">
            <a:noAutofit/>
          </a:bodyPr>
          <a:lstStyle/>
          <a:p>
            <a:pPr algn="l">
              <a:lnSpc>
                <a:spcPct val="123000"/>
              </a:lnSpc>
              <a:spcBef>
                <a:spcPts val="0"/>
              </a:spcBef>
              <a:spcAft>
                <a:spcPts val="0"/>
              </a:spcAft>
              <a:defRPr sz="1439" b="1">
                <a:solidFill>
                  <a:srgbClr val="AAB9BD"/>
                </a:solidFill>
                <a:latin typeface="Arial"/>
              </a:defRPr>
            </a:pPr>
            <a:r>
              <a:t>VORHER</a:t>
            </a:r>
          </a:p>
        </p:txBody>
      </p:sp>
      <p:cxnSp>
        <p:nvCxnSpPr>
          <p:cNvPr id="11" name="Connector 10"/>
          <p:cNvCxnSpPr/>
          <p:nvPr/>
        </p:nvCxnSpPr>
        <p:spPr>
          <a:xfrm>
            <a:off x="4267200" y="2781300"/>
            <a:ext cx="5181600" cy="0"/>
          </a:xfrm>
          <a:prstGeom prst="line">
            <a:avLst/>
          </a:prstGeom>
          <a:ln w="53340">
            <a:solidFill>
              <a:srgbClr val="AAB9BD"/>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000500" y="2514600"/>
            <a:ext cx="533400" cy="533400"/>
          </a:xfrm>
          <a:prstGeom prst="ellipse">
            <a:avLst/>
          </a:prstGeom>
          <a:solidFill>
            <a:srgbClr val="AAB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00500" y="2608326"/>
            <a:ext cx="533400" cy="427203"/>
          </a:xfrm>
          <a:prstGeom prst="rect">
            <a:avLst/>
          </a:prstGeom>
          <a:noFill/>
        </p:spPr>
        <p:txBody>
          <a:bodyPr wrap="none" lIns="0" rIns="0" tIns="0" bIns="0">
            <a:noAutofit/>
          </a:bodyPr>
          <a:lstStyle/>
          <a:p>
            <a:pPr algn="ctr">
              <a:lnSpc>
                <a:spcPct val="123000"/>
              </a:lnSpc>
              <a:spcBef>
                <a:spcPts val="0"/>
              </a:spcBef>
              <a:spcAft>
                <a:spcPts val="0"/>
              </a:spcAft>
              <a:defRPr sz="2247" b="1">
                <a:solidFill>
                  <a:srgbClr val="172C36"/>
                </a:solidFill>
                <a:latin typeface="Courier New"/>
              </a:defRPr>
            </a:pPr>
            <a:r>
              <a:t>A</a:t>
            </a:r>
          </a:p>
        </p:txBody>
      </p:sp>
      <p:sp>
        <p:nvSpPr>
          <p:cNvPr id="14" name="Oval 13"/>
          <p:cNvSpPr/>
          <p:nvPr/>
        </p:nvSpPr>
        <p:spPr>
          <a:xfrm>
            <a:off x="9182100" y="2514600"/>
            <a:ext cx="533400" cy="53340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2100" y="2608326"/>
            <a:ext cx="533400" cy="427203"/>
          </a:xfrm>
          <a:prstGeom prst="rect">
            <a:avLst/>
          </a:prstGeom>
          <a:noFill/>
        </p:spPr>
        <p:txBody>
          <a:bodyPr wrap="none" lIns="0" rIns="0" tIns="0" bIns="0">
            <a:noAutofit/>
          </a:bodyPr>
          <a:lstStyle/>
          <a:p>
            <a:pPr algn="ctr">
              <a:lnSpc>
                <a:spcPct val="123000"/>
              </a:lnSpc>
              <a:spcBef>
                <a:spcPts val="0"/>
              </a:spcBef>
              <a:spcAft>
                <a:spcPts val="0"/>
              </a:spcAft>
              <a:defRPr sz="2247" b="1">
                <a:solidFill>
                  <a:srgbClr val="172C36"/>
                </a:solidFill>
                <a:latin typeface="Courier New"/>
              </a:defRPr>
            </a:pPr>
            <a:r>
              <a:t>B</a:t>
            </a:r>
          </a:p>
        </p:txBody>
      </p:sp>
      <p:sp>
        <p:nvSpPr>
          <p:cNvPr id="16" name="TextBox 15"/>
          <p:cNvSpPr txBox="1"/>
          <p:nvPr/>
        </p:nvSpPr>
        <p:spPr>
          <a:xfrm>
            <a:off x="617220" y="4526280"/>
            <a:ext cx="2133600" cy="301142"/>
          </a:xfrm>
          <a:prstGeom prst="rect">
            <a:avLst/>
          </a:prstGeom>
          <a:noFill/>
        </p:spPr>
        <p:txBody>
          <a:bodyPr wrap="none" lIns="0" rIns="0" tIns="0" bIns="0">
            <a:noAutofit/>
          </a:bodyPr>
          <a:lstStyle/>
          <a:p>
            <a:pPr algn="l">
              <a:lnSpc>
                <a:spcPct val="123000"/>
              </a:lnSpc>
              <a:spcBef>
                <a:spcPts val="0"/>
              </a:spcBef>
              <a:spcAft>
                <a:spcPts val="0"/>
              </a:spcAft>
              <a:defRPr sz="1439" b="1">
                <a:solidFill>
                  <a:srgbClr val="AAB9BD"/>
                </a:solidFill>
                <a:latin typeface="Arial"/>
              </a:defRPr>
            </a:pPr>
            <a:r>
              <a:t>NACHHER</a:t>
            </a:r>
          </a:p>
        </p:txBody>
      </p:sp>
      <p:cxnSp>
        <p:nvCxnSpPr>
          <p:cNvPr id="17" name="Connector 16"/>
          <p:cNvCxnSpPr/>
          <p:nvPr/>
        </p:nvCxnSpPr>
        <p:spPr>
          <a:xfrm>
            <a:off x="4267200" y="4648200"/>
            <a:ext cx="5181600" cy="0"/>
          </a:xfrm>
          <a:prstGeom prst="line">
            <a:avLst/>
          </a:prstGeom>
          <a:ln w="53340">
            <a:solidFill>
              <a:srgbClr val="AAB9BD"/>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4000500" y="4381500"/>
            <a:ext cx="533400" cy="533400"/>
          </a:xfrm>
          <a:prstGeom prst="ellipse">
            <a:avLst/>
          </a:prstGeom>
          <a:solidFill>
            <a:srgbClr val="AAB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00500" y="4475225"/>
            <a:ext cx="533400" cy="427203"/>
          </a:xfrm>
          <a:prstGeom prst="rect">
            <a:avLst/>
          </a:prstGeom>
          <a:noFill/>
        </p:spPr>
        <p:txBody>
          <a:bodyPr wrap="none" lIns="0" rIns="0" tIns="0" bIns="0">
            <a:noAutofit/>
          </a:bodyPr>
          <a:lstStyle/>
          <a:p>
            <a:pPr algn="ctr">
              <a:lnSpc>
                <a:spcPct val="123000"/>
              </a:lnSpc>
              <a:spcBef>
                <a:spcPts val="0"/>
              </a:spcBef>
              <a:spcAft>
                <a:spcPts val="0"/>
              </a:spcAft>
              <a:defRPr sz="2247" b="1">
                <a:solidFill>
                  <a:srgbClr val="172C36"/>
                </a:solidFill>
                <a:latin typeface="Courier New"/>
              </a:defRPr>
            </a:pPr>
            <a:r>
              <a:t>A</a:t>
            </a:r>
          </a:p>
        </p:txBody>
      </p:sp>
      <p:sp>
        <p:nvSpPr>
          <p:cNvPr id="20" name="Oval 19"/>
          <p:cNvSpPr/>
          <p:nvPr/>
        </p:nvSpPr>
        <p:spPr>
          <a:xfrm>
            <a:off x="9182100" y="4381500"/>
            <a:ext cx="533400" cy="53340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2100" y="4475225"/>
            <a:ext cx="533400" cy="427203"/>
          </a:xfrm>
          <a:prstGeom prst="rect">
            <a:avLst/>
          </a:prstGeom>
          <a:noFill/>
        </p:spPr>
        <p:txBody>
          <a:bodyPr wrap="none" lIns="0" rIns="0" tIns="0" bIns="0">
            <a:noAutofit/>
          </a:bodyPr>
          <a:lstStyle/>
          <a:p>
            <a:pPr algn="ctr">
              <a:lnSpc>
                <a:spcPct val="123000"/>
              </a:lnSpc>
              <a:spcBef>
                <a:spcPts val="0"/>
              </a:spcBef>
              <a:spcAft>
                <a:spcPts val="0"/>
              </a:spcAft>
              <a:defRPr sz="2247" b="1">
                <a:solidFill>
                  <a:srgbClr val="172C36"/>
                </a:solidFill>
                <a:latin typeface="Courier New"/>
              </a:defRPr>
            </a:pPr>
            <a:r>
              <a:t>B</a:t>
            </a:r>
          </a:p>
        </p:txBody>
      </p:sp>
      <p:sp>
        <p:nvSpPr>
          <p:cNvPr id="22" name="Rounded Rectangle 21"/>
          <p:cNvSpPr/>
          <p:nvPr/>
        </p:nvSpPr>
        <p:spPr>
          <a:xfrm>
            <a:off x="3810000" y="2080260"/>
            <a:ext cx="990599"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86200" y="2148840"/>
            <a:ext cx="8382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main</a:t>
            </a:r>
          </a:p>
        </p:txBody>
      </p:sp>
      <p:sp>
        <p:nvSpPr>
          <p:cNvPr id="24" name="Rounded Rectangle 23"/>
          <p:cNvSpPr/>
          <p:nvPr/>
        </p:nvSpPr>
        <p:spPr>
          <a:xfrm>
            <a:off x="8496300" y="2080260"/>
            <a:ext cx="195072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72500" y="2148840"/>
            <a:ext cx="179832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feature/info</a:t>
            </a:r>
          </a:p>
        </p:txBody>
      </p:sp>
      <p:sp>
        <p:nvSpPr>
          <p:cNvPr id="26" name="Rounded Rectangle 25"/>
          <p:cNvSpPr/>
          <p:nvPr/>
        </p:nvSpPr>
        <p:spPr>
          <a:xfrm>
            <a:off x="8153399" y="5128260"/>
            <a:ext cx="990599"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5196840"/>
            <a:ext cx="8382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main</a:t>
            </a:r>
          </a:p>
        </p:txBody>
      </p:sp>
      <p:sp>
        <p:nvSpPr>
          <p:cNvPr id="28" name="Rounded Rectangle 27"/>
          <p:cNvSpPr/>
          <p:nvPr/>
        </p:nvSpPr>
        <p:spPr>
          <a:xfrm>
            <a:off x="9296400" y="5128260"/>
            <a:ext cx="214884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72600" y="5196840"/>
            <a:ext cx="1996439"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feature/info</a:t>
            </a:r>
          </a:p>
        </p:txBody>
      </p:sp>
      <p:cxnSp>
        <p:nvCxnSpPr>
          <p:cNvPr id="30" name="Connector 29"/>
          <p:cNvCxnSpPr/>
          <p:nvPr/>
        </p:nvCxnSpPr>
        <p:spPr>
          <a:xfrm>
            <a:off x="4678680" y="3558540"/>
            <a:ext cx="4495800" cy="0"/>
          </a:xfrm>
          <a:prstGeom prst="line">
            <a:avLst/>
          </a:prstGeom>
          <a:ln w="45719">
            <a:solidFill>
              <a:srgbClr val="DAF975"/>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067485" y="3558540"/>
            <a:ext cx="106995" cy="58451"/>
          </a:xfrm>
          <a:prstGeom prst="line">
            <a:avLst/>
          </a:prstGeom>
          <a:ln w="45719">
            <a:solidFill>
              <a:srgbClr val="DAF97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9067485" y="3500088"/>
            <a:ext cx="106995" cy="58452"/>
          </a:xfrm>
          <a:prstGeom prst="line">
            <a:avLst/>
          </a:prstGeom>
          <a:ln w="45719">
            <a:solidFill>
              <a:srgbClr val="DAF97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168140" y="3147060"/>
            <a:ext cx="5410200" cy="338632"/>
          </a:xfrm>
          <a:prstGeom prst="rect">
            <a:avLst/>
          </a:prstGeom>
          <a:noFill/>
        </p:spPr>
        <p:txBody>
          <a:bodyPr wrap="none" lIns="0" rIns="0" tIns="0" bIns="0">
            <a:noAutofit/>
          </a:bodyPr>
          <a:lstStyle/>
          <a:p>
            <a:pPr algn="ctr">
              <a:lnSpc>
                <a:spcPct val="123000"/>
              </a:lnSpc>
              <a:spcBef>
                <a:spcPts val="0"/>
              </a:spcBef>
              <a:spcAft>
                <a:spcPts val="0"/>
              </a:spcAft>
              <a:defRPr sz="1680" b="1">
                <a:solidFill>
                  <a:srgbClr val="DAF975"/>
                </a:solidFill>
                <a:latin typeface="Courier New"/>
              </a:defRPr>
            </a:pPr>
            <a:r>
              <a:t>git merge --ff-only feature/info</a:t>
            </a:r>
          </a:p>
        </p:txBody>
      </p:sp>
      <p:sp>
        <p:nvSpPr>
          <p:cNvPr id="34" name="Rounded Rectangle 33"/>
          <p:cNvSpPr/>
          <p:nvPr/>
        </p:nvSpPr>
        <p:spPr>
          <a:xfrm>
            <a:off x="548640" y="5684520"/>
            <a:ext cx="11094720" cy="472440"/>
          </a:xfrm>
          <a:prstGeom prst="roundRect">
            <a:avLst>
              <a:gd name="adj" fmla="val 22580"/>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F5F3EA"/>
                </a:solidFill>
                <a:latin typeface="Arial"/>
              </a:defRPr>
            </a:pPr>
            <a:r>
              <a:t>Kein neuer Commit. main steht jetzt auf dem vorhandenen Commit 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DAF975"/>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AAB9BD"/>
                </a:solidFill>
                <a:latin typeface="Arial"/>
              </a:defRPr>
            </a:pPr>
            <a:r>
              <a:t>PRINZIP 10 / DIVERGENZ</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F5F3EA"/>
                </a:solidFill>
                <a:latin typeface="Arial"/>
              </a:defRPr>
            </a:pPr>
            <a:r>
              <a:t>Beide Linien sind weitergelaufen.</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AAB9BD"/>
                </a:solidFill>
                <a:latin typeface="Arial"/>
              </a:defRPr>
            </a:pPr>
            <a:r>
              <a:t>Fast-Forward ist hier unmöglich – auch ohne Dateikonflikt.</a:t>
            </a:r>
          </a:p>
        </p:txBody>
      </p:sp>
      <p:cxnSp>
        <p:nvCxnSpPr>
          <p:cNvPr id="7" name="Connector 6"/>
          <p:cNvCxnSpPr/>
          <p:nvPr/>
        </p:nvCxnSpPr>
        <p:spPr>
          <a:xfrm>
            <a:off x="548640" y="6362700"/>
            <a:ext cx="11094720" cy="0"/>
          </a:xfrm>
          <a:prstGeom prst="line">
            <a:avLst/>
          </a:prstGeom>
          <a:ln w="11429">
            <a:solidFill>
              <a:srgbClr val="42555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AAB9BD"/>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F5F3EA"/>
                </a:solidFill>
                <a:latin typeface="Arial"/>
              </a:defRPr>
            </a:pPr>
            <a:r>
              <a:t>19</a:t>
            </a:r>
          </a:p>
        </p:txBody>
      </p:sp>
      <p:cxnSp>
        <p:nvCxnSpPr>
          <p:cNvPr id="10" name="Connector 9"/>
          <p:cNvCxnSpPr/>
          <p:nvPr/>
        </p:nvCxnSpPr>
        <p:spPr>
          <a:xfrm flipV="1">
            <a:off x="1981199" y="2712720"/>
            <a:ext cx="3162301" cy="1143000"/>
          </a:xfrm>
          <a:prstGeom prst="line">
            <a:avLst/>
          </a:prstGeom>
          <a:ln w="60960">
            <a:solidFill>
              <a:srgbClr val="DAF97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43500" y="2712720"/>
            <a:ext cx="3619500" cy="0"/>
          </a:xfrm>
          <a:prstGeom prst="line">
            <a:avLst/>
          </a:prstGeom>
          <a:ln w="60960">
            <a:solidFill>
              <a:srgbClr val="DAF97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981199" y="3855720"/>
            <a:ext cx="3162301" cy="1043940"/>
          </a:xfrm>
          <a:prstGeom prst="line">
            <a:avLst/>
          </a:prstGeom>
          <a:ln w="60960">
            <a:solidFill>
              <a:srgbClr val="65D9E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143500" y="4899660"/>
            <a:ext cx="3619500" cy="0"/>
          </a:xfrm>
          <a:prstGeom prst="line">
            <a:avLst/>
          </a:prstGeom>
          <a:ln w="60960">
            <a:solidFill>
              <a:srgbClr val="65D9EC"/>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684020" y="3558540"/>
            <a:ext cx="594360" cy="594360"/>
          </a:xfrm>
          <a:prstGeom prst="ellipse">
            <a:avLst/>
          </a:prstGeom>
          <a:solidFill>
            <a:srgbClr val="AAB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84020" y="3663848"/>
            <a:ext cx="594360" cy="467318"/>
          </a:xfrm>
          <a:prstGeom prst="rect">
            <a:avLst/>
          </a:prstGeom>
          <a:noFill/>
        </p:spPr>
        <p:txBody>
          <a:bodyPr wrap="none" lIns="0" rIns="0" tIns="0" bIns="0">
            <a:noAutofit/>
          </a:bodyPr>
          <a:lstStyle/>
          <a:p>
            <a:pPr algn="ctr">
              <a:lnSpc>
                <a:spcPct val="123000"/>
              </a:lnSpc>
              <a:spcBef>
                <a:spcPts val="0"/>
              </a:spcBef>
              <a:spcAft>
                <a:spcPts val="0"/>
              </a:spcAft>
              <a:defRPr sz="2503" b="1">
                <a:solidFill>
                  <a:srgbClr val="172C36"/>
                </a:solidFill>
                <a:latin typeface="Courier New"/>
              </a:defRPr>
            </a:pPr>
            <a:r>
              <a:t>A</a:t>
            </a:r>
          </a:p>
        </p:txBody>
      </p:sp>
      <p:sp>
        <p:nvSpPr>
          <p:cNvPr id="16" name="Oval 15"/>
          <p:cNvSpPr/>
          <p:nvPr/>
        </p:nvSpPr>
        <p:spPr>
          <a:xfrm>
            <a:off x="8465820" y="2415540"/>
            <a:ext cx="594360" cy="59436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65820" y="2520848"/>
            <a:ext cx="594360" cy="467318"/>
          </a:xfrm>
          <a:prstGeom prst="rect">
            <a:avLst/>
          </a:prstGeom>
          <a:noFill/>
        </p:spPr>
        <p:txBody>
          <a:bodyPr wrap="none" lIns="0" rIns="0" tIns="0" bIns="0">
            <a:noAutofit/>
          </a:bodyPr>
          <a:lstStyle/>
          <a:p>
            <a:pPr algn="ctr">
              <a:lnSpc>
                <a:spcPct val="123000"/>
              </a:lnSpc>
              <a:spcBef>
                <a:spcPts val="0"/>
              </a:spcBef>
              <a:spcAft>
                <a:spcPts val="0"/>
              </a:spcAft>
              <a:defRPr sz="2503" b="1">
                <a:solidFill>
                  <a:srgbClr val="172C36"/>
                </a:solidFill>
                <a:latin typeface="Courier New"/>
              </a:defRPr>
            </a:pPr>
            <a:r>
              <a:t>B</a:t>
            </a:r>
          </a:p>
        </p:txBody>
      </p:sp>
      <p:sp>
        <p:nvSpPr>
          <p:cNvPr id="18" name="Oval 17"/>
          <p:cNvSpPr/>
          <p:nvPr/>
        </p:nvSpPr>
        <p:spPr>
          <a:xfrm>
            <a:off x="8465820" y="4602480"/>
            <a:ext cx="594360" cy="59436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65820" y="4707788"/>
            <a:ext cx="594360" cy="467318"/>
          </a:xfrm>
          <a:prstGeom prst="rect">
            <a:avLst/>
          </a:prstGeom>
          <a:noFill/>
        </p:spPr>
        <p:txBody>
          <a:bodyPr wrap="none" lIns="0" rIns="0" tIns="0" bIns="0">
            <a:noAutofit/>
          </a:bodyPr>
          <a:lstStyle/>
          <a:p>
            <a:pPr algn="ctr">
              <a:lnSpc>
                <a:spcPct val="123000"/>
              </a:lnSpc>
              <a:spcBef>
                <a:spcPts val="0"/>
              </a:spcBef>
              <a:spcAft>
                <a:spcPts val="0"/>
              </a:spcAft>
              <a:defRPr sz="2503" b="1">
                <a:solidFill>
                  <a:srgbClr val="172C36"/>
                </a:solidFill>
                <a:latin typeface="Courier New"/>
              </a:defRPr>
            </a:pPr>
            <a:r>
              <a:t>C</a:t>
            </a:r>
          </a:p>
        </p:txBody>
      </p:sp>
      <p:sp>
        <p:nvSpPr>
          <p:cNvPr id="20" name="Rounded Rectangle 19"/>
          <p:cNvSpPr/>
          <p:nvPr/>
        </p:nvSpPr>
        <p:spPr>
          <a:xfrm>
            <a:off x="9258300" y="2514600"/>
            <a:ext cx="1295400"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34500" y="2583180"/>
            <a:ext cx="11430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main</a:t>
            </a:r>
          </a:p>
        </p:txBody>
      </p:sp>
      <p:sp>
        <p:nvSpPr>
          <p:cNvPr id="22" name="Rounded Rectangle 21"/>
          <p:cNvSpPr/>
          <p:nvPr/>
        </p:nvSpPr>
        <p:spPr>
          <a:xfrm>
            <a:off x="9258300" y="4701540"/>
            <a:ext cx="180594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34500" y="4770120"/>
            <a:ext cx="165354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feature</a:t>
            </a:r>
          </a:p>
        </p:txBody>
      </p:sp>
      <p:sp>
        <p:nvSpPr>
          <p:cNvPr id="24" name="TextBox 23"/>
          <p:cNvSpPr txBox="1"/>
          <p:nvPr/>
        </p:nvSpPr>
        <p:spPr>
          <a:xfrm>
            <a:off x="4792980" y="2232660"/>
            <a:ext cx="38862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DAF975"/>
                </a:solidFill>
                <a:latin typeface="Arial"/>
              </a:defRPr>
            </a:pPr>
            <a:r>
              <a:t>eigener neuer Commit</a:t>
            </a:r>
          </a:p>
        </p:txBody>
      </p:sp>
      <p:sp>
        <p:nvSpPr>
          <p:cNvPr id="25" name="TextBox 24"/>
          <p:cNvSpPr txBox="1"/>
          <p:nvPr/>
        </p:nvSpPr>
        <p:spPr>
          <a:xfrm>
            <a:off x="4792980" y="5204460"/>
            <a:ext cx="38862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65D9EC"/>
                </a:solidFill>
                <a:latin typeface="Arial"/>
              </a:defRPr>
            </a:pPr>
            <a:r>
              <a:t>eigener neuer Commit</a:t>
            </a:r>
          </a:p>
        </p:txBody>
      </p:sp>
      <p:sp>
        <p:nvSpPr>
          <p:cNvPr id="26" name="Rounded Rectangle 25"/>
          <p:cNvSpPr/>
          <p:nvPr/>
        </p:nvSpPr>
        <p:spPr>
          <a:xfrm>
            <a:off x="4663440" y="3543300"/>
            <a:ext cx="3169920" cy="365760"/>
          </a:xfrm>
          <a:prstGeom prst="roundRect">
            <a:avLst>
              <a:gd name="adj" fmla="val 50000"/>
            </a:avLst>
          </a:prstGeom>
          <a:solidFill>
            <a:srgbClr val="FF8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39640" y="3611880"/>
            <a:ext cx="3017520" cy="357378"/>
          </a:xfrm>
          <a:prstGeom prst="rect">
            <a:avLst/>
          </a:prstGeom>
          <a:noFill/>
        </p:spPr>
        <p:txBody>
          <a:bodyPr wrap="none" lIns="0" rIns="0" tIns="0" bIns="0">
            <a:noAutofit/>
          </a:bodyPr>
          <a:lstStyle/>
          <a:p>
            <a:pPr algn="ctr">
              <a:lnSpc>
                <a:spcPct val="123000"/>
              </a:lnSpc>
              <a:spcBef>
                <a:spcPts val="0"/>
              </a:spcBef>
              <a:spcAft>
                <a:spcPts val="0"/>
              </a:spcAft>
              <a:defRPr sz="1800" b="1">
                <a:solidFill>
                  <a:srgbClr val="172C36"/>
                </a:solidFill>
                <a:latin typeface="Courier New"/>
              </a:defRPr>
            </a:pPr>
            <a:r>
              <a:t>--ff-only: Stopp</a:t>
            </a:r>
          </a:p>
        </p:txBody>
      </p:sp>
      <p:sp>
        <p:nvSpPr>
          <p:cNvPr id="28" name="Rounded Rectangle 27"/>
          <p:cNvSpPr/>
          <p:nvPr/>
        </p:nvSpPr>
        <p:spPr>
          <a:xfrm>
            <a:off x="548640" y="5684520"/>
            <a:ext cx="11094720" cy="472440"/>
          </a:xfrm>
          <a:prstGeom prst="roundRect">
            <a:avLst>
              <a:gd name="adj" fmla="val 22580"/>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F5F3EA"/>
                </a:solidFill>
                <a:latin typeface="Arial"/>
              </a:defRPr>
            </a:pPr>
            <a:r>
              <a:t>Divergenz beschreibt die History. Ein Konflikt betrifft die Zusammenführung.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DAF975"/>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AAB9BD"/>
                </a:solidFill>
                <a:latin typeface="Arial"/>
              </a:defRPr>
            </a:pPr>
            <a:r>
              <a:t>PRINZIP 11 / REBASE</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F5F3EA"/>
                </a:solidFill>
                <a:latin typeface="Arial"/>
              </a:defRPr>
            </a:pPr>
            <a:r>
              <a:t>Rebase: gleiche Änderung, neue Basis.</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AAB9BD"/>
                </a:solidFill>
                <a:latin typeface="Arial"/>
              </a:defRPr>
            </a:pPr>
            <a:r>
              <a:t>Der Feature-Branch wird neu aufgebaut. main bleibt noch stehen.</a:t>
            </a:r>
          </a:p>
        </p:txBody>
      </p:sp>
      <p:cxnSp>
        <p:nvCxnSpPr>
          <p:cNvPr id="7" name="Connector 6"/>
          <p:cNvCxnSpPr/>
          <p:nvPr/>
        </p:nvCxnSpPr>
        <p:spPr>
          <a:xfrm>
            <a:off x="548640" y="6362700"/>
            <a:ext cx="11094720" cy="0"/>
          </a:xfrm>
          <a:prstGeom prst="line">
            <a:avLst/>
          </a:prstGeom>
          <a:ln w="11429">
            <a:solidFill>
              <a:srgbClr val="42555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AAB9BD"/>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F5F3EA"/>
                </a:solidFill>
                <a:latin typeface="Arial"/>
              </a:defRPr>
            </a:pPr>
            <a:r>
              <a:t>20</a:t>
            </a:r>
          </a:p>
        </p:txBody>
      </p:sp>
      <p:sp>
        <p:nvSpPr>
          <p:cNvPr id="10" name="TextBox 9"/>
          <p:cNvSpPr txBox="1"/>
          <p:nvPr/>
        </p:nvSpPr>
        <p:spPr>
          <a:xfrm>
            <a:off x="647700" y="2095499"/>
            <a:ext cx="1981199" cy="282397"/>
          </a:xfrm>
          <a:prstGeom prst="rect">
            <a:avLst/>
          </a:prstGeom>
          <a:noFill/>
        </p:spPr>
        <p:txBody>
          <a:bodyPr wrap="none" lIns="0" rIns="0" tIns="0" bIns="0">
            <a:noAutofit/>
          </a:bodyPr>
          <a:lstStyle/>
          <a:p>
            <a:pPr algn="l">
              <a:lnSpc>
                <a:spcPct val="123000"/>
              </a:lnSpc>
              <a:spcBef>
                <a:spcPts val="0"/>
              </a:spcBef>
              <a:spcAft>
                <a:spcPts val="0"/>
              </a:spcAft>
              <a:defRPr sz="1320" b="1">
                <a:solidFill>
                  <a:srgbClr val="AAB9BD"/>
                </a:solidFill>
                <a:latin typeface="Arial"/>
              </a:defRPr>
            </a:pPr>
            <a:r>
              <a:t>VORHER</a:t>
            </a:r>
          </a:p>
        </p:txBody>
      </p:sp>
      <p:cxnSp>
        <p:nvCxnSpPr>
          <p:cNvPr id="11" name="Connector 10"/>
          <p:cNvCxnSpPr/>
          <p:nvPr/>
        </p:nvCxnSpPr>
        <p:spPr>
          <a:xfrm flipV="1">
            <a:off x="2667000" y="2697480"/>
            <a:ext cx="2286000" cy="647700"/>
          </a:xfrm>
          <a:prstGeom prst="line">
            <a:avLst/>
          </a:prstGeom>
          <a:ln w="53340">
            <a:solidFill>
              <a:srgbClr val="DAF97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953000" y="2697480"/>
            <a:ext cx="3200399" cy="0"/>
          </a:xfrm>
          <a:prstGeom prst="line">
            <a:avLst/>
          </a:prstGeom>
          <a:ln w="53340">
            <a:solidFill>
              <a:srgbClr val="DAF97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667000" y="3345180"/>
            <a:ext cx="2286000" cy="685800"/>
          </a:xfrm>
          <a:prstGeom prst="line">
            <a:avLst/>
          </a:prstGeom>
          <a:ln w="53340">
            <a:solidFill>
              <a:srgbClr val="65D9E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953000" y="4030980"/>
            <a:ext cx="3200399" cy="0"/>
          </a:xfrm>
          <a:prstGeom prst="line">
            <a:avLst/>
          </a:prstGeom>
          <a:ln w="53340">
            <a:solidFill>
              <a:srgbClr val="65D9EC"/>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2430780" y="3108960"/>
            <a:ext cx="472440" cy="472440"/>
          </a:xfrm>
          <a:prstGeom prst="ellipse">
            <a:avLst/>
          </a:prstGeom>
          <a:solidFill>
            <a:srgbClr val="AAB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30780" y="3191103"/>
            <a:ext cx="472440" cy="387089"/>
          </a:xfrm>
          <a:prstGeom prst="rect">
            <a:avLst/>
          </a:prstGeom>
          <a:noFill/>
        </p:spPr>
        <p:txBody>
          <a:bodyPr wrap="none" lIns="0" rIns="0" tIns="0" bIns="0">
            <a:noAutofit/>
          </a:bodyPr>
          <a:lstStyle/>
          <a:p>
            <a:pPr algn="ctr">
              <a:lnSpc>
                <a:spcPct val="123000"/>
              </a:lnSpc>
              <a:spcBef>
                <a:spcPts val="0"/>
              </a:spcBef>
              <a:spcAft>
                <a:spcPts val="0"/>
              </a:spcAft>
              <a:defRPr sz="1990" b="1">
                <a:solidFill>
                  <a:srgbClr val="172C36"/>
                </a:solidFill>
                <a:latin typeface="Courier New"/>
              </a:defRPr>
            </a:pPr>
            <a:r>
              <a:t>A</a:t>
            </a:r>
          </a:p>
        </p:txBody>
      </p:sp>
      <p:sp>
        <p:nvSpPr>
          <p:cNvPr id="17" name="Oval 16"/>
          <p:cNvSpPr/>
          <p:nvPr/>
        </p:nvSpPr>
        <p:spPr>
          <a:xfrm>
            <a:off x="7917180" y="2461260"/>
            <a:ext cx="472440" cy="47244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17180" y="2543403"/>
            <a:ext cx="472440" cy="387089"/>
          </a:xfrm>
          <a:prstGeom prst="rect">
            <a:avLst/>
          </a:prstGeom>
          <a:noFill/>
        </p:spPr>
        <p:txBody>
          <a:bodyPr wrap="none" lIns="0" rIns="0" tIns="0" bIns="0">
            <a:noAutofit/>
          </a:bodyPr>
          <a:lstStyle/>
          <a:p>
            <a:pPr algn="ctr">
              <a:lnSpc>
                <a:spcPct val="123000"/>
              </a:lnSpc>
              <a:spcBef>
                <a:spcPts val="0"/>
              </a:spcBef>
              <a:spcAft>
                <a:spcPts val="0"/>
              </a:spcAft>
              <a:defRPr sz="1990" b="1">
                <a:solidFill>
                  <a:srgbClr val="172C36"/>
                </a:solidFill>
                <a:latin typeface="Courier New"/>
              </a:defRPr>
            </a:pPr>
            <a:r>
              <a:t>B</a:t>
            </a:r>
          </a:p>
        </p:txBody>
      </p:sp>
      <p:sp>
        <p:nvSpPr>
          <p:cNvPr id="19" name="Oval 18"/>
          <p:cNvSpPr/>
          <p:nvPr/>
        </p:nvSpPr>
        <p:spPr>
          <a:xfrm>
            <a:off x="7917180" y="3794760"/>
            <a:ext cx="472440" cy="47244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17180" y="3876903"/>
            <a:ext cx="472440" cy="387089"/>
          </a:xfrm>
          <a:prstGeom prst="rect">
            <a:avLst/>
          </a:prstGeom>
          <a:noFill/>
        </p:spPr>
        <p:txBody>
          <a:bodyPr wrap="none" lIns="0" rIns="0" tIns="0" bIns="0">
            <a:noAutofit/>
          </a:bodyPr>
          <a:lstStyle/>
          <a:p>
            <a:pPr algn="ctr">
              <a:lnSpc>
                <a:spcPct val="123000"/>
              </a:lnSpc>
              <a:spcBef>
                <a:spcPts val="0"/>
              </a:spcBef>
              <a:spcAft>
                <a:spcPts val="0"/>
              </a:spcAft>
              <a:defRPr sz="1990" b="1">
                <a:solidFill>
                  <a:srgbClr val="172C36"/>
                </a:solidFill>
                <a:latin typeface="Courier New"/>
              </a:defRPr>
            </a:pPr>
            <a:r>
              <a:t>C</a:t>
            </a:r>
          </a:p>
        </p:txBody>
      </p:sp>
      <p:sp>
        <p:nvSpPr>
          <p:cNvPr id="21" name="Rounded Rectangle 20"/>
          <p:cNvSpPr/>
          <p:nvPr/>
        </p:nvSpPr>
        <p:spPr>
          <a:xfrm>
            <a:off x="8763000" y="2514600"/>
            <a:ext cx="1066800"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39200" y="2583180"/>
            <a:ext cx="9144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main</a:t>
            </a:r>
          </a:p>
        </p:txBody>
      </p:sp>
      <p:sp>
        <p:nvSpPr>
          <p:cNvPr id="23" name="Rounded Rectangle 22"/>
          <p:cNvSpPr/>
          <p:nvPr/>
        </p:nvSpPr>
        <p:spPr>
          <a:xfrm>
            <a:off x="8763000" y="3848099"/>
            <a:ext cx="163830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39200" y="3916680"/>
            <a:ext cx="14859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feature</a:t>
            </a:r>
          </a:p>
        </p:txBody>
      </p:sp>
      <p:sp>
        <p:nvSpPr>
          <p:cNvPr id="25" name="TextBox 24"/>
          <p:cNvSpPr txBox="1"/>
          <p:nvPr/>
        </p:nvSpPr>
        <p:spPr>
          <a:xfrm>
            <a:off x="647700" y="4998720"/>
            <a:ext cx="1981199" cy="282397"/>
          </a:xfrm>
          <a:prstGeom prst="rect">
            <a:avLst/>
          </a:prstGeom>
          <a:noFill/>
        </p:spPr>
        <p:txBody>
          <a:bodyPr wrap="none" lIns="0" rIns="0" tIns="0" bIns="0">
            <a:noAutofit/>
          </a:bodyPr>
          <a:lstStyle/>
          <a:p>
            <a:pPr algn="l">
              <a:lnSpc>
                <a:spcPct val="123000"/>
              </a:lnSpc>
              <a:spcBef>
                <a:spcPts val="0"/>
              </a:spcBef>
              <a:spcAft>
                <a:spcPts val="0"/>
              </a:spcAft>
              <a:defRPr sz="1320" b="1">
                <a:solidFill>
                  <a:srgbClr val="AAB9BD"/>
                </a:solidFill>
                <a:latin typeface="Arial"/>
              </a:defRPr>
            </a:pPr>
            <a:r>
              <a:t>NACHHER</a:t>
            </a:r>
          </a:p>
        </p:txBody>
      </p:sp>
      <p:cxnSp>
        <p:nvCxnSpPr>
          <p:cNvPr id="26" name="Connector 25"/>
          <p:cNvCxnSpPr/>
          <p:nvPr/>
        </p:nvCxnSpPr>
        <p:spPr>
          <a:xfrm>
            <a:off x="2667000" y="5113020"/>
            <a:ext cx="4191000" cy="0"/>
          </a:xfrm>
          <a:prstGeom prst="line">
            <a:avLst/>
          </a:prstGeom>
          <a:ln w="5334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58000" y="5113020"/>
            <a:ext cx="3733800" cy="0"/>
          </a:xfrm>
          <a:prstGeom prst="line">
            <a:avLst/>
          </a:prstGeom>
          <a:ln w="53340">
            <a:solidFill>
              <a:srgbClr val="AAB9BD"/>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2407920" y="4853940"/>
            <a:ext cx="518160" cy="518160"/>
          </a:xfrm>
          <a:prstGeom prst="ellipse">
            <a:avLst/>
          </a:prstGeom>
          <a:solidFill>
            <a:srgbClr val="AAB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407920" y="4944770"/>
            <a:ext cx="518160" cy="417175"/>
          </a:xfrm>
          <a:prstGeom prst="rect">
            <a:avLst/>
          </a:prstGeom>
          <a:noFill/>
        </p:spPr>
        <p:txBody>
          <a:bodyPr wrap="none" lIns="0" rIns="0" tIns="0" bIns="0">
            <a:noAutofit/>
          </a:bodyPr>
          <a:lstStyle/>
          <a:p>
            <a:pPr algn="ctr">
              <a:lnSpc>
                <a:spcPct val="123000"/>
              </a:lnSpc>
              <a:spcBef>
                <a:spcPts val="0"/>
              </a:spcBef>
              <a:spcAft>
                <a:spcPts val="0"/>
              </a:spcAft>
              <a:defRPr sz="2182" b="1">
                <a:solidFill>
                  <a:srgbClr val="172C36"/>
                </a:solidFill>
                <a:latin typeface="Courier New"/>
              </a:defRPr>
            </a:pPr>
            <a:r>
              <a:t>A</a:t>
            </a:r>
          </a:p>
        </p:txBody>
      </p:sp>
      <p:sp>
        <p:nvSpPr>
          <p:cNvPr id="30" name="Oval 29"/>
          <p:cNvSpPr/>
          <p:nvPr/>
        </p:nvSpPr>
        <p:spPr>
          <a:xfrm>
            <a:off x="6598920" y="4853940"/>
            <a:ext cx="518160" cy="51816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98920" y="4944770"/>
            <a:ext cx="518160" cy="417175"/>
          </a:xfrm>
          <a:prstGeom prst="rect">
            <a:avLst/>
          </a:prstGeom>
          <a:noFill/>
        </p:spPr>
        <p:txBody>
          <a:bodyPr wrap="none" lIns="0" rIns="0" tIns="0" bIns="0">
            <a:noAutofit/>
          </a:bodyPr>
          <a:lstStyle/>
          <a:p>
            <a:pPr algn="ctr">
              <a:lnSpc>
                <a:spcPct val="123000"/>
              </a:lnSpc>
              <a:spcBef>
                <a:spcPts val="0"/>
              </a:spcBef>
              <a:spcAft>
                <a:spcPts val="0"/>
              </a:spcAft>
              <a:defRPr sz="2182" b="1">
                <a:solidFill>
                  <a:srgbClr val="172C36"/>
                </a:solidFill>
                <a:latin typeface="Courier New"/>
              </a:defRPr>
            </a:pPr>
            <a:r>
              <a:t>B</a:t>
            </a:r>
          </a:p>
        </p:txBody>
      </p:sp>
      <p:sp>
        <p:nvSpPr>
          <p:cNvPr id="32" name="Oval 31"/>
          <p:cNvSpPr/>
          <p:nvPr/>
        </p:nvSpPr>
        <p:spPr>
          <a:xfrm>
            <a:off x="10332720" y="4853940"/>
            <a:ext cx="518160" cy="51816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0" y="4944770"/>
            <a:ext cx="518160" cy="417175"/>
          </a:xfrm>
          <a:prstGeom prst="rect">
            <a:avLst/>
          </a:prstGeom>
          <a:noFill/>
        </p:spPr>
        <p:txBody>
          <a:bodyPr wrap="none" lIns="0" rIns="0" tIns="0" bIns="0">
            <a:noAutofit/>
          </a:bodyPr>
          <a:lstStyle/>
          <a:p>
            <a:pPr algn="ctr">
              <a:lnSpc>
                <a:spcPct val="123000"/>
              </a:lnSpc>
              <a:spcBef>
                <a:spcPts val="0"/>
              </a:spcBef>
              <a:spcAft>
                <a:spcPts val="0"/>
              </a:spcAft>
              <a:defRPr sz="2182" b="1">
                <a:solidFill>
                  <a:srgbClr val="172C36"/>
                </a:solidFill>
                <a:latin typeface="Courier New"/>
              </a:defRPr>
            </a:pPr>
            <a:r>
              <a:t>C′</a:t>
            </a:r>
          </a:p>
        </p:txBody>
      </p:sp>
      <p:sp>
        <p:nvSpPr>
          <p:cNvPr id="34" name="Rounded Rectangle 33"/>
          <p:cNvSpPr/>
          <p:nvPr/>
        </p:nvSpPr>
        <p:spPr>
          <a:xfrm>
            <a:off x="6324600" y="4411980"/>
            <a:ext cx="1066800"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4480560"/>
            <a:ext cx="9144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main</a:t>
            </a:r>
          </a:p>
        </p:txBody>
      </p:sp>
      <p:sp>
        <p:nvSpPr>
          <p:cNvPr id="36" name="Rounded Rectangle 35"/>
          <p:cNvSpPr/>
          <p:nvPr/>
        </p:nvSpPr>
        <p:spPr>
          <a:xfrm>
            <a:off x="9753600" y="4411980"/>
            <a:ext cx="163830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29800" y="4480560"/>
            <a:ext cx="14859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feature</a:t>
            </a:r>
          </a:p>
        </p:txBody>
      </p:sp>
      <p:sp>
        <p:nvSpPr>
          <p:cNvPr id="38" name="TextBox 37"/>
          <p:cNvSpPr txBox="1"/>
          <p:nvPr/>
        </p:nvSpPr>
        <p:spPr>
          <a:xfrm>
            <a:off x="3726180" y="3467100"/>
            <a:ext cx="3352800" cy="329260"/>
          </a:xfrm>
          <a:prstGeom prst="rect">
            <a:avLst/>
          </a:prstGeom>
          <a:noFill/>
        </p:spPr>
        <p:txBody>
          <a:bodyPr wrap="none" lIns="0" rIns="0" tIns="0" bIns="0">
            <a:noAutofit/>
          </a:bodyPr>
          <a:lstStyle/>
          <a:p>
            <a:pPr algn="ctr">
              <a:lnSpc>
                <a:spcPct val="123000"/>
              </a:lnSpc>
              <a:spcBef>
                <a:spcPts val="0"/>
              </a:spcBef>
              <a:spcAft>
                <a:spcPts val="0"/>
              </a:spcAft>
              <a:defRPr sz="1620" b="1">
                <a:solidFill>
                  <a:srgbClr val="C5B5F2"/>
                </a:solidFill>
                <a:latin typeface="Courier New"/>
              </a:defRPr>
            </a:pPr>
            <a:r>
              <a:t>git rebase main</a:t>
            </a:r>
          </a:p>
        </p:txBody>
      </p:sp>
      <p:sp>
        <p:nvSpPr>
          <p:cNvPr id="39" name="Rounded Rectangle 38"/>
          <p:cNvSpPr/>
          <p:nvPr/>
        </p:nvSpPr>
        <p:spPr>
          <a:xfrm>
            <a:off x="548640" y="5684520"/>
            <a:ext cx="11094720" cy="472440"/>
          </a:xfrm>
          <a:prstGeom prst="roundRect">
            <a:avLst>
              <a:gd name="adj" fmla="val 22580"/>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F5F3EA"/>
                </a:solidFill>
                <a:latin typeface="Arial"/>
              </a:defRPr>
            </a:pPr>
            <a:r>
              <a:t>C → C′: neue Basis, neuer Elterncommit, neue Commit-ID.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DAF975"/>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AAB9BD"/>
                </a:solidFill>
                <a:latin typeface="Arial"/>
              </a:defRPr>
            </a:pPr>
            <a:r>
              <a:t>PRINZIP 11 / NACH DEM REBASE</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F5F3EA"/>
                </a:solidFill>
                <a:latin typeface="Arial"/>
              </a:defRPr>
            </a:pPr>
            <a:r>
              <a:t>Jetzt kann main folgen.</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AAB9BD"/>
                </a:solidFill>
                <a:latin typeface="Arial"/>
              </a:defRPr>
            </a:pPr>
            <a:r>
              <a:t>Zuerst Rebase auf feature. Danach Fast-Forward auf main.</a:t>
            </a:r>
          </a:p>
        </p:txBody>
      </p:sp>
      <p:cxnSp>
        <p:nvCxnSpPr>
          <p:cNvPr id="7" name="Connector 6"/>
          <p:cNvCxnSpPr/>
          <p:nvPr/>
        </p:nvCxnSpPr>
        <p:spPr>
          <a:xfrm>
            <a:off x="548640" y="6362700"/>
            <a:ext cx="11094720" cy="0"/>
          </a:xfrm>
          <a:prstGeom prst="line">
            <a:avLst/>
          </a:prstGeom>
          <a:ln w="11429">
            <a:solidFill>
              <a:srgbClr val="42555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AAB9BD"/>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F5F3EA"/>
                </a:solidFill>
                <a:latin typeface="Arial"/>
              </a:defRPr>
            </a:pPr>
            <a:r>
              <a:t>21</a:t>
            </a:r>
          </a:p>
        </p:txBody>
      </p:sp>
      <p:cxnSp>
        <p:nvCxnSpPr>
          <p:cNvPr id="10" name="Connector 9"/>
          <p:cNvCxnSpPr/>
          <p:nvPr/>
        </p:nvCxnSpPr>
        <p:spPr>
          <a:xfrm>
            <a:off x="1965960" y="3413760"/>
            <a:ext cx="3992880" cy="0"/>
          </a:xfrm>
          <a:prstGeom prst="line">
            <a:avLst/>
          </a:prstGeom>
          <a:ln w="60960">
            <a:solidFill>
              <a:srgbClr val="AAB9B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958840" y="3413760"/>
            <a:ext cx="4023360" cy="0"/>
          </a:xfrm>
          <a:prstGeom prst="line">
            <a:avLst/>
          </a:prstGeom>
          <a:ln w="60960">
            <a:solidFill>
              <a:srgbClr val="AAB9BD"/>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638300" y="3086100"/>
            <a:ext cx="655320" cy="655320"/>
          </a:xfrm>
          <a:prstGeom prst="ellipse">
            <a:avLst/>
          </a:prstGeom>
          <a:solidFill>
            <a:srgbClr val="AAB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38300" y="3202990"/>
            <a:ext cx="655320" cy="507433"/>
          </a:xfrm>
          <a:prstGeom prst="rect">
            <a:avLst/>
          </a:prstGeom>
          <a:noFill/>
        </p:spPr>
        <p:txBody>
          <a:bodyPr wrap="none" lIns="0" rIns="0" tIns="0" bIns="0">
            <a:noAutofit/>
          </a:bodyPr>
          <a:lstStyle/>
          <a:p>
            <a:pPr algn="ctr">
              <a:lnSpc>
                <a:spcPct val="123000"/>
              </a:lnSpc>
              <a:spcBef>
                <a:spcPts val="0"/>
              </a:spcBef>
              <a:spcAft>
                <a:spcPts val="0"/>
              </a:spcAft>
              <a:defRPr sz="2760" b="1">
                <a:solidFill>
                  <a:srgbClr val="172C36"/>
                </a:solidFill>
                <a:latin typeface="Courier New"/>
              </a:defRPr>
            </a:pPr>
            <a:r>
              <a:t>A</a:t>
            </a:r>
          </a:p>
        </p:txBody>
      </p:sp>
      <p:sp>
        <p:nvSpPr>
          <p:cNvPr id="14" name="Oval 13"/>
          <p:cNvSpPr/>
          <p:nvPr/>
        </p:nvSpPr>
        <p:spPr>
          <a:xfrm>
            <a:off x="5631180" y="3086100"/>
            <a:ext cx="655320" cy="655320"/>
          </a:xfrm>
          <a:prstGeom prst="ellipse">
            <a:avLst/>
          </a:prstGeom>
          <a:solidFill>
            <a:srgbClr val="AAB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31180" y="3202990"/>
            <a:ext cx="655320" cy="507433"/>
          </a:xfrm>
          <a:prstGeom prst="rect">
            <a:avLst/>
          </a:prstGeom>
          <a:noFill/>
        </p:spPr>
        <p:txBody>
          <a:bodyPr wrap="none" lIns="0" rIns="0" tIns="0" bIns="0">
            <a:noAutofit/>
          </a:bodyPr>
          <a:lstStyle/>
          <a:p>
            <a:pPr algn="ctr">
              <a:lnSpc>
                <a:spcPct val="123000"/>
              </a:lnSpc>
              <a:spcBef>
                <a:spcPts val="0"/>
              </a:spcBef>
              <a:spcAft>
                <a:spcPts val="0"/>
              </a:spcAft>
              <a:defRPr sz="2760" b="1">
                <a:solidFill>
                  <a:srgbClr val="172C36"/>
                </a:solidFill>
                <a:latin typeface="Courier New"/>
              </a:defRPr>
            </a:pPr>
            <a:r>
              <a:t>B</a:t>
            </a:r>
          </a:p>
        </p:txBody>
      </p:sp>
      <p:sp>
        <p:nvSpPr>
          <p:cNvPr id="16" name="Oval 15"/>
          <p:cNvSpPr/>
          <p:nvPr/>
        </p:nvSpPr>
        <p:spPr>
          <a:xfrm>
            <a:off x="9654540" y="3086100"/>
            <a:ext cx="655320" cy="65532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54540" y="3202990"/>
            <a:ext cx="655320" cy="507433"/>
          </a:xfrm>
          <a:prstGeom prst="rect">
            <a:avLst/>
          </a:prstGeom>
          <a:noFill/>
        </p:spPr>
        <p:txBody>
          <a:bodyPr wrap="none" lIns="0" rIns="0" tIns="0" bIns="0">
            <a:noAutofit/>
          </a:bodyPr>
          <a:lstStyle/>
          <a:p>
            <a:pPr algn="ctr">
              <a:lnSpc>
                <a:spcPct val="123000"/>
              </a:lnSpc>
              <a:spcBef>
                <a:spcPts val="0"/>
              </a:spcBef>
              <a:spcAft>
                <a:spcPts val="0"/>
              </a:spcAft>
              <a:defRPr sz="2760" b="1">
                <a:solidFill>
                  <a:srgbClr val="172C36"/>
                </a:solidFill>
                <a:latin typeface="Courier New"/>
              </a:defRPr>
            </a:pPr>
            <a:r>
              <a:t>C′</a:t>
            </a:r>
          </a:p>
        </p:txBody>
      </p:sp>
      <p:sp>
        <p:nvSpPr>
          <p:cNvPr id="18" name="TextBox 17"/>
          <p:cNvSpPr txBox="1"/>
          <p:nvPr/>
        </p:nvSpPr>
        <p:spPr>
          <a:xfrm>
            <a:off x="5181600" y="2019300"/>
            <a:ext cx="1371600" cy="291769"/>
          </a:xfrm>
          <a:prstGeom prst="rect">
            <a:avLst/>
          </a:prstGeom>
          <a:noFill/>
        </p:spPr>
        <p:txBody>
          <a:bodyPr wrap="none" lIns="0" rIns="0" tIns="0" bIns="0">
            <a:noAutofit/>
          </a:bodyPr>
          <a:lstStyle/>
          <a:p>
            <a:pPr algn="ctr">
              <a:lnSpc>
                <a:spcPct val="123000"/>
              </a:lnSpc>
              <a:spcBef>
                <a:spcPts val="0"/>
              </a:spcBef>
              <a:spcAft>
                <a:spcPts val="0"/>
              </a:spcAft>
              <a:defRPr sz="1380" b="0">
                <a:solidFill>
                  <a:srgbClr val="AAB9BD"/>
                </a:solidFill>
                <a:latin typeface="Arial"/>
              </a:defRPr>
            </a:pPr>
            <a:r>
              <a:t>vorher</a:t>
            </a:r>
          </a:p>
        </p:txBody>
      </p:sp>
      <p:sp>
        <p:nvSpPr>
          <p:cNvPr id="19" name="Rounded Rectangle 18"/>
          <p:cNvSpPr/>
          <p:nvPr/>
        </p:nvSpPr>
        <p:spPr>
          <a:xfrm>
            <a:off x="5181600" y="2400300"/>
            <a:ext cx="1371600" cy="365760"/>
          </a:xfrm>
          <a:prstGeom prst="roundRect">
            <a:avLst>
              <a:gd name="adj" fmla="val 50000"/>
            </a:avLst>
          </a:prstGeom>
          <a:solidFill>
            <a:srgbClr val="AAB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57800" y="2468880"/>
            <a:ext cx="12192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main</a:t>
            </a:r>
          </a:p>
        </p:txBody>
      </p:sp>
      <p:cxnSp>
        <p:nvCxnSpPr>
          <p:cNvPr id="21" name="Connector 20"/>
          <p:cNvCxnSpPr/>
          <p:nvPr/>
        </p:nvCxnSpPr>
        <p:spPr>
          <a:xfrm>
            <a:off x="6781800" y="2583180"/>
            <a:ext cx="2400300" cy="0"/>
          </a:xfrm>
          <a:prstGeom prst="line">
            <a:avLst/>
          </a:prstGeom>
          <a:ln w="45719">
            <a:solidFill>
              <a:srgbClr val="DAF97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9075105" y="2583180"/>
            <a:ext cx="106995" cy="58451"/>
          </a:xfrm>
          <a:prstGeom prst="line">
            <a:avLst/>
          </a:prstGeom>
          <a:ln w="45719">
            <a:solidFill>
              <a:srgbClr val="DAF97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9075105" y="2524728"/>
            <a:ext cx="106995" cy="58452"/>
          </a:xfrm>
          <a:prstGeom prst="line">
            <a:avLst/>
          </a:prstGeom>
          <a:ln w="45719">
            <a:solidFill>
              <a:srgbClr val="DAF975"/>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58300" y="2019300"/>
            <a:ext cx="1371600" cy="291769"/>
          </a:xfrm>
          <a:prstGeom prst="rect">
            <a:avLst/>
          </a:prstGeom>
          <a:noFill/>
        </p:spPr>
        <p:txBody>
          <a:bodyPr wrap="none" lIns="0" rIns="0" tIns="0" bIns="0">
            <a:noAutofit/>
          </a:bodyPr>
          <a:lstStyle/>
          <a:p>
            <a:pPr algn="ctr">
              <a:lnSpc>
                <a:spcPct val="123000"/>
              </a:lnSpc>
              <a:spcBef>
                <a:spcPts val="0"/>
              </a:spcBef>
              <a:spcAft>
                <a:spcPts val="0"/>
              </a:spcAft>
              <a:defRPr sz="1380" b="0">
                <a:solidFill>
                  <a:srgbClr val="DAF975"/>
                </a:solidFill>
                <a:latin typeface="Arial"/>
              </a:defRPr>
            </a:pPr>
            <a:r>
              <a:t>nachher</a:t>
            </a:r>
          </a:p>
        </p:txBody>
      </p:sp>
      <p:sp>
        <p:nvSpPr>
          <p:cNvPr id="25" name="Rounded Rectangle 24"/>
          <p:cNvSpPr/>
          <p:nvPr/>
        </p:nvSpPr>
        <p:spPr>
          <a:xfrm>
            <a:off x="9258300" y="2400300"/>
            <a:ext cx="1371600"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34500" y="2468880"/>
            <a:ext cx="12192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main</a:t>
            </a:r>
          </a:p>
        </p:txBody>
      </p:sp>
      <p:sp>
        <p:nvSpPr>
          <p:cNvPr id="27" name="Rounded Rectangle 26"/>
          <p:cNvSpPr/>
          <p:nvPr/>
        </p:nvSpPr>
        <p:spPr>
          <a:xfrm>
            <a:off x="9044940" y="4076699"/>
            <a:ext cx="1866899"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21140" y="4145280"/>
            <a:ext cx="17145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feature</a:t>
            </a:r>
          </a:p>
        </p:txBody>
      </p:sp>
      <p:sp>
        <p:nvSpPr>
          <p:cNvPr id="29" name="TextBox 28"/>
          <p:cNvSpPr txBox="1"/>
          <p:nvPr/>
        </p:nvSpPr>
        <p:spPr>
          <a:xfrm>
            <a:off x="1219200" y="4716780"/>
            <a:ext cx="9525000" cy="385495"/>
          </a:xfrm>
          <a:prstGeom prst="rect">
            <a:avLst/>
          </a:prstGeom>
          <a:noFill/>
        </p:spPr>
        <p:txBody>
          <a:bodyPr wrap="none" lIns="0" rIns="0" tIns="0" bIns="0">
            <a:noAutofit/>
          </a:bodyPr>
          <a:lstStyle/>
          <a:p>
            <a:pPr algn="l">
              <a:lnSpc>
                <a:spcPct val="123000"/>
              </a:lnSpc>
              <a:spcBef>
                <a:spcPts val="0"/>
              </a:spcBef>
              <a:spcAft>
                <a:spcPts val="0"/>
              </a:spcAft>
              <a:defRPr sz="1980" b="1">
                <a:solidFill>
                  <a:srgbClr val="F5F3EA"/>
                </a:solidFill>
                <a:latin typeface="Courier New"/>
              </a:defRPr>
            </a:pPr>
            <a:r>
              <a:t>1  git switch main</a:t>
            </a:r>
          </a:p>
        </p:txBody>
      </p:sp>
      <p:sp>
        <p:nvSpPr>
          <p:cNvPr id="30" name="TextBox 29"/>
          <p:cNvSpPr txBox="1"/>
          <p:nvPr/>
        </p:nvSpPr>
        <p:spPr>
          <a:xfrm>
            <a:off x="1219200" y="5151120"/>
            <a:ext cx="10134600" cy="385495"/>
          </a:xfrm>
          <a:prstGeom prst="rect">
            <a:avLst/>
          </a:prstGeom>
          <a:noFill/>
        </p:spPr>
        <p:txBody>
          <a:bodyPr wrap="none" lIns="0" rIns="0" tIns="0" bIns="0">
            <a:noAutofit/>
          </a:bodyPr>
          <a:lstStyle/>
          <a:p>
            <a:pPr algn="l">
              <a:lnSpc>
                <a:spcPct val="123000"/>
              </a:lnSpc>
              <a:spcBef>
                <a:spcPts val="0"/>
              </a:spcBef>
              <a:spcAft>
                <a:spcPts val="0"/>
              </a:spcAft>
              <a:defRPr sz="1980" b="1">
                <a:solidFill>
                  <a:srgbClr val="DAF975"/>
                </a:solidFill>
                <a:latin typeface="Courier New"/>
              </a:defRPr>
            </a:pPr>
            <a:r>
              <a:t>2  git merge --ff-only feature/volunteers</a:t>
            </a:r>
          </a:p>
        </p:txBody>
      </p:sp>
      <p:sp>
        <p:nvSpPr>
          <p:cNvPr id="31" name="Rounded Rectangle 30"/>
          <p:cNvSpPr/>
          <p:nvPr/>
        </p:nvSpPr>
        <p:spPr>
          <a:xfrm>
            <a:off x="548640" y="5684520"/>
            <a:ext cx="11094720" cy="472440"/>
          </a:xfrm>
          <a:prstGeom prst="roundRect">
            <a:avLst>
              <a:gd name="adj" fmla="val 22580"/>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F5F3EA"/>
                </a:solidFill>
                <a:latin typeface="Arial"/>
              </a:defRPr>
            </a:pPr>
            <a:r>
              <a:t>Das Fast-Forward erzeugt keinen weiteren Commit.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172C36"/>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576B70"/>
                </a:solidFill>
                <a:latin typeface="Arial"/>
              </a:defRPr>
            </a:pPr>
            <a:r>
              <a:t>EINORDNUNG / MERGE · REBASE · SQUASH</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172C36"/>
                </a:solidFill>
                <a:latin typeface="Arial"/>
              </a:defRPr>
            </a:pPr>
            <a:r>
              <a:t>Drei Wege. Drei Geschichten.</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576B70"/>
                </a:solidFill>
                <a:latin typeface="Arial"/>
              </a:defRPr>
            </a:pPr>
            <a:r>
              <a:t>Entscheidet nach Zusammenarbeit und gewünschter Nachvollziehbarkeit.</a:t>
            </a:r>
          </a:p>
        </p:txBody>
      </p:sp>
      <p:cxnSp>
        <p:nvCxnSpPr>
          <p:cNvPr id="7" name="Connector 6"/>
          <p:cNvCxnSpPr/>
          <p:nvPr/>
        </p:nvCxnSpPr>
        <p:spPr>
          <a:xfrm>
            <a:off x="548640" y="6362700"/>
            <a:ext cx="11094720" cy="0"/>
          </a:xfrm>
          <a:prstGeom prst="line">
            <a:avLst/>
          </a:prstGeom>
          <a:ln w="11429">
            <a:solidFill>
              <a:srgbClr val="D2D9D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576B70"/>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172C36"/>
                </a:solidFill>
                <a:latin typeface="Arial"/>
              </a:defRPr>
            </a:pPr>
            <a:r>
              <a:t>22</a:t>
            </a:r>
          </a:p>
        </p:txBody>
      </p:sp>
      <p:sp>
        <p:nvSpPr>
          <p:cNvPr id="10" name="Rounded Rectangle 9"/>
          <p:cNvSpPr/>
          <p:nvPr/>
        </p:nvSpPr>
        <p:spPr>
          <a:xfrm>
            <a:off x="556260" y="2164080"/>
            <a:ext cx="3520440" cy="3268980"/>
          </a:xfrm>
          <a:prstGeom prst="roundRect">
            <a:avLst>
              <a:gd name="adj" fmla="val 559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9140" y="2354580"/>
            <a:ext cx="3154680"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340" y="2423160"/>
            <a:ext cx="3002280" cy="348005"/>
          </a:xfrm>
          <a:prstGeom prst="rect">
            <a:avLst/>
          </a:prstGeom>
          <a:noFill/>
        </p:spPr>
        <p:txBody>
          <a:bodyPr wrap="none" lIns="0" rIns="0" tIns="0" bIns="0">
            <a:noAutofit/>
          </a:bodyPr>
          <a:lstStyle/>
          <a:p>
            <a:pPr algn="ctr">
              <a:lnSpc>
                <a:spcPct val="123000"/>
              </a:lnSpc>
              <a:spcBef>
                <a:spcPts val="0"/>
              </a:spcBef>
              <a:spcAft>
                <a:spcPts val="0"/>
              </a:spcAft>
              <a:defRPr sz="1739" b="1">
                <a:solidFill>
                  <a:srgbClr val="172C36"/>
                </a:solidFill>
                <a:latin typeface="Courier New"/>
              </a:defRPr>
            </a:pPr>
            <a:r>
              <a:t>Merge-Commit</a:t>
            </a:r>
          </a:p>
        </p:txBody>
      </p:sp>
      <p:sp>
        <p:nvSpPr>
          <p:cNvPr id="13" name="Rounded Rectangle 12"/>
          <p:cNvSpPr/>
          <p:nvPr/>
        </p:nvSpPr>
        <p:spPr>
          <a:xfrm>
            <a:off x="4335780" y="2164080"/>
            <a:ext cx="3520440" cy="3268980"/>
          </a:xfrm>
          <a:prstGeom prst="roundRect">
            <a:avLst>
              <a:gd name="adj" fmla="val 559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18660" y="2354580"/>
            <a:ext cx="315468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4860" y="2423160"/>
            <a:ext cx="3002280" cy="348005"/>
          </a:xfrm>
          <a:prstGeom prst="rect">
            <a:avLst/>
          </a:prstGeom>
          <a:noFill/>
        </p:spPr>
        <p:txBody>
          <a:bodyPr wrap="none" lIns="0" rIns="0" tIns="0" bIns="0">
            <a:noAutofit/>
          </a:bodyPr>
          <a:lstStyle/>
          <a:p>
            <a:pPr algn="ctr">
              <a:lnSpc>
                <a:spcPct val="123000"/>
              </a:lnSpc>
              <a:spcBef>
                <a:spcPts val="0"/>
              </a:spcBef>
              <a:spcAft>
                <a:spcPts val="0"/>
              </a:spcAft>
              <a:defRPr sz="1739" b="1">
                <a:solidFill>
                  <a:srgbClr val="172C36"/>
                </a:solidFill>
                <a:latin typeface="Courier New"/>
              </a:defRPr>
            </a:pPr>
            <a:r>
              <a:t>Rebase + FF</a:t>
            </a:r>
          </a:p>
        </p:txBody>
      </p:sp>
      <p:sp>
        <p:nvSpPr>
          <p:cNvPr id="16" name="Rounded Rectangle 15"/>
          <p:cNvSpPr/>
          <p:nvPr/>
        </p:nvSpPr>
        <p:spPr>
          <a:xfrm>
            <a:off x="8115300" y="2164080"/>
            <a:ext cx="3520440" cy="3268980"/>
          </a:xfrm>
          <a:prstGeom prst="roundRect">
            <a:avLst>
              <a:gd name="adj" fmla="val 559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98179" y="2354580"/>
            <a:ext cx="3154680" cy="365760"/>
          </a:xfrm>
          <a:prstGeom prst="roundRect">
            <a:avLst>
              <a:gd name="adj" fmla="val 50000"/>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74380" y="2423160"/>
            <a:ext cx="3002280" cy="348005"/>
          </a:xfrm>
          <a:prstGeom prst="rect">
            <a:avLst/>
          </a:prstGeom>
          <a:noFill/>
        </p:spPr>
        <p:txBody>
          <a:bodyPr wrap="none" lIns="0" rIns="0" tIns="0" bIns="0">
            <a:noAutofit/>
          </a:bodyPr>
          <a:lstStyle/>
          <a:p>
            <a:pPr algn="ctr">
              <a:lnSpc>
                <a:spcPct val="123000"/>
              </a:lnSpc>
              <a:spcBef>
                <a:spcPts val="0"/>
              </a:spcBef>
              <a:spcAft>
                <a:spcPts val="0"/>
              </a:spcAft>
              <a:defRPr sz="1739" b="1">
                <a:solidFill>
                  <a:srgbClr val="172C36"/>
                </a:solidFill>
                <a:latin typeface="Courier New"/>
              </a:defRPr>
            </a:pPr>
            <a:r>
              <a:t>Squash</a:t>
            </a:r>
          </a:p>
        </p:txBody>
      </p:sp>
      <p:cxnSp>
        <p:nvCxnSpPr>
          <p:cNvPr id="19" name="Connector 18"/>
          <p:cNvCxnSpPr/>
          <p:nvPr/>
        </p:nvCxnSpPr>
        <p:spPr>
          <a:xfrm flipV="1">
            <a:off x="883920" y="3352800"/>
            <a:ext cx="998219" cy="449580"/>
          </a:xfrm>
          <a:prstGeom prst="line">
            <a:avLst/>
          </a:prstGeom>
          <a:ln w="38100">
            <a:solidFill>
              <a:srgbClr val="6A863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882139" y="3352800"/>
            <a:ext cx="1577341" cy="449580"/>
          </a:xfrm>
          <a:prstGeom prst="line">
            <a:avLst/>
          </a:prstGeom>
          <a:ln w="38100">
            <a:solidFill>
              <a:srgbClr val="6A863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83920" y="3802380"/>
            <a:ext cx="998219" cy="678180"/>
          </a:xfrm>
          <a:prstGeom prst="line">
            <a:avLst/>
          </a:prstGeom>
          <a:ln w="38100">
            <a:solidFill>
              <a:srgbClr val="24829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82139" y="4480560"/>
            <a:ext cx="807721" cy="0"/>
          </a:xfrm>
          <a:prstGeom prst="line">
            <a:avLst/>
          </a:prstGeom>
          <a:ln w="38100">
            <a:solidFill>
              <a:srgbClr val="24829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689860" y="3802380"/>
            <a:ext cx="769620" cy="678180"/>
          </a:xfrm>
          <a:prstGeom prst="line">
            <a:avLst/>
          </a:prstGeom>
          <a:ln w="38100">
            <a:solidFill>
              <a:srgbClr val="248293"/>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01040" y="3619500"/>
            <a:ext cx="365760" cy="365760"/>
          </a:xfrm>
          <a:prstGeom prst="ellipse">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1040" y="3681374"/>
            <a:ext cx="365760" cy="316888"/>
          </a:xfrm>
          <a:prstGeom prst="rect">
            <a:avLst/>
          </a:prstGeom>
          <a:noFill/>
        </p:spPr>
        <p:txBody>
          <a:bodyPr wrap="none" lIns="0" rIns="0" tIns="0" bIns="0">
            <a:noAutofit/>
          </a:bodyPr>
          <a:lstStyle/>
          <a:p>
            <a:pPr algn="ctr">
              <a:lnSpc>
                <a:spcPct val="123000"/>
              </a:lnSpc>
              <a:spcBef>
                <a:spcPts val="0"/>
              </a:spcBef>
              <a:spcAft>
                <a:spcPts val="0"/>
              </a:spcAft>
              <a:defRPr sz="1540" b="1">
                <a:solidFill>
                  <a:srgbClr val="172C36"/>
                </a:solidFill>
                <a:latin typeface="Courier New"/>
              </a:defRPr>
            </a:pPr>
            <a:r>
              <a:t>O</a:t>
            </a:r>
          </a:p>
        </p:txBody>
      </p:sp>
      <p:sp>
        <p:nvSpPr>
          <p:cNvPr id="26" name="Oval 25"/>
          <p:cNvSpPr/>
          <p:nvPr/>
        </p:nvSpPr>
        <p:spPr>
          <a:xfrm>
            <a:off x="1699260" y="3169920"/>
            <a:ext cx="365760" cy="36576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99260" y="3231794"/>
            <a:ext cx="365760" cy="316888"/>
          </a:xfrm>
          <a:prstGeom prst="rect">
            <a:avLst/>
          </a:prstGeom>
          <a:noFill/>
        </p:spPr>
        <p:txBody>
          <a:bodyPr wrap="none" lIns="0" rIns="0" tIns="0" bIns="0">
            <a:noAutofit/>
          </a:bodyPr>
          <a:lstStyle/>
          <a:p>
            <a:pPr algn="ctr">
              <a:lnSpc>
                <a:spcPct val="123000"/>
              </a:lnSpc>
              <a:spcBef>
                <a:spcPts val="0"/>
              </a:spcBef>
              <a:spcAft>
                <a:spcPts val="0"/>
              </a:spcAft>
              <a:defRPr sz="1540" b="1">
                <a:solidFill>
                  <a:srgbClr val="172C36"/>
                </a:solidFill>
                <a:latin typeface="Courier New"/>
              </a:defRPr>
            </a:pPr>
            <a:r>
              <a:t>B</a:t>
            </a:r>
          </a:p>
        </p:txBody>
      </p:sp>
      <p:sp>
        <p:nvSpPr>
          <p:cNvPr id="28" name="Oval 27"/>
          <p:cNvSpPr/>
          <p:nvPr/>
        </p:nvSpPr>
        <p:spPr>
          <a:xfrm>
            <a:off x="1699260" y="4297680"/>
            <a:ext cx="365760" cy="36576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99260" y="4359554"/>
            <a:ext cx="365760" cy="316888"/>
          </a:xfrm>
          <a:prstGeom prst="rect">
            <a:avLst/>
          </a:prstGeom>
          <a:noFill/>
        </p:spPr>
        <p:txBody>
          <a:bodyPr wrap="none" lIns="0" rIns="0" tIns="0" bIns="0">
            <a:noAutofit/>
          </a:bodyPr>
          <a:lstStyle/>
          <a:p>
            <a:pPr algn="ctr">
              <a:lnSpc>
                <a:spcPct val="123000"/>
              </a:lnSpc>
              <a:spcBef>
                <a:spcPts val="0"/>
              </a:spcBef>
              <a:spcAft>
                <a:spcPts val="0"/>
              </a:spcAft>
              <a:defRPr sz="1540" b="1">
                <a:solidFill>
                  <a:srgbClr val="172C36"/>
                </a:solidFill>
                <a:latin typeface="Courier New"/>
              </a:defRPr>
            </a:pPr>
            <a:r>
              <a:t>C</a:t>
            </a:r>
          </a:p>
        </p:txBody>
      </p:sp>
      <p:sp>
        <p:nvSpPr>
          <p:cNvPr id="30" name="Oval 29"/>
          <p:cNvSpPr/>
          <p:nvPr/>
        </p:nvSpPr>
        <p:spPr>
          <a:xfrm>
            <a:off x="2506980" y="4297680"/>
            <a:ext cx="365760" cy="36576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06980" y="4359554"/>
            <a:ext cx="365760" cy="316888"/>
          </a:xfrm>
          <a:prstGeom prst="rect">
            <a:avLst/>
          </a:prstGeom>
          <a:noFill/>
        </p:spPr>
        <p:txBody>
          <a:bodyPr wrap="none" lIns="0" rIns="0" tIns="0" bIns="0">
            <a:noAutofit/>
          </a:bodyPr>
          <a:lstStyle/>
          <a:p>
            <a:pPr algn="ctr">
              <a:lnSpc>
                <a:spcPct val="123000"/>
              </a:lnSpc>
              <a:spcBef>
                <a:spcPts val="0"/>
              </a:spcBef>
              <a:spcAft>
                <a:spcPts val="0"/>
              </a:spcAft>
              <a:defRPr sz="1540" b="1">
                <a:solidFill>
                  <a:srgbClr val="172C36"/>
                </a:solidFill>
                <a:latin typeface="Courier New"/>
              </a:defRPr>
            </a:pPr>
            <a:r>
              <a:t>D</a:t>
            </a:r>
          </a:p>
        </p:txBody>
      </p:sp>
      <p:sp>
        <p:nvSpPr>
          <p:cNvPr id="32" name="Oval 31"/>
          <p:cNvSpPr/>
          <p:nvPr/>
        </p:nvSpPr>
        <p:spPr>
          <a:xfrm>
            <a:off x="3276600" y="3619500"/>
            <a:ext cx="365760" cy="365760"/>
          </a:xfrm>
          <a:prstGeom prst="ellipse">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76600" y="3681374"/>
            <a:ext cx="365760" cy="316888"/>
          </a:xfrm>
          <a:prstGeom prst="rect">
            <a:avLst/>
          </a:prstGeom>
          <a:noFill/>
        </p:spPr>
        <p:txBody>
          <a:bodyPr wrap="none" lIns="0" rIns="0" tIns="0" bIns="0">
            <a:noAutofit/>
          </a:bodyPr>
          <a:lstStyle/>
          <a:p>
            <a:pPr algn="ctr">
              <a:lnSpc>
                <a:spcPct val="123000"/>
              </a:lnSpc>
              <a:spcBef>
                <a:spcPts val="0"/>
              </a:spcBef>
              <a:spcAft>
                <a:spcPts val="0"/>
              </a:spcAft>
              <a:defRPr sz="1540" b="1">
                <a:solidFill>
                  <a:srgbClr val="172C36"/>
                </a:solidFill>
                <a:latin typeface="Courier New"/>
              </a:defRPr>
            </a:pPr>
            <a:r>
              <a:t>M</a:t>
            </a:r>
          </a:p>
        </p:txBody>
      </p:sp>
      <p:cxnSp>
        <p:nvCxnSpPr>
          <p:cNvPr id="34" name="Connector 33"/>
          <p:cNvCxnSpPr/>
          <p:nvPr/>
        </p:nvCxnSpPr>
        <p:spPr>
          <a:xfrm>
            <a:off x="4663440" y="3870960"/>
            <a:ext cx="2880360" cy="0"/>
          </a:xfrm>
          <a:prstGeom prst="line">
            <a:avLst/>
          </a:prstGeom>
          <a:ln w="38100">
            <a:solidFill>
              <a:srgbClr val="172C36"/>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4480560" y="3688080"/>
            <a:ext cx="365760" cy="365760"/>
          </a:xfrm>
          <a:prstGeom prst="ellipse">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80560" y="3749954"/>
            <a:ext cx="365760" cy="316888"/>
          </a:xfrm>
          <a:prstGeom prst="rect">
            <a:avLst/>
          </a:prstGeom>
          <a:noFill/>
        </p:spPr>
        <p:txBody>
          <a:bodyPr wrap="none" lIns="0" rIns="0" tIns="0" bIns="0">
            <a:noAutofit/>
          </a:bodyPr>
          <a:lstStyle/>
          <a:p>
            <a:pPr algn="ctr">
              <a:lnSpc>
                <a:spcPct val="123000"/>
              </a:lnSpc>
              <a:spcBef>
                <a:spcPts val="0"/>
              </a:spcBef>
              <a:spcAft>
                <a:spcPts val="0"/>
              </a:spcAft>
              <a:defRPr sz="1540" b="1">
                <a:solidFill>
                  <a:srgbClr val="172C36"/>
                </a:solidFill>
                <a:latin typeface="Courier New"/>
              </a:defRPr>
            </a:pPr>
            <a:r>
              <a:t>O</a:t>
            </a:r>
          </a:p>
        </p:txBody>
      </p:sp>
      <p:sp>
        <p:nvSpPr>
          <p:cNvPr id="37" name="Oval 36"/>
          <p:cNvSpPr/>
          <p:nvPr/>
        </p:nvSpPr>
        <p:spPr>
          <a:xfrm>
            <a:off x="5440680" y="3688080"/>
            <a:ext cx="365760" cy="36576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40680" y="3749954"/>
            <a:ext cx="365760" cy="316888"/>
          </a:xfrm>
          <a:prstGeom prst="rect">
            <a:avLst/>
          </a:prstGeom>
          <a:noFill/>
        </p:spPr>
        <p:txBody>
          <a:bodyPr wrap="none" lIns="0" rIns="0" tIns="0" bIns="0">
            <a:noAutofit/>
          </a:bodyPr>
          <a:lstStyle/>
          <a:p>
            <a:pPr algn="ctr">
              <a:lnSpc>
                <a:spcPct val="123000"/>
              </a:lnSpc>
              <a:spcBef>
                <a:spcPts val="0"/>
              </a:spcBef>
              <a:spcAft>
                <a:spcPts val="0"/>
              </a:spcAft>
              <a:defRPr sz="1540" b="1">
                <a:solidFill>
                  <a:srgbClr val="172C36"/>
                </a:solidFill>
                <a:latin typeface="Courier New"/>
              </a:defRPr>
            </a:pPr>
            <a:r>
              <a:t>B</a:t>
            </a:r>
          </a:p>
        </p:txBody>
      </p:sp>
      <p:sp>
        <p:nvSpPr>
          <p:cNvPr id="39" name="Oval 38"/>
          <p:cNvSpPr/>
          <p:nvPr/>
        </p:nvSpPr>
        <p:spPr>
          <a:xfrm>
            <a:off x="6400800" y="3688080"/>
            <a:ext cx="365760" cy="36576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3749954"/>
            <a:ext cx="365760" cy="316888"/>
          </a:xfrm>
          <a:prstGeom prst="rect">
            <a:avLst/>
          </a:prstGeom>
          <a:noFill/>
        </p:spPr>
        <p:txBody>
          <a:bodyPr wrap="none" lIns="0" rIns="0" tIns="0" bIns="0">
            <a:noAutofit/>
          </a:bodyPr>
          <a:lstStyle/>
          <a:p>
            <a:pPr algn="ctr">
              <a:lnSpc>
                <a:spcPct val="123000"/>
              </a:lnSpc>
              <a:spcBef>
                <a:spcPts val="0"/>
              </a:spcBef>
              <a:spcAft>
                <a:spcPts val="0"/>
              </a:spcAft>
              <a:defRPr sz="1540" b="1">
                <a:solidFill>
                  <a:srgbClr val="172C36"/>
                </a:solidFill>
                <a:latin typeface="Courier New"/>
              </a:defRPr>
            </a:pPr>
            <a:r>
              <a:t>C′</a:t>
            </a:r>
          </a:p>
        </p:txBody>
      </p:sp>
      <p:sp>
        <p:nvSpPr>
          <p:cNvPr id="41" name="Oval 40"/>
          <p:cNvSpPr/>
          <p:nvPr/>
        </p:nvSpPr>
        <p:spPr>
          <a:xfrm>
            <a:off x="7360920" y="3688080"/>
            <a:ext cx="365760" cy="36576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60920" y="3749954"/>
            <a:ext cx="365760" cy="316888"/>
          </a:xfrm>
          <a:prstGeom prst="rect">
            <a:avLst/>
          </a:prstGeom>
          <a:noFill/>
        </p:spPr>
        <p:txBody>
          <a:bodyPr wrap="none" lIns="0" rIns="0" tIns="0" bIns="0">
            <a:noAutofit/>
          </a:bodyPr>
          <a:lstStyle/>
          <a:p>
            <a:pPr algn="ctr">
              <a:lnSpc>
                <a:spcPct val="123000"/>
              </a:lnSpc>
              <a:spcBef>
                <a:spcPts val="0"/>
              </a:spcBef>
              <a:spcAft>
                <a:spcPts val="0"/>
              </a:spcAft>
              <a:defRPr sz="1540" b="1">
                <a:solidFill>
                  <a:srgbClr val="172C36"/>
                </a:solidFill>
                <a:latin typeface="Courier New"/>
              </a:defRPr>
            </a:pPr>
            <a:r>
              <a:t>D′</a:t>
            </a:r>
          </a:p>
        </p:txBody>
      </p:sp>
      <p:cxnSp>
        <p:nvCxnSpPr>
          <p:cNvPr id="43" name="Connector 42"/>
          <p:cNvCxnSpPr/>
          <p:nvPr/>
        </p:nvCxnSpPr>
        <p:spPr>
          <a:xfrm>
            <a:off x="8519160" y="3870960"/>
            <a:ext cx="2590800" cy="0"/>
          </a:xfrm>
          <a:prstGeom prst="line">
            <a:avLst/>
          </a:prstGeom>
          <a:ln w="38100">
            <a:solidFill>
              <a:srgbClr val="172C36"/>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8328659" y="3680460"/>
            <a:ext cx="381000" cy="381000"/>
          </a:xfrm>
          <a:prstGeom prst="ellipse">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28659" y="3745230"/>
            <a:ext cx="381000" cy="326917"/>
          </a:xfrm>
          <a:prstGeom prst="rect">
            <a:avLst/>
          </a:prstGeom>
          <a:noFill/>
        </p:spPr>
        <p:txBody>
          <a:bodyPr wrap="none" lIns="0" rIns="0" tIns="0" bIns="0">
            <a:noAutofit/>
          </a:bodyPr>
          <a:lstStyle/>
          <a:p>
            <a:pPr algn="ctr">
              <a:lnSpc>
                <a:spcPct val="123000"/>
              </a:lnSpc>
              <a:spcBef>
                <a:spcPts val="0"/>
              </a:spcBef>
              <a:spcAft>
                <a:spcPts val="0"/>
              </a:spcAft>
              <a:defRPr sz="1605" b="1">
                <a:solidFill>
                  <a:srgbClr val="172C36"/>
                </a:solidFill>
                <a:latin typeface="Courier New"/>
              </a:defRPr>
            </a:pPr>
            <a:r>
              <a:t>O</a:t>
            </a:r>
          </a:p>
        </p:txBody>
      </p:sp>
      <p:sp>
        <p:nvSpPr>
          <p:cNvPr id="46" name="Oval 45"/>
          <p:cNvSpPr/>
          <p:nvPr/>
        </p:nvSpPr>
        <p:spPr>
          <a:xfrm>
            <a:off x="9624060" y="3680460"/>
            <a:ext cx="381000" cy="38100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24060" y="3745230"/>
            <a:ext cx="381000" cy="326917"/>
          </a:xfrm>
          <a:prstGeom prst="rect">
            <a:avLst/>
          </a:prstGeom>
          <a:noFill/>
        </p:spPr>
        <p:txBody>
          <a:bodyPr wrap="none" lIns="0" rIns="0" tIns="0" bIns="0">
            <a:noAutofit/>
          </a:bodyPr>
          <a:lstStyle/>
          <a:p>
            <a:pPr algn="ctr">
              <a:lnSpc>
                <a:spcPct val="123000"/>
              </a:lnSpc>
              <a:spcBef>
                <a:spcPts val="0"/>
              </a:spcBef>
              <a:spcAft>
                <a:spcPts val="0"/>
              </a:spcAft>
              <a:defRPr sz="1605" b="1">
                <a:solidFill>
                  <a:srgbClr val="172C36"/>
                </a:solidFill>
                <a:latin typeface="Courier New"/>
              </a:defRPr>
            </a:pPr>
            <a:r>
              <a:t>B</a:t>
            </a:r>
          </a:p>
        </p:txBody>
      </p:sp>
      <p:sp>
        <p:nvSpPr>
          <p:cNvPr id="48" name="Oval 47"/>
          <p:cNvSpPr/>
          <p:nvPr/>
        </p:nvSpPr>
        <p:spPr>
          <a:xfrm>
            <a:off x="10919460" y="3680460"/>
            <a:ext cx="381000" cy="381000"/>
          </a:xfrm>
          <a:prstGeom prst="ellipse">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919460" y="3745230"/>
            <a:ext cx="381000" cy="326917"/>
          </a:xfrm>
          <a:prstGeom prst="rect">
            <a:avLst/>
          </a:prstGeom>
          <a:noFill/>
        </p:spPr>
        <p:txBody>
          <a:bodyPr wrap="none" lIns="0" rIns="0" tIns="0" bIns="0">
            <a:noAutofit/>
          </a:bodyPr>
          <a:lstStyle/>
          <a:p>
            <a:pPr algn="ctr">
              <a:lnSpc>
                <a:spcPct val="123000"/>
              </a:lnSpc>
              <a:spcBef>
                <a:spcPts val="0"/>
              </a:spcBef>
              <a:spcAft>
                <a:spcPts val="0"/>
              </a:spcAft>
              <a:defRPr sz="1605" b="1">
                <a:solidFill>
                  <a:srgbClr val="172C36"/>
                </a:solidFill>
                <a:latin typeface="Courier New"/>
              </a:defRPr>
            </a:pPr>
            <a:r>
              <a:t>S</a:t>
            </a:r>
          </a:p>
        </p:txBody>
      </p:sp>
      <p:sp>
        <p:nvSpPr>
          <p:cNvPr id="50" name="TextBox 49"/>
          <p:cNvSpPr txBox="1"/>
          <p:nvPr/>
        </p:nvSpPr>
        <p:spPr>
          <a:xfrm>
            <a:off x="777240" y="4983480"/>
            <a:ext cx="2971800" cy="310515"/>
          </a:xfrm>
          <a:prstGeom prst="rect">
            <a:avLst/>
          </a:prstGeom>
          <a:noFill/>
        </p:spPr>
        <p:txBody>
          <a:bodyPr wrap="none" lIns="0" rIns="0" tIns="0" bIns="0">
            <a:noAutofit/>
          </a:bodyPr>
          <a:lstStyle/>
          <a:p>
            <a:pPr algn="l">
              <a:lnSpc>
                <a:spcPct val="123000"/>
              </a:lnSpc>
              <a:spcBef>
                <a:spcPts val="0"/>
              </a:spcBef>
              <a:spcAft>
                <a:spcPts val="0"/>
              </a:spcAft>
              <a:defRPr sz="1500" b="1">
                <a:solidFill>
                  <a:srgbClr val="172C36"/>
                </a:solidFill>
                <a:latin typeface="Arial"/>
              </a:defRPr>
            </a:pPr>
            <a:r>
              <a:t>zwei Linien verbinden</a:t>
            </a:r>
          </a:p>
        </p:txBody>
      </p:sp>
      <p:sp>
        <p:nvSpPr>
          <p:cNvPr id="51" name="TextBox 50"/>
          <p:cNvSpPr txBox="1"/>
          <p:nvPr/>
        </p:nvSpPr>
        <p:spPr>
          <a:xfrm>
            <a:off x="4556760" y="4983480"/>
            <a:ext cx="3238500" cy="310515"/>
          </a:xfrm>
          <a:prstGeom prst="rect">
            <a:avLst/>
          </a:prstGeom>
          <a:noFill/>
        </p:spPr>
        <p:txBody>
          <a:bodyPr wrap="none" lIns="0" rIns="0" tIns="0" bIns="0">
            <a:noAutofit/>
          </a:bodyPr>
          <a:lstStyle/>
          <a:p>
            <a:pPr algn="l">
              <a:lnSpc>
                <a:spcPct val="123000"/>
              </a:lnSpc>
              <a:spcBef>
                <a:spcPts val="0"/>
              </a:spcBef>
              <a:spcAft>
                <a:spcPts val="0"/>
              </a:spcAft>
              <a:defRPr sz="1500" b="1">
                <a:solidFill>
                  <a:srgbClr val="172C36"/>
                </a:solidFill>
                <a:latin typeface="Arial"/>
              </a:defRPr>
            </a:pPr>
            <a:r>
              <a:t>Änderungen neu aufbauen</a:t>
            </a:r>
          </a:p>
        </p:txBody>
      </p:sp>
      <p:sp>
        <p:nvSpPr>
          <p:cNvPr id="52" name="TextBox 51"/>
          <p:cNvSpPr txBox="1"/>
          <p:nvPr/>
        </p:nvSpPr>
        <p:spPr>
          <a:xfrm>
            <a:off x="8336280" y="4983480"/>
            <a:ext cx="3238500" cy="310515"/>
          </a:xfrm>
          <a:prstGeom prst="rect">
            <a:avLst/>
          </a:prstGeom>
          <a:noFill/>
        </p:spPr>
        <p:txBody>
          <a:bodyPr wrap="none" lIns="0" rIns="0" tIns="0" bIns="0">
            <a:noAutofit/>
          </a:bodyPr>
          <a:lstStyle/>
          <a:p>
            <a:pPr algn="l">
              <a:lnSpc>
                <a:spcPct val="123000"/>
              </a:lnSpc>
              <a:spcBef>
                <a:spcPts val="0"/>
              </a:spcBef>
              <a:spcAft>
                <a:spcPts val="0"/>
              </a:spcAft>
              <a:defRPr sz="1500" b="1">
                <a:solidFill>
                  <a:srgbClr val="172C36"/>
                </a:solidFill>
                <a:latin typeface="Arial"/>
              </a:defRPr>
            </a:pPr>
            <a:r>
              <a:t>Schritte zusammenfassen</a:t>
            </a:r>
          </a:p>
        </p:txBody>
      </p:sp>
      <p:sp>
        <p:nvSpPr>
          <p:cNvPr id="53" name="Rounded Rectangle 52"/>
          <p:cNvSpPr/>
          <p:nvPr/>
        </p:nvSpPr>
        <p:spPr>
          <a:xfrm>
            <a:off x="548640" y="5684520"/>
            <a:ext cx="11094720" cy="472440"/>
          </a:xfrm>
          <a:prstGeom prst="roundRect">
            <a:avLst>
              <a:gd name="adj" fmla="val 22580"/>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172C36"/>
                </a:solidFill>
                <a:latin typeface="Arial"/>
              </a:defRPr>
            </a:pPr>
            <a:r>
              <a:t>Gemeinsam genutzte History nur nach Absprache umschreiben.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DAF975"/>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AAB9BD"/>
                </a:solidFill>
                <a:latin typeface="Arial"/>
              </a:defRPr>
            </a:pPr>
            <a:r>
              <a:t>PRAXIS 04 / MINUTE 80–100</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F5F3EA"/>
                </a:solidFill>
                <a:latin typeface="Arial"/>
              </a:defRPr>
            </a:pPr>
            <a:r>
              <a:t>Lest die History.</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AAB9BD"/>
                </a:solidFill>
                <a:latin typeface="Arial"/>
              </a:defRPr>
            </a:pPr>
            <a:r>
              <a:t>In den lokalen Laboren: vorhersagen → ausführen → Graph vergleichen.</a:t>
            </a:r>
          </a:p>
        </p:txBody>
      </p:sp>
      <p:cxnSp>
        <p:nvCxnSpPr>
          <p:cNvPr id="7" name="Connector 6"/>
          <p:cNvCxnSpPr/>
          <p:nvPr/>
        </p:nvCxnSpPr>
        <p:spPr>
          <a:xfrm>
            <a:off x="548640" y="6362700"/>
            <a:ext cx="11094720" cy="0"/>
          </a:xfrm>
          <a:prstGeom prst="line">
            <a:avLst/>
          </a:prstGeom>
          <a:ln w="11429">
            <a:solidFill>
              <a:srgbClr val="42555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AAB9BD"/>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F5F3EA"/>
                </a:solidFill>
                <a:latin typeface="Arial"/>
              </a:defRPr>
            </a:pPr>
            <a:r>
              <a:t>23</a:t>
            </a:r>
          </a:p>
        </p:txBody>
      </p:sp>
      <p:sp>
        <p:nvSpPr>
          <p:cNvPr id="10" name="Rounded Rectangle 9"/>
          <p:cNvSpPr/>
          <p:nvPr/>
        </p:nvSpPr>
        <p:spPr>
          <a:xfrm>
            <a:off x="556260" y="2293620"/>
            <a:ext cx="3505200" cy="2796540"/>
          </a:xfrm>
          <a:prstGeom prst="roundRect">
            <a:avLst>
              <a:gd name="adj" fmla="val 7084"/>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69620" y="2506980"/>
            <a:ext cx="662940"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 y="2575560"/>
            <a:ext cx="51054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01</a:t>
            </a:r>
          </a:p>
        </p:txBody>
      </p:sp>
      <p:sp>
        <p:nvSpPr>
          <p:cNvPr id="13" name="TextBox 12"/>
          <p:cNvSpPr txBox="1"/>
          <p:nvPr/>
        </p:nvSpPr>
        <p:spPr>
          <a:xfrm>
            <a:off x="777240" y="3124200"/>
            <a:ext cx="3086100" cy="479221"/>
          </a:xfrm>
          <a:prstGeom prst="rect">
            <a:avLst/>
          </a:prstGeom>
          <a:noFill/>
        </p:spPr>
        <p:txBody>
          <a:bodyPr wrap="none" lIns="0" rIns="0" tIns="0" bIns="0">
            <a:noAutofit/>
          </a:bodyPr>
          <a:lstStyle/>
          <a:p>
            <a:pPr algn="l">
              <a:lnSpc>
                <a:spcPct val="123000"/>
              </a:lnSpc>
              <a:spcBef>
                <a:spcPts val="0"/>
              </a:spcBef>
              <a:spcAft>
                <a:spcPts val="0"/>
              </a:spcAft>
              <a:defRPr sz="2580" b="1">
                <a:solidFill>
                  <a:srgbClr val="DAF975"/>
                </a:solidFill>
                <a:latin typeface="Arial"/>
              </a:defRPr>
            </a:pPr>
            <a:r>
              <a:t>Fast-Forward</a:t>
            </a:r>
          </a:p>
        </p:txBody>
      </p:sp>
      <p:sp>
        <p:nvSpPr>
          <p:cNvPr id="14" name="TextBox 13"/>
          <p:cNvSpPr txBox="1"/>
          <p:nvPr/>
        </p:nvSpPr>
        <p:spPr>
          <a:xfrm>
            <a:off x="777240" y="3680460"/>
            <a:ext cx="3086100" cy="338632"/>
          </a:xfrm>
          <a:prstGeom prst="rect">
            <a:avLst/>
          </a:prstGeom>
          <a:noFill/>
        </p:spPr>
        <p:txBody>
          <a:bodyPr wrap="none" lIns="0" rIns="0" tIns="0" bIns="0">
            <a:noAutofit/>
          </a:bodyPr>
          <a:lstStyle/>
          <a:p>
            <a:pPr algn="l">
              <a:lnSpc>
                <a:spcPct val="123000"/>
              </a:lnSpc>
              <a:spcBef>
                <a:spcPts val="0"/>
              </a:spcBef>
              <a:spcAft>
                <a:spcPts val="0"/>
              </a:spcAft>
              <a:defRPr sz="1680" b="0">
                <a:solidFill>
                  <a:srgbClr val="F5F3EA"/>
                </a:solidFill>
                <a:latin typeface="Arial"/>
              </a:defRPr>
            </a:pPr>
            <a:r>
              <a:t>Kein neuer Commit.</a:t>
            </a:r>
          </a:p>
        </p:txBody>
      </p:sp>
      <p:cxnSp>
        <p:nvCxnSpPr>
          <p:cNvPr id="15" name="Connector 14"/>
          <p:cNvCxnSpPr/>
          <p:nvPr/>
        </p:nvCxnSpPr>
        <p:spPr>
          <a:xfrm>
            <a:off x="982980" y="4526280"/>
            <a:ext cx="2567940" cy="0"/>
          </a:xfrm>
          <a:prstGeom prst="line">
            <a:avLst/>
          </a:prstGeom>
          <a:ln w="38100">
            <a:solidFill>
              <a:srgbClr val="DAF97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44880" y="4419600"/>
            <a:ext cx="213360" cy="21336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194560" y="4419600"/>
            <a:ext cx="213360" cy="21336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444240" y="4419600"/>
            <a:ext cx="213360" cy="213360"/>
          </a:xfrm>
          <a:prstGeom prst="ellipse">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51020" y="2293620"/>
            <a:ext cx="3505200" cy="2796540"/>
          </a:xfrm>
          <a:prstGeom prst="roundRect">
            <a:avLst>
              <a:gd name="adj" fmla="val 7084"/>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564380" y="2506980"/>
            <a:ext cx="66294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0580" y="2575560"/>
            <a:ext cx="51054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02</a:t>
            </a:r>
          </a:p>
        </p:txBody>
      </p:sp>
      <p:sp>
        <p:nvSpPr>
          <p:cNvPr id="22" name="TextBox 21"/>
          <p:cNvSpPr txBox="1"/>
          <p:nvPr/>
        </p:nvSpPr>
        <p:spPr>
          <a:xfrm>
            <a:off x="4572000" y="3124200"/>
            <a:ext cx="3086100" cy="479221"/>
          </a:xfrm>
          <a:prstGeom prst="rect">
            <a:avLst/>
          </a:prstGeom>
          <a:noFill/>
        </p:spPr>
        <p:txBody>
          <a:bodyPr wrap="none" lIns="0" rIns="0" tIns="0" bIns="0">
            <a:noAutofit/>
          </a:bodyPr>
          <a:lstStyle/>
          <a:p>
            <a:pPr algn="l">
              <a:lnSpc>
                <a:spcPct val="123000"/>
              </a:lnSpc>
              <a:spcBef>
                <a:spcPts val="0"/>
              </a:spcBef>
              <a:spcAft>
                <a:spcPts val="0"/>
              </a:spcAft>
              <a:defRPr sz="2580" b="1">
                <a:solidFill>
                  <a:srgbClr val="65D9EC"/>
                </a:solidFill>
                <a:latin typeface="Arial"/>
              </a:defRPr>
            </a:pPr>
            <a:r>
              <a:t>Rebase</a:t>
            </a:r>
          </a:p>
        </p:txBody>
      </p:sp>
      <p:sp>
        <p:nvSpPr>
          <p:cNvPr id="23" name="TextBox 22"/>
          <p:cNvSpPr txBox="1"/>
          <p:nvPr/>
        </p:nvSpPr>
        <p:spPr>
          <a:xfrm>
            <a:off x="4572000" y="3680460"/>
            <a:ext cx="3086100" cy="338632"/>
          </a:xfrm>
          <a:prstGeom prst="rect">
            <a:avLst/>
          </a:prstGeom>
          <a:noFill/>
        </p:spPr>
        <p:txBody>
          <a:bodyPr wrap="none" lIns="0" rIns="0" tIns="0" bIns="0">
            <a:noAutofit/>
          </a:bodyPr>
          <a:lstStyle/>
          <a:p>
            <a:pPr algn="l">
              <a:lnSpc>
                <a:spcPct val="123000"/>
              </a:lnSpc>
              <a:spcBef>
                <a:spcPts val="0"/>
              </a:spcBef>
              <a:spcAft>
                <a:spcPts val="0"/>
              </a:spcAft>
              <a:defRPr sz="1680" b="0">
                <a:solidFill>
                  <a:srgbClr val="F5F3EA"/>
                </a:solidFill>
                <a:latin typeface="Arial"/>
              </a:defRPr>
            </a:pPr>
            <a:r>
              <a:t>Neue Basis. Neue ID.</a:t>
            </a:r>
          </a:p>
        </p:txBody>
      </p:sp>
      <p:cxnSp>
        <p:nvCxnSpPr>
          <p:cNvPr id="24" name="Connector 23"/>
          <p:cNvCxnSpPr/>
          <p:nvPr/>
        </p:nvCxnSpPr>
        <p:spPr>
          <a:xfrm>
            <a:off x="4777740" y="4526280"/>
            <a:ext cx="2567940" cy="0"/>
          </a:xfrm>
          <a:prstGeom prst="line">
            <a:avLst/>
          </a:prstGeom>
          <a:ln w="38100">
            <a:solidFill>
              <a:srgbClr val="65D9EC"/>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4739640" y="4419600"/>
            <a:ext cx="213360" cy="21336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989320" y="4419600"/>
            <a:ext cx="213360" cy="21336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239000" y="4419600"/>
            <a:ext cx="213360" cy="213360"/>
          </a:xfrm>
          <a:prstGeom prst="ellipse">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145780" y="2293620"/>
            <a:ext cx="3505200" cy="2796540"/>
          </a:xfrm>
          <a:prstGeom prst="roundRect">
            <a:avLst>
              <a:gd name="adj" fmla="val 7084"/>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359140" y="2506980"/>
            <a:ext cx="662940" cy="365760"/>
          </a:xfrm>
          <a:prstGeom prst="roundRect">
            <a:avLst>
              <a:gd name="adj" fmla="val 50000"/>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35340" y="2575560"/>
            <a:ext cx="51054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03</a:t>
            </a:r>
          </a:p>
        </p:txBody>
      </p:sp>
      <p:sp>
        <p:nvSpPr>
          <p:cNvPr id="31" name="TextBox 30"/>
          <p:cNvSpPr txBox="1"/>
          <p:nvPr/>
        </p:nvSpPr>
        <p:spPr>
          <a:xfrm>
            <a:off x="8366760" y="3124200"/>
            <a:ext cx="3086100" cy="479221"/>
          </a:xfrm>
          <a:prstGeom prst="rect">
            <a:avLst/>
          </a:prstGeom>
          <a:noFill/>
        </p:spPr>
        <p:txBody>
          <a:bodyPr wrap="none" lIns="0" rIns="0" tIns="0" bIns="0">
            <a:noAutofit/>
          </a:bodyPr>
          <a:lstStyle/>
          <a:p>
            <a:pPr algn="l">
              <a:lnSpc>
                <a:spcPct val="123000"/>
              </a:lnSpc>
              <a:spcBef>
                <a:spcPts val="0"/>
              </a:spcBef>
              <a:spcAft>
                <a:spcPts val="0"/>
              </a:spcAft>
              <a:defRPr sz="2580" b="1">
                <a:solidFill>
                  <a:srgbClr val="C5B5F2"/>
                </a:solidFill>
                <a:latin typeface="Arial"/>
              </a:defRPr>
            </a:pPr>
            <a:r>
              <a:t>Squash</a:t>
            </a:r>
          </a:p>
        </p:txBody>
      </p:sp>
      <p:sp>
        <p:nvSpPr>
          <p:cNvPr id="32" name="TextBox 31"/>
          <p:cNvSpPr txBox="1"/>
          <p:nvPr/>
        </p:nvSpPr>
        <p:spPr>
          <a:xfrm>
            <a:off x="8366760" y="3680460"/>
            <a:ext cx="3086100" cy="338632"/>
          </a:xfrm>
          <a:prstGeom prst="rect">
            <a:avLst/>
          </a:prstGeom>
          <a:noFill/>
        </p:spPr>
        <p:txBody>
          <a:bodyPr wrap="none" lIns="0" rIns="0" tIns="0" bIns="0">
            <a:noAutofit/>
          </a:bodyPr>
          <a:lstStyle/>
          <a:p>
            <a:pPr algn="l">
              <a:lnSpc>
                <a:spcPct val="123000"/>
              </a:lnSpc>
              <a:spcBef>
                <a:spcPts val="0"/>
              </a:spcBef>
              <a:spcAft>
                <a:spcPts val="0"/>
              </a:spcAft>
              <a:defRPr sz="1680" b="0">
                <a:solidFill>
                  <a:srgbClr val="F5F3EA"/>
                </a:solidFill>
                <a:latin typeface="Arial"/>
              </a:defRPr>
            </a:pPr>
            <a:r>
              <a:t>Bonus: 3 → 1 Commit.</a:t>
            </a:r>
          </a:p>
        </p:txBody>
      </p:sp>
      <p:cxnSp>
        <p:nvCxnSpPr>
          <p:cNvPr id="33" name="Connector 32"/>
          <p:cNvCxnSpPr/>
          <p:nvPr/>
        </p:nvCxnSpPr>
        <p:spPr>
          <a:xfrm>
            <a:off x="8572500" y="4526280"/>
            <a:ext cx="2567940" cy="0"/>
          </a:xfrm>
          <a:prstGeom prst="line">
            <a:avLst/>
          </a:prstGeom>
          <a:ln w="38100">
            <a:solidFill>
              <a:srgbClr val="C5B5F2"/>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8534400" y="4419600"/>
            <a:ext cx="213360" cy="213360"/>
          </a:xfrm>
          <a:prstGeom prst="ellipse">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784080" y="4419600"/>
            <a:ext cx="213360" cy="213360"/>
          </a:xfrm>
          <a:prstGeom prst="ellipse">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033760" y="4419600"/>
            <a:ext cx="213360" cy="213360"/>
          </a:xfrm>
          <a:prstGeom prst="ellipse">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48640" y="5684520"/>
            <a:ext cx="11094720" cy="472440"/>
          </a:xfrm>
          <a:prstGeom prst="roundRect">
            <a:avLst>
              <a:gd name="adj" fmla="val 22580"/>
            </a:avLst>
          </a:prstGeom>
          <a:solidFill>
            <a:srgbClr val="2139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F5F3EA"/>
                </a:solidFill>
                <a:latin typeface="Arial"/>
              </a:defRPr>
            </a:pPr>
            <a:r>
              <a:t>Ohne Remote. Kein Push nötig. Squash nur bei zusätzlicher Zeit.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172C36"/>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576B70"/>
                </a:solidFill>
                <a:latin typeface="Arial"/>
              </a:defRPr>
            </a:pPr>
            <a:r>
              <a:t>LERNCHECK / MINUTE 100–110</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172C36"/>
                </a:solidFill>
                <a:latin typeface="Arial"/>
              </a:defRPr>
            </a:pPr>
            <a:r>
              <a:t>Was passiert als Nächstes?</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576B70"/>
                </a:solidFill>
                <a:latin typeface="Arial"/>
              </a:defRPr>
            </a:pPr>
            <a:r>
              <a:t>Erst selbst entscheiden. Dann im Paar begründen.</a:t>
            </a:r>
          </a:p>
        </p:txBody>
      </p:sp>
      <p:cxnSp>
        <p:nvCxnSpPr>
          <p:cNvPr id="7" name="Connector 6"/>
          <p:cNvCxnSpPr/>
          <p:nvPr/>
        </p:nvCxnSpPr>
        <p:spPr>
          <a:xfrm>
            <a:off x="548640" y="6362700"/>
            <a:ext cx="11094720" cy="0"/>
          </a:xfrm>
          <a:prstGeom prst="line">
            <a:avLst/>
          </a:prstGeom>
          <a:ln w="11429">
            <a:solidFill>
              <a:srgbClr val="D2D9D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576B70"/>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172C36"/>
                </a:solidFill>
                <a:latin typeface="Arial"/>
              </a:defRPr>
            </a:pPr>
            <a:r>
              <a:t>24</a:t>
            </a:r>
          </a:p>
        </p:txBody>
      </p:sp>
      <p:sp>
        <p:nvSpPr>
          <p:cNvPr id="10" name="Rounded Rectangle 9"/>
          <p:cNvSpPr/>
          <p:nvPr/>
        </p:nvSpPr>
        <p:spPr>
          <a:xfrm>
            <a:off x="556260" y="2072640"/>
            <a:ext cx="11087100" cy="975360"/>
          </a:xfrm>
          <a:prstGeom prst="roundRect">
            <a:avLst>
              <a:gd name="adj" fmla="val 1718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62000" y="2354580"/>
            <a:ext cx="685800" cy="365760"/>
          </a:xfrm>
          <a:prstGeom prst="roundRect">
            <a:avLst>
              <a:gd name="adj" fmla="val 50000"/>
            </a:avLst>
          </a:prstGeom>
          <a:solidFill>
            <a:srgbClr val="C5B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 y="2423160"/>
            <a:ext cx="5334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01</a:t>
            </a:r>
          </a:p>
        </p:txBody>
      </p:sp>
      <p:sp>
        <p:nvSpPr>
          <p:cNvPr id="13" name="TextBox 12"/>
          <p:cNvSpPr txBox="1"/>
          <p:nvPr/>
        </p:nvSpPr>
        <p:spPr>
          <a:xfrm>
            <a:off x="1684020" y="2247900"/>
            <a:ext cx="4953000" cy="394868"/>
          </a:xfrm>
          <a:prstGeom prst="rect">
            <a:avLst/>
          </a:prstGeom>
          <a:noFill/>
        </p:spPr>
        <p:txBody>
          <a:bodyPr wrap="none" lIns="0" rIns="0" tIns="0" bIns="0">
            <a:noAutofit/>
          </a:bodyPr>
          <a:lstStyle/>
          <a:p>
            <a:pPr algn="l">
              <a:lnSpc>
                <a:spcPct val="123000"/>
              </a:lnSpc>
              <a:spcBef>
                <a:spcPts val="0"/>
              </a:spcBef>
              <a:spcAft>
                <a:spcPts val="0"/>
              </a:spcAft>
              <a:defRPr sz="2039" b="1">
                <a:solidFill>
                  <a:srgbClr val="172C36"/>
                </a:solidFill>
                <a:latin typeface="Courier New"/>
              </a:defRPr>
            </a:pPr>
            <a:r>
              <a:t>add → edit → commit</a:t>
            </a:r>
          </a:p>
        </p:txBody>
      </p:sp>
      <p:sp>
        <p:nvSpPr>
          <p:cNvPr id="14" name="TextBox 13"/>
          <p:cNvSpPr txBox="1"/>
          <p:nvPr/>
        </p:nvSpPr>
        <p:spPr>
          <a:xfrm>
            <a:off x="1684020" y="2644140"/>
            <a:ext cx="8763000" cy="338632"/>
          </a:xfrm>
          <a:prstGeom prst="rect">
            <a:avLst/>
          </a:prstGeom>
          <a:noFill/>
        </p:spPr>
        <p:txBody>
          <a:bodyPr wrap="none" lIns="0" rIns="0" tIns="0" bIns="0">
            <a:noAutofit/>
          </a:bodyPr>
          <a:lstStyle/>
          <a:p>
            <a:pPr algn="l">
              <a:lnSpc>
                <a:spcPct val="123000"/>
              </a:lnSpc>
              <a:spcBef>
                <a:spcPts val="0"/>
              </a:spcBef>
              <a:spcAft>
                <a:spcPts val="0"/>
              </a:spcAft>
              <a:defRPr sz="1680" b="0">
                <a:solidFill>
                  <a:srgbClr val="172C36"/>
                </a:solidFill>
                <a:latin typeface="Arial"/>
              </a:defRPr>
            </a:pPr>
            <a:r>
              <a:t>Welcher Stand wird gespeichert?</a:t>
            </a:r>
          </a:p>
        </p:txBody>
      </p:sp>
      <p:sp>
        <p:nvSpPr>
          <p:cNvPr id="15" name="Rounded Rectangle 14"/>
          <p:cNvSpPr/>
          <p:nvPr/>
        </p:nvSpPr>
        <p:spPr>
          <a:xfrm>
            <a:off x="556260" y="3238500"/>
            <a:ext cx="11087100" cy="975360"/>
          </a:xfrm>
          <a:prstGeom prst="roundRect">
            <a:avLst>
              <a:gd name="adj" fmla="val 1718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62000" y="3520440"/>
            <a:ext cx="685800" cy="365760"/>
          </a:xfrm>
          <a:prstGeom prst="roundRect">
            <a:avLst>
              <a:gd name="adj" fmla="val 50000"/>
            </a:avLst>
          </a:prstGeom>
          <a:solidFill>
            <a:srgbClr val="65D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200" y="3589020"/>
            <a:ext cx="5334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02</a:t>
            </a:r>
          </a:p>
        </p:txBody>
      </p:sp>
      <p:sp>
        <p:nvSpPr>
          <p:cNvPr id="18" name="TextBox 17"/>
          <p:cNvSpPr txBox="1"/>
          <p:nvPr/>
        </p:nvSpPr>
        <p:spPr>
          <a:xfrm>
            <a:off x="1684020" y="3413760"/>
            <a:ext cx="4953000" cy="394868"/>
          </a:xfrm>
          <a:prstGeom prst="rect">
            <a:avLst/>
          </a:prstGeom>
          <a:noFill/>
        </p:spPr>
        <p:txBody>
          <a:bodyPr wrap="none" lIns="0" rIns="0" tIns="0" bIns="0">
            <a:noAutofit/>
          </a:bodyPr>
          <a:lstStyle/>
          <a:p>
            <a:pPr algn="l">
              <a:lnSpc>
                <a:spcPct val="123000"/>
              </a:lnSpc>
              <a:spcBef>
                <a:spcPts val="0"/>
              </a:spcBef>
              <a:spcAft>
                <a:spcPts val="0"/>
              </a:spcAft>
              <a:defRPr sz="2039" b="1">
                <a:solidFill>
                  <a:srgbClr val="172C36"/>
                </a:solidFill>
                <a:latin typeface="Courier New"/>
              </a:defRPr>
            </a:pPr>
            <a:r>
              <a:t>fetch ist fertig</a:t>
            </a:r>
          </a:p>
        </p:txBody>
      </p:sp>
      <p:sp>
        <p:nvSpPr>
          <p:cNvPr id="19" name="TextBox 18"/>
          <p:cNvSpPr txBox="1"/>
          <p:nvPr/>
        </p:nvSpPr>
        <p:spPr>
          <a:xfrm>
            <a:off x="1684020" y="3810000"/>
            <a:ext cx="8763000" cy="338632"/>
          </a:xfrm>
          <a:prstGeom prst="rect">
            <a:avLst/>
          </a:prstGeom>
          <a:noFill/>
        </p:spPr>
        <p:txBody>
          <a:bodyPr wrap="none" lIns="0" rIns="0" tIns="0" bIns="0">
            <a:noAutofit/>
          </a:bodyPr>
          <a:lstStyle/>
          <a:p>
            <a:pPr algn="l">
              <a:lnSpc>
                <a:spcPct val="123000"/>
              </a:lnSpc>
              <a:spcBef>
                <a:spcPts val="0"/>
              </a:spcBef>
              <a:spcAft>
                <a:spcPts val="0"/>
              </a:spcAft>
              <a:defRPr sz="1680" b="0">
                <a:solidFill>
                  <a:srgbClr val="172C36"/>
                </a:solidFill>
                <a:latin typeface="Arial"/>
              </a:defRPr>
            </a:pPr>
            <a:r>
              <a:t>Ist main damit schon aktuell?</a:t>
            </a:r>
          </a:p>
        </p:txBody>
      </p:sp>
      <p:sp>
        <p:nvSpPr>
          <p:cNvPr id="20" name="Rounded Rectangle 19"/>
          <p:cNvSpPr/>
          <p:nvPr/>
        </p:nvSpPr>
        <p:spPr>
          <a:xfrm>
            <a:off x="556260" y="4404360"/>
            <a:ext cx="11087100" cy="975360"/>
          </a:xfrm>
          <a:prstGeom prst="roundRect">
            <a:avLst>
              <a:gd name="adj" fmla="val 1718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62000" y="4686300"/>
            <a:ext cx="685800" cy="365760"/>
          </a:xfrm>
          <a:prstGeom prst="roundRect">
            <a:avLst>
              <a:gd name="adj" fmla="val 5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200" y="4754880"/>
            <a:ext cx="533400" cy="291769"/>
          </a:xfrm>
          <a:prstGeom prst="rect">
            <a:avLst/>
          </a:prstGeom>
          <a:noFill/>
        </p:spPr>
        <p:txBody>
          <a:bodyPr wrap="none" lIns="0" rIns="0" tIns="0" bIns="0">
            <a:noAutofit/>
          </a:bodyPr>
          <a:lstStyle/>
          <a:p>
            <a:pPr algn="ctr">
              <a:lnSpc>
                <a:spcPct val="123000"/>
              </a:lnSpc>
              <a:spcBef>
                <a:spcPts val="0"/>
              </a:spcBef>
              <a:spcAft>
                <a:spcPts val="0"/>
              </a:spcAft>
              <a:defRPr sz="1380" b="1">
                <a:solidFill>
                  <a:srgbClr val="172C36"/>
                </a:solidFill>
                <a:latin typeface="Courier New"/>
              </a:defRPr>
            </a:pPr>
            <a:r>
              <a:t>03</a:t>
            </a:r>
          </a:p>
        </p:txBody>
      </p:sp>
      <p:sp>
        <p:nvSpPr>
          <p:cNvPr id="23" name="TextBox 22"/>
          <p:cNvSpPr txBox="1"/>
          <p:nvPr/>
        </p:nvSpPr>
        <p:spPr>
          <a:xfrm>
            <a:off x="1684020" y="4579620"/>
            <a:ext cx="4953000" cy="394868"/>
          </a:xfrm>
          <a:prstGeom prst="rect">
            <a:avLst/>
          </a:prstGeom>
          <a:noFill/>
        </p:spPr>
        <p:txBody>
          <a:bodyPr wrap="none" lIns="0" rIns="0" tIns="0" bIns="0">
            <a:noAutofit/>
          </a:bodyPr>
          <a:lstStyle/>
          <a:p>
            <a:pPr algn="l">
              <a:lnSpc>
                <a:spcPct val="123000"/>
              </a:lnSpc>
              <a:spcBef>
                <a:spcPts val="0"/>
              </a:spcBef>
              <a:spcAft>
                <a:spcPts val="0"/>
              </a:spcAft>
              <a:defRPr sz="2039" b="1">
                <a:solidFill>
                  <a:srgbClr val="172C36"/>
                </a:solidFill>
                <a:latin typeface="Arial"/>
              </a:defRPr>
            </a:pPr>
            <a:r>
              <a:t>Merge ohne Konflikt</a:t>
            </a:r>
          </a:p>
        </p:txBody>
      </p:sp>
      <p:sp>
        <p:nvSpPr>
          <p:cNvPr id="24" name="TextBox 23"/>
          <p:cNvSpPr txBox="1"/>
          <p:nvPr/>
        </p:nvSpPr>
        <p:spPr>
          <a:xfrm>
            <a:off x="1684020" y="4975860"/>
            <a:ext cx="8763000" cy="338632"/>
          </a:xfrm>
          <a:prstGeom prst="rect">
            <a:avLst/>
          </a:prstGeom>
          <a:noFill/>
        </p:spPr>
        <p:txBody>
          <a:bodyPr wrap="none" lIns="0" rIns="0" tIns="0" bIns="0">
            <a:noAutofit/>
          </a:bodyPr>
          <a:lstStyle/>
          <a:p>
            <a:pPr algn="l">
              <a:lnSpc>
                <a:spcPct val="123000"/>
              </a:lnSpc>
              <a:spcBef>
                <a:spcPts val="0"/>
              </a:spcBef>
              <a:spcAft>
                <a:spcPts val="0"/>
              </a:spcAft>
              <a:defRPr sz="1680" b="0">
                <a:solidFill>
                  <a:srgbClr val="172C36"/>
                </a:solidFill>
                <a:latin typeface="Arial"/>
              </a:defRPr>
            </a:pPr>
            <a:r>
              <a:t>Ist das Ergebnis deshalb richtig?</a:t>
            </a:r>
          </a:p>
        </p:txBody>
      </p:sp>
      <p:sp>
        <p:nvSpPr>
          <p:cNvPr id="25" name="Rounded Rectangle 24"/>
          <p:cNvSpPr/>
          <p:nvPr/>
        </p:nvSpPr>
        <p:spPr>
          <a:xfrm>
            <a:off x="548640" y="5684520"/>
            <a:ext cx="11094720" cy="472440"/>
          </a:xfrm>
          <a:prstGeom prst="roundRect">
            <a:avLst>
              <a:gd name="adj" fmla="val 22580"/>
            </a:avLst>
          </a:prstGeom>
          <a:solidFill>
            <a:srgbClr val="E4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4380" y="5791200"/>
            <a:ext cx="105537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172C36"/>
                </a:solidFill>
                <a:latin typeface="Arial"/>
              </a:defRPr>
            </a:pPr>
            <a:r>
              <a:t>Eine gute Erklärung beschreibt den Zustand vor und nach dem Befehl.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3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7180"/>
            <a:ext cx="2895600" cy="254279"/>
          </a:xfrm>
          <a:prstGeom prst="rect">
            <a:avLst/>
          </a:prstGeom>
          <a:noFill/>
        </p:spPr>
        <p:txBody>
          <a:bodyPr wrap="none" lIns="0" rIns="0" tIns="0" bIns="0">
            <a:noAutofit/>
          </a:bodyPr>
          <a:lstStyle/>
          <a:p>
            <a:pPr algn="l">
              <a:lnSpc>
                <a:spcPct val="123000"/>
              </a:lnSpc>
              <a:spcBef>
                <a:spcPts val="0"/>
              </a:spcBef>
              <a:spcAft>
                <a:spcPts val="0"/>
              </a:spcAft>
              <a:defRPr sz="1140" b="1">
                <a:solidFill>
                  <a:srgbClr val="DAF975"/>
                </a:solidFill>
                <a:latin typeface="Arial"/>
              </a:defRPr>
            </a:pPr>
            <a:r>
              <a:t>GIT WORKFLOW DOJO</a:t>
            </a:r>
          </a:p>
        </p:txBody>
      </p:sp>
      <p:sp>
        <p:nvSpPr>
          <p:cNvPr id="4" name="TextBox 3"/>
          <p:cNvSpPr txBox="1"/>
          <p:nvPr/>
        </p:nvSpPr>
        <p:spPr>
          <a:xfrm>
            <a:off x="6309360" y="297180"/>
            <a:ext cx="5334000" cy="244906"/>
          </a:xfrm>
          <a:prstGeom prst="rect">
            <a:avLst/>
          </a:prstGeom>
          <a:noFill/>
        </p:spPr>
        <p:txBody>
          <a:bodyPr wrap="none" lIns="0" rIns="0" tIns="0" bIns="0">
            <a:noAutofit/>
          </a:bodyPr>
          <a:lstStyle/>
          <a:p>
            <a:pPr algn="r">
              <a:lnSpc>
                <a:spcPct val="123000"/>
              </a:lnSpc>
              <a:spcBef>
                <a:spcPts val="0"/>
              </a:spcBef>
              <a:spcAft>
                <a:spcPts val="0"/>
              </a:spcAft>
              <a:defRPr sz="1080" b="1">
                <a:solidFill>
                  <a:srgbClr val="AAB9BD"/>
                </a:solidFill>
                <a:latin typeface="Arial"/>
              </a:defRPr>
            </a:pPr>
            <a:r>
              <a:t>TRANSFER / MINUTE 110–120</a:t>
            </a:r>
          </a:p>
        </p:txBody>
      </p:sp>
      <p:sp>
        <p:nvSpPr>
          <p:cNvPr id="5" name="TextBox 4"/>
          <p:cNvSpPr txBox="1"/>
          <p:nvPr/>
        </p:nvSpPr>
        <p:spPr>
          <a:xfrm>
            <a:off x="548640" y="762000"/>
            <a:ext cx="11125200" cy="657301"/>
          </a:xfrm>
          <a:prstGeom prst="rect">
            <a:avLst/>
          </a:prstGeom>
          <a:noFill/>
        </p:spPr>
        <p:txBody>
          <a:bodyPr wrap="none" lIns="0" rIns="0" tIns="0" bIns="0">
            <a:noAutofit/>
          </a:bodyPr>
          <a:lstStyle/>
          <a:p>
            <a:pPr algn="l">
              <a:lnSpc>
                <a:spcPct val="123000"/>
              </a:lnSpc>
              <a:spcBef>
                <a:spcPts val="0"/>
              </a:spcBef>
              <a:spcAft>
                <a:spcPts val="0"/>
              </a:spcAft>
              <a:defRPr sz="3719" b="1">
                <a:solidFill>
                  <a:srgbClr val="F5F3EA"/>
                </a:solidFill>
                <a:latin typeface="Arial"/>
              </a:defRPr>
            </a:pPr>
            <a:r>
              <a:t>Erst verstehen. Dann integrieren.</a:t>
            </a:r>
          </a:p>
        </p:txBody>
      </p:sp>
      <p:sp>
        <p:nvSpPr>
          <p:cNvPr id="6" name="TextBox 5"/>
          <p:cNvSpPr txBox="1"/>
          <p:nvPr/>
        </p:nvSpPr>
        <p:spPr>
          <a:xfrm>
            <a:off x="571500" y="1402080"/>
            <a:ext cx="10972800" cy="32926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AAB9BD"/>
                </a:solidFill>
                <a:latin typeface="Arial"/>
              </a:defRPr>
            </a:pPr>
            <a:r>
              <a:t>Welche drei Regeln nehmt ihr in eure nächste Zusammenarbeit mit?</a:t>
            </a:r>
          </a:p>
        </p:txBody>
      </p:sp>
      <p:cxnSp>
        <p:nvCxnSpPr>
          <p:cNvPr id="7" name="Connector 6"/>
          <p:cNvCxnSpPr/>
          <p:nvPr/>
        </p:nvCxnSpPr>
        <p:spPr>
          <a:xfrm>
            <a:off x="548640" y="6362700"/>
            <a:ext cx="11094720" cy="0"/>
          </a:xfrm>
          <a:prstGeom prst="line">
            <a:avLst/>
          </a:prstGeom>
          <a:ln w="11429">
            <a:solidFill>
              <a:srgbClr val="42555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6492240"/>
            <a:ext cx="9144000" cy="226161"/>
          </a:xfrm>
          <a:prstGeom prst="rect">
            <a:avLst/>
          </a:prstGeom>
          <a:noFill/>
        </p:spPr>
        <p:txBody>
          <a:bodyPr wrap="none" lIns="0" rIns="0" tIns="0" bIns="0">
            <a:noAutofit/>
          </a:bodyPr>
          <a:lstStyle/>
          <a:p>
            <a:pPr algn="l">
              <a:lnSpc>
                <a:spcPct val="123000"/>
              </a:lnSpc>
              <a:spcBef>
                <a:spcPts val="0"/>
              </a:spcBef>
              <a:spcAft>
                <a:spcPts val="0"/>
              </a:spcAft>
              <a:defRPr sz="960" b="0">
                <a:solidFill>
                  <a:srgbClr val="AAB9BD"/>
                </a:solidFill>
                <a:latin typeface="Arial"/>
              </a:defRPr>
            </a:pPr>
            <a:r>
              <a:t>CAMPUS FESTIVAL  /  LERNEN DURCH AUSPROBIEREN</a:t>
            </a:r>
          </a:p>
        </p:txBody>
      </p:sp>
      <p:sp>
        <p:nvSpPr>
          <p:cNvPr id="9" name="TextBox 8"/>
          <p:cNvSpPr txBox="1"/>
          <p:nvPr/>
        </p:nvSpPr>
        <p:spPr>
          <a:xfrm>
            <a:off x="10957560" y="6461760"/>
            <a:ext cx="685800" cy="301142"/>
          </a:xfrm>
          <a:prstGeom prst="rect">
            <a:avLst/>
          </a:prstGeom>
          <a:noFill/>
        </p:spPr>
        <p:txBody>
          <a:bodyPr wrap="none" lIns="0" rIns="0" tIns="0" bIns="0">
            <a:noAutofit/>
          </a:bodyPr>
          <a:lstStyle/>
          <a:p>
            <a:pPr algn="r">
              <a:lnSpc>
                <a:spcPct val="123000"/>
              </a:lnSpc>
              <a:spcBef>
                <a:spcPts val="0"/>
              </a:spcBef>
              <a:spcAft>
                <a:spcPts val="0"/>
              </a:spcAft>
              <a:defRPr sz="1439" b="1">
                <a:solidFill>
                  <a:srgbClr val="F5F3EA"/>
                </a:solidFill>
                <a:latin typeface="Arial"/>
              </a:defRPr>
            </a:pPr>
            <a:r>
              <a:t>25</a:t>
            </a:r>
          </a:p>
        </p:txBody>
      </p:sp>
      <p:sp>
        <p:nvSpPr>
          <p:cNvPr id="10" name="TextBox 9"/>
          <p:cNvSpPr txBox="1"/>
          <p:nvPr/>
        </p:nvSpPr>
        <p:spPr>
          <a:xfrm>
            <a:off x="556260" y="2125980"/>
            <a:ext cx="3429000" cy="966597"/>
          </a:xfrm>
          <a:prstGeom prst="rect">
            <a:avLst/>
          </a:prstGeom>
          <a:noFill/>
        </p:spPr>
        <p:txBody>
          <a:bodyPr wrap="none" lIns="0" rIns="0" tIns="0" bIns="0">
            <a:noAutofit/>
          </a:bodyPr>
          <a:lstStyle/>
          <a:p>
            <a:pPr algn="l">
              <a:lnSpc>
                <a:spcPct val="123000"/>
              </a:lnSpc>
              <a:spcBef>
                <a:spcPts val="0"/>
              </a:spcBef>
              <a:spcAft>
                <a:spcPts val="0"/>
              </a:spcAft>
              <a:defRPr sz="5700" b="1">
                <a:solidFill>
                  <a:srgbClr val="65D9EC"/>
                </a:solidFill>
                <a:latin typeface="Arial"/>
              </a:defRPr>
            </a:pPr>
            <a:r>
              <a:t>01</a:t>
            </a:r>
          </a:p>
        </p:txBody>
      </p:sp>
      <p:sp>
        <p:nvSpPr>
          <p:cNvPr id="11" name="TextBox 10"/>
          <p:cNvSpPr txBox="1"/>
          <p:nvPr/>
        </p:nvSpPr>
        <p:spPr>
          <a:xfrm>
            <a:off x="556260" y="3208020"/>
            <a:ext cx="3520440" cy="432358"/>
          </a:xfrm>
          <a:prstGeom prst="rect">
            <a:avLst/>
          </a:prstGeom>
          <a:noFill/>
        </p:spPr>
        <p:txBody>
          <a:bodyPr wrap="none" lIns="0" rIns="0" tIns="0" bIns="0">
            <a:noAutofit/>
          </a:bodyPr>
          <a:lstStyle/>
          <a:p>
            <a:pPr algn="l">
              <a:lnSpc>
                <a:spcPct val="123000"/>
              </a:lnSpc>
              <a:spcBef>
                <a:spcPts val="0"/>
              </a:spcBef>
              <a:spcAft>
                <a:spcPts val="0"/>
              </a:spcAft>
              <a:defRPr sz="2280" b="1">
                <a:solidFill>
                  <a:srgbClr val="F5F3EA"/>
                </a:solidFill>
                <a:latin typeface="Arial"/>
              </a:defRPr>
            </a:pPr>
            <a:r>
              <a:t>Zustand lesen</a:t>
            </a:r>
          </a:p>
        </p:txBody>
      </p:sp>
      <p:sp>
        <p:nvSpPr>
          <p:cNvPr id="12" name="TextBox 11"/>
          <p:cNvSpPr txBox="1"/>
          <p:nvPr/>
        </p:nvSpPr>
        <p:spPr>
          <a:xfrm>
            <a:off x="556260" y="3710940"/>
            <a:ext cx="3352800" cy="83538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AAB9BD"/>
                </a:solidFill>
                <a:latin typeface="Arial"/>
              </a:defRPr>
            </a:pPr>
            <a:r>
              <a:t>Repository</a:t>
            </a:r>
          </a:p>
          <a:p>
            <a:pPr algn="l">
              <a:lnSpc>
                <a:spcPct val="123000"/>
              </a:lnSpc>
              <a:spcBef>
                <a:spcPts val="0"/>
              </a:spcBef>
              <a:spcAft>
                <a:spcPts val="0"/>
              </a:spcAft>
              <a:defRPr sz="1620" b="0">
                <a:solidFill>
                  <a:srgbClr val="AAB9BD"/>
                </a:solidFill>
                <a:latin typeface="Arial"/>
              </a:defRPr>
            </a:pPr>
            <a:r>
              <a:t>Branch</a:t>
            </a:r>
          </a:p>
          <a:p>
            <a:pPr algn="l">
              <a:lnSpc>
                <a:spcPct val="123000"/>
              </a:lnSpc>
              <a:spcBef>
                <a:spcPts val="0"/>
              </a:spcBef>
              <a:spcAft>
                <a:spcPts val="0"/>
              </a:spcAft>
              <a:defRPr sz="1620" b="0">
                <a:solidFill>
                  <a:srgbClr val="AAB9BD"/>
                </a:solidFill>
                <a:latin typeface="Arial"/>
              </a:defRPr>
            </a:pPr>
            <a:r>
              <a:t>Status</a:t>
            </a:r>
          </a:p>
        </p:txBody>
      </p:sp>
      <p:sp>
        <p:nvSpPr>
          <p:cNvPr id="13" name="TextBox 12"/>
          <p:cNvSpPr txBox="1"/>
          <p:nvPr/>
        </p:nvSpPr>
        <p:spPr>
          <a:xfrm>
            <a:off x="4366260" y="2125980"/>
            <a:ext cx="3429000" cy="966597"/>
          </a:xfrm>
          <a:prstGeom prst="rect">
            <a:avLst/>
          </a:prstGeom>
          <a:noFill/>
        </p:spPr>
        <p:txBody>
          <a:bodyPr wrap="none" lIns="0" rIns="0" tIns="0" bIns="0">
            <a:noAutofit/>
          </a:bodyPr>
          <a:lstStyle/>
          <a:p>
            <a:pPr algn="l">
              <a:lnSpc>
                <a:spcPct val="123000"/>
              </a:lnSpc>
              <a:spcBef>
                <a:spcPts val="0"/>
              </a:spcBef>
              <a:spcAft>
                <a:spcPts val="0"/>
              </a:spcAft>
              <a:defRPr sz="5700" b="1">
                <a:solidFill>
                  <a:srgbClr val="C5B5F2"/>
                </a:solidFill>
                <a:latin typeface="Arial"/>
              </a:defRPr>
            </a:pPr>
            <a:r>
              <a:t>02</a:t>
            </a:r>
          </a:p>
        </p:txBody>
      </p:sp>
      <p:sp>
        <p:nvSpPr>
          <p:cNvPr id="14" name="TextBox 13"/>
          <p:cNvSpPr txBox="1"/>
          <p:nvPr/>
        </p:nvSpPr>
        <p:spPr>
          <a:xfrm>
            <a:off x="4366260" y="3208020"/>
            <a:ext cx="3520440" cy="432358"/>
          </a:xfrm>
          <a:prstGeom prst="rect">
            <a:avLst/>
          </a:prstGeom>
          <a:noFill/>
        </p:spPr>
        <p:txBody>
          <a:bodyPr wrap="none" lIns="0" rIns="0" tIns="0" bIns="0">
            <a:noAutofit/>
          </a:bodyPr>
          <a:lstStyle/>
          <a:p>
            <a:pPr algn="l">
              <a:lnSpc>
                <a:spcPct val="123000"/>
              </a:lnSpc>
              <a:spcBef>
                <a:spcPts val="0"/>
              </a:spcBef>
              <a:spcAft>
                <a:spcPts val="0"/>
              </a:spcAft>
              <a:defRPr sz="2280" b="1">
                <a:solidFill>
                  <a:srgbClr val="F5F3EA"/>
                </a:solidFill>
                <a:latin typeface="Arial"/>
              </a:defRPr>
            </a:pPr>
            <a:r>
              <a:t>Kleine Schritte</a:t>
            </a:r>
          </a:p>
        </p:txBody>
      </p:sp>
      <p:sp>
        <p:nvSpPr>
          <p:cNvPr id="15" name="TextBox 14"/>
          <p:cNvSpPr txBox="1"/>
          <p:nvPr/>
        </p:nvSpPr>
        <p:spPr>
          <a:xfrm>
            <a:off x="4366260" y="3710940"/>
            <a:ext cx="3352800" cy="58232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AAB9BD"/>
                </a:solidFill>
                <a:latin typeface="Arial"/>
              </a:defRPr>
            </a:pPr>
            <a:r>
              <a:t>klare Commits</a:t>
            </a:r>
          </a:p>
          <a:p>
            <a:pPr algn="l">
              <a:lnSpc>
                <a:spcPct val="123000"/>
              </a:lnSpc>
              <a:spcBef>
                <a:spcPts val="0"/>
              </a:spcBef>
              <a:spcAft>
                <a:spcPts val="0"/>
              </a:spcAft>
              <a:defRPr sz="1620" b="0">
                <a:solidFill>
                  <a:srgbClr val="AAB9BD"/>
                </a:solidFill>
                <a:latin typeface="Arial"/>
              </a:defRPr>
            </a:pPr>
            <a:r>
              <a:t>verständliche PRs</a:t>
            </a:r>
          </a:p>
        </p:txBody>
      </p:sp>
      <p:sp>
        <p:nvSpPr>
          <p:cNvPr id="16" name="TextBox 15"/>
          <p:cNvSpPr txBox="1"/>
          <p:nvPr/>
        </p:nvSpPr>
        <p:spPr>
          <a:xfrm>
            <a:off x="8176260" y="2125980"/>
            <a:ext cx="3429000" cy="966597"/>
          </a:xfrm>
          <a:prstGeom prst="rect">
            <a:avLst/>
          </a:prstGeom>
          <a:noFill/>
        </p:spPr>
        <p:txBody>
          <a:bodyPr wrap="none" lIns="0" rIns="0" tIns="0" bIns="0">
            <a:noAutofit/>
          </a:bodyPr>
          <a:lstStyle/>
          <a:p>
            <a:pPr algn="l">
              <a:lnSpc>
                <a:spcPct val="123000"/>
              </a:lnSpc>
              <a:spcBef>
                <a:spcPts val="0"/>
              </a:spcBef>
              <a:spcAft>
                <a:spcPts val="0"/>
              </a:spcAft>
              <a:defRPr sz="5700" b="1">
                <a:solidFill>
                  <a:srgbClr val="DAF975"/>
                </a:solidFill>
                <a:latin typeface="Arial"/>
              </a:defRPr>
            </a:pPr>
            <a:r>
              <a:t>03</a:t>
            </a:r>
          </a:p>
        </p:txBody>
      </p:sp>
      <p:sp>
        <p:nvSpPr>
          <p:cNvPr id="17" name="TextBox 16"/>
          <p:cNvSpPr txBox="1"/>
          <p:nvPr/>
        </p:nvSpPr>
        <p:spPr>
          <a:xfrm>
            <a:off x="8176260" y="3208020"/>
            <a:ext cx="3520440" cy="432358"/>
          </a:xfrm>
          <a:prstGeom prst="rect">
            <a:avLst/>
          </a:prstGeom>
          <a:noFill/>
        </p:spPr>
        <p:txBody>
          <a:bodyPr wrap="none" lIns="0" rIns="0" tIns="0" bIns="0">
            <a:noAutofit/>
          </a:bodyPr>
          <a:lstStyle/>
          <a:p>
            <a:pPr algn="l">
              <a:lnSpc>
                <a:spcPct val="123000"/>
              </a:lnSpc>
              <a:spcBef>
                <a:spcPts val="0"/>
              </a:spcBef>
              <a:spcAft>
                <a:spcPts val="0"/>
              </a:spcAft>
              <a:defRPr sz="2280" b="1">
                <a:solidFill>
                  <a:srgbClr val="F5F3EA"/>
                </a:solidFill>
                <a:latin typeface="Arial"/>
              </a:defRPr>
            </a:pPr>
            <a:r>
              <a:t>Gemeinsam prüfen</a:t>
            </a:r>
          </a:p>
        </p:txBody>
      </p:sp>
      <p:sp>
        <p:nvSpPr>
          <p:cNvPr id="18" name="TextBox 17"/>
          <p:cNvSpPr txBox="1"/>
          <p:nvPr/>
        </p:nvSpPr>
        <p:spPr>
          <a:xfrm>
            <a:off x="8176260" y="3710940"/>
            <a:ext cx="3352800" cy="835380"/>
          </a:xfrm>
          <a:prstGeom prst="rect">
            <a:avLst/>
          </a:prstGeom>
          <a:noFill/>
        </p:spPr>
        <p:txBody>
          <a:bodyPr wrap="none" lIns="0" rIns="0" tIns="0" bIns="0">
            <a:noAutofit/>
          </a:bodyPr>
          <a:lstStyle/>
          <a:p>
            <a:pPr algn="l">
              <a:lnSpc>
                <a:spcPct val="123000"/>
              </a:lnSpc>
              <a:spcBef>
                <a:spcPts val="0"/>
              </a:spcBef>
              <a:spcAft>
                <a:spcPts val="0"/>
              </a:spcAft>
              <a:defRPr sz="1620" b="0">
                <a:solidFill>
                  <a:srgbClr val="AAB9BD"/>
                </a:solidFill>
                <a:latin typeface="Arial"/>
              </a:defRPr>
            </a:pPr>
            <a:r>
              <a:t>Feedback</a:t>
            </a:r>
          </a:p>
          <a:p>
            <a:pPr algn="l">
              <a:lnSpc>
                <a:spcPct val="123000"/>
              </a:lnSpc>
              <a:spcBef>
                <a:spcPts val="0"/>
              </a:spcBef>
              <a:spcAft>
                <a:spcPts val="0"/>
              </a:spcAft>
              <a:defRPr sz="1620" b="0">
                <a:solidFill>
                  <a:srgbClr val="AAB9BD"/>
                </a:solidFill>
                <a:latin typeface="Arial"/>
              </a:defRPr>
            </a:pPr>
            <a:r>
              <a:t>Nachbesserung</a:t>
            </a:r>
          </a:p>
          <a:p>
            <a:pPr algn="l">
              <a:lnSpc>
                <a:spcPct val="123000"/>
              </a:lnSpc>
              <a:spcBef>
                <a:spcPts val="0"/>
              </a:spcBef>
              <a:spcAft>
                <a:spcPts val="0"/>
              </a:spcAft>
              <a:defRPr sz="1620" b="0">
                <a:solidFill>
                  <a:srgbClr val="AAB9BD"/>
                </a:solidFill>
                <a:latin typeface="Arial"/>
              </a:defRPr>
            </a:pPr>
            <a:r>
              <a:t>Freigabe</a:t>
            </a:r>
          </a:p>
        </p:txBody>
      </p:sp>
      <p:sp>
        <p:nvSpPr>
          <p:cNvPr id="19" name="Rounded Rectangle 18"/>
          <p:cNvSpPr/>
          <p:nvPr/>
        </p:nvSpPr>
        <p:spPr>
          <a:xfrm>
            <a:off x="556260" y="5364480"/>
            <a:ext cx="11087100" cy="762000"/>
          </a:xfrm>
          <a:prstGeom prst="roundRect">
            <a:avLst>
              <a:gd name="adj" fmla="val 20000"/>
            </a:avLst>
          </a:prstGeom>
          <a:solidFill>
            <a:srgbClr val="DAF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720" y="5539740"/>
            <a:ext cx="10515600" cy="422986"/>
          </a:xfrm>
          <a:prstGeom prst="rect">
            <a:avLst/>
          </a:prstGeom>
          <a:noFill/>
        </p:spPr>
        <p:txBody>
          <a:bodyPr wrap="none" lIns="0" rIns="0" tIns="0" bIns="0">
            <a:noAutofit/>
          </a:bodyPr>
          <a:lstStyle/>
          <a:p>
            <a:pPr algn="l">
              <a:lnSpc>
                <a:spcPct val="123000"/>
              </a:lnSpc>
              <a:spcBef>
                <a:spcPts val="0"/>
              </a:spcBef>
              <a:spcAft>
                <a:spcPts val="0"/>
              </a:spcAft>
              <a:defRPr sz="2220" b="1">
                <a:solidFill>
                  <a:srgbClr val="172C36"/>
                </a:solidFill>
                <a:latin typeface="Courier New"/>
              </a:defRPr>
            </a:pPr>
            <a:r>
              <a:t>github.com/Witzelfitz/git-workflow-dojo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wird greifbar – Git Workflow Dojo</dc:title>
  <dc:subject>Visuelle Workshop-Präsentation: Git-Grundlagen, PR, Review, Konflikte, Fast-Forward und Rebase</dc:subject>
  <dc:creator>Git Workflow Dojo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